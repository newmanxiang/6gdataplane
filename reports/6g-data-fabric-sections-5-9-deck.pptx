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91440"/>
            <a:ext cx="114757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9144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E7C7B"/>
                </a:solidFill>
                <a:latin typeface="WenQuanYi Micro Hei"/>
                <a:ea typeface="WenQuanYi Micro Hei"/>
              </a:rPr>
              <a:t>5.1 + 5.2  ·  PAIN × TREND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B1F3A"/>
                </a:solidFill>
                <a:latin typeface="WenQuanYi Micro Hei"/>
                <a:ea typeface="WenQuanYi Micro Hei"/>
              </a:rPr>
              <a:t>痛点与趋势共同驱动：智能数据中枢不是功能扩张，而是共同底座升级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21792"/>
            <a:ext cx="11475720" cy="393192"/>
          </a:xfrm>
          <a:prstGeom prst="roundRect">
            <a:avLst>
              <a:gd name="adj" fmla="val 7000"/>
            </a:avLst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36576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1F3A"/>
                </a:solidFill>
                <a:latin typeface="WenQuanYi Micro Hei"/>
                <a:ea typeface="WenQuanYi Micro Hei"/>
              </a:rPr>
              <a:t>无线数据的成本、质量和交付痛点给出近期必答题；数据产品、事件治理、两级部署和可信Agent给出长期约束。两类驱动收敛到同一选择：把重复能力沉淀为可复用的数据与智能底座。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078992"/>
            <a:ext cx="3730752" cy="1170432"/>
          </a:xfrm>
          <a:prstGeom prst="roundRect">
            <a:avLst>
              <a:gd name="adj" fmla="val 7000"/>
            </a:avLst>
          </a:prstGeom>
          <a:solidFill>
            <a:srgbClr val="F8E6E4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WenQuanYi Micro Hei"/>
                <a:ea typeface="WenQuanYi Micro Hei"/>
              </a:rPr>
              <a:t>痛点 1｜生产与接入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C3E50"/>
                </a:solidFill>
                <a:latin typeface="WenQuanYi Micro Hei"/>
                <a:ea typeface="WenQuanYi Micro Hei"/>
              </a:rPr>
              <a:t>基站数据/模型难以扩展新类型和消费场景；缺少智能应用语义；订阅不精准，网元—网管采集通道多达7类；同一数据难以一次采集、多方消费。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87952" y="1078992"/>
            <a:ext cx="3730752" cy="1170432"/>
          </a:xfrm>
          <a:prstGeom prst="roundRect">
            <a:avLst>
              <a:gd name="adj" fmla="val 7000"/>
            </a:avLst>
          </a:prstGeom>
          <a:solidFill>
            <a:srgbClr val="F6EDD0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8860B"/>
                </a:solidFill>
                <a:latin typeface="WenQuanYi Micro Hei"/>
                <a:ea typeface="WenQuanYi Micro Hei"/>
              </a:rPr>
              <a:t>痛点 2｜存储与处理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C3E50"/>
                </a:solidFill>
                <a:latin typeface="WenQuanYi Micro Hei"/>
                <a:ea typeface="WenQuanYi Micro Hei"/>
              </a:rPr>
              <a:t>配置、工参、FM、PM、画像、MR分散在多类数据库和持久卷；内部材料显示UE级数据量约为小区级9倍、占存储约90%；流批端到端仍以小时计。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078992"/>
            <a:ext cx="3730752" cy="1170432"/>
          </a:xfrm>
          <a:prstGeom prst="roundRect">
            <a:avLst>
              <a:gd name="adj" fmla="val 7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E7C7B"/>
                </a:solidFill>
                <a:latin typeface="WenQuanYi Micro Hei"/>
                <a:ea typeface="WenQuanYi Micro Hei"/>
              </a:rPr>
              <a:t>痛点 3｜消费与治理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C3E50"/>
                </a:solidFill>
                <a:latin typeface="WenQuanYi Micro Hei"/>
                <a:ea typeface="WenQuanYi Micro Hei"/>
              </a:rPr>
              <a:t>消费侧仍有版本定制；跨域拼接、动态编排和共享不足；缺少统一模型、Owner、数据质量观测与治理工具；语义、本体和Agent工具未形成公共基线。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2350008"/>
            <a:ext cx="2788920" cy="1234440"/>
          </a:xfrm>
          <a:prstGeom prst="roundRect">
            <a:avLst>
              <a:gd name="adj" fmla="val 7000"/>
            </a:avLst>
          </a:prstGeom>
          <a:solidFill>
            <a:srgbClr val="F8E6E4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C0392B"/>
                </a:solidFill>
                <a:latin typeface="WenQuanYi Micro Hei"/>
                <a:ea typeface="WenQuanYi Micro Hei"/>
              </a:rPr>
              <a:t>近期工程压力</a:t>
            </a:r>
          </a:p>
          <a:p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2C3E50"/>
                </a:solidFill>
                <a:latin typeface="WenQuanYi Micro Hei"/>
                <a:ea typeface="WenQuanYi Micro Hei"/>
              </a:rPr>
              <a:t>重复采集/存储/治理；项目式交付；数据质量不可观测；UE级数据增长放大成本。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350008"/>
            <a:ext cx="5477256" cy="1234440"/>
          </a:xfrm>
          <a:prstGeom prst="roundRect">
            <a:avLst>
              <a:gd name="adj" fmla="val 7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7C7B"/>
                </a:solidFill>
                <a:latin typeface="WenQuanYi Micro Hei"/>
                <a:ea typeface="WenQuanYi Micro Hei"/>
              </a:rPr>
              <a:t>共同响应：六项横向能力</a:t>
            </a:r>
          </a:p>
          <a:p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2C3E50"/>
                </a:solidFill>
                <a:latin typeface="WenQuanYi Micro Hei"/>
                <a:ea typeface="WenQuanYi Micro Hei"/>
              </a:rPr>
              <a:t>统一理解：对象、指标、语义、本体
统一责任：Owner、契约、版本、退出
统一质量：规则、观测、诊断、治理
统一供数：NISM、流批、联邦、编排
分布执行：秒/分/时、近源、断链
可信行动：身份、策略、证据、回滚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42832" y="2350008"/>
            <a:ext cx="2880360" cy="1234440"/>
          </a:xfrm>
          <a:prstGeom prst="roundRect">
            <a:avLst>
              <a:gd name="adj" fmla="val 7000"/>
            </a:avLst>
          </a:prstGeom>
          <a:solidFill>
            <a:srgbClr val="E6ECF2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B1F3A"/>
                </a:solidFill>
                <a:latin typeface="WenQuanYi Micro Hei"/>
                <a:ea typeface="WenQuanYi Micro Hei"/>
              </a:rPr>
              <a:t>长期产业约束</a:t>
            </a:r>
          </a:p>
          <a:p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2C3E50"/>
                </a:solidFill>
                <a:latin typeface="WenQuanYi Micro Hei"/>
                <a:ea typeface="WenQuanYi Micro Hei"/>
              </a:rPr>
              <a:t>T1/T2：数据产品与元数据事件；T3：全局定义、近源执行；T4/T5：Agent协同与NDT证据；T6：数据质量进入模型与闭环准入。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3694176"/>
            <a:ext cx="2770632" cy="2020824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73152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B1F3A"/>
                </a:solidFill>
                <a:latin typeface="WenQuanYi Micro Hei"/>
                <a:ea typeface="WenQuanYi Micro Hei"/>
              </a:rPr>
              <a:t>数据供给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10" b="0">
                <a:solidFill>
                  <a:srgbClr val="2C3E50"/>
                </a:solidFill>
                <a:latin typeface="WenQuanYi Micro Hei"/>
                <a:ea typeface="WenQuanYi Micro Hei"/>
              </a:rPr>
              <a:t>近期：结束多通道、项目式接入。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10" b="0">
                <a:solidFill>
                  <a:srgbClr val="2C3E50"/>
                </a:solidFill>
                <a:latin typeface="WenQuanYi Micro Hei"/>
                <a:ea typeface="WenQuanYi Micro Hei"/>
              </a:rPr>
              <a:t>长期：产品有Owner/契约/版本/消费者。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E7C7B"/>
                </a:solidFill>
                <a:latin typeface="WenQuanYi Micro Hei"/>
                <a:ea typeface="WenQuanYi Micro Hei"/>
              </a:rPr>
              <a:t>中枢：可订阅、可复用、可运营的数据产品。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7832" y="3694176"/>
            <a:ext cx="2770632" cy="2020824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73152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B1F3A"/>
                </a:solidFill>
                <a:latin typeface="WenQuanYi Micro Hei"/>
                <a:ea typeface="WenQuanYi Micro Hei"/>
              </a:rPr>
              <a:t>质量与语义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10" b="0">
                <a:solidFill>
                  <a:srgbClr val="2C3E50"/>
                </a:solidFill>
                <a:latin typeface="WenQuanYi Micro Hei"/>
                <a:ea typeface="WenQuanYi Micro Hei"/>
              </a:rPr>
              <a:t>近期：统一模型、质量观测和跨域对齐。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10" b="0">
                <a:solidFill>
                  <a:srgbClr val="2C3E50"/>
                </a:solidFill>
                <a:latin typeface="WenQuanYi Micro Hei"/>
                <a:ea typeface="WenQuanYi Micro Hei"/>
              </a:rPr>
              <a:t>长期：质量/语义变化触发重验与版本处置。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E7C7B"/>
                </a:solidFill>
                <a:latin typeface="WenQuanYi Micro Hei"/>
                <a:ea typeface="WenQuanYi Micro Hei"/>
              </a:rPr>
              <a:t>中枢：数据质量与语义进入Agent准入链。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08192" y="3694176"/>
            <a:ext cx="2770632" cy="2020824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73152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B1F3A"/>
                </a:solidFill>
                <a:latin typeface="WenQuanYi Micro Hei"/>
                <a:ea typeface="WenQuanYi Micro Hei"/>
              </a:rPr>
              <a:t>处理与部署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10" b="0">
                <a:solidFill>
                  <a:srgbClr val="2C3E50"/>
                </a:solidFill>
                <a:latin typeface="WenQuanYi Micro Hei"/>
                <a:ea typeface="WenQuanYi Micro Hei"/>
              </a:rPr>
              <a:t>近期：按秒/分钟/批分时，降低搬运成本。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10" b="0">
                <a:solidFill>
                  <a:srgbClr val="2C3E50"/>
                </a:solidFill>
                <a:latin typeface="WenQuanYi Micro Hei"/>
                <a:ea typeface="WenQuanYi Micro Hei"/>
              </a:rPr>
              <a:t>长期：全局定义与近源执行并存、断链可运行。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E7C7B"/>
                </a:solidFill>
                <a:latin typeface="WenQuanYi Micro Hei"/>
                <a:ea typeface="WenQuanYi Micro Hei"/>
              </a:rPr>
              <a:t>中枢：湖仓、NDS、网元计算、联邦分层协同。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88552" y="3694176"/>
            <a:ext cx="2770632" cy="2020824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73152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B1F3A"/>
                </a:solidFill>
                <a:latin typeface="WenQuanYi Micro Hei"/>
                <a:ea typeface="WenQuanYi Micro Hei"/>
              </a:rPr>
              <a:t>智能消费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10" b="0">
                <a:solidFill>
                  <a:srgbClr val="2C3E50"/>
                </a:solidFill>
                <a:latin typeface="WenQuanYi Micro Hei"/>
                <a:ea typeface="WenQuanYi Micro Hei"/>
              </a:rPr>
              <a:t>近期：NISM、编排、智能问数服务多Agent。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10" b="0">
                <a:solidFill>
                  <a:srgbClr val="2C3E50"/>
                </a:solidFill>
                <a:latin typeface="WenQuanYi Micro Hei"/>
                <a:ea typeface="WenQuanYi Micro Hei"/>
              </a:rPr>
              <a:t>长期：工具调用具备身份、策略、证据与回滚。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E7C7B"/>
                </a:solidFill>
                <a:latin typeface="WenQuanYi Micro Hei"/>
                <a:ea typeface="WenQuanYi Micro Hei"/>
              </a:rPr>
              <a:t>中枢：既供数又提供受控工具，不替代域控制器。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5815584"/>
            <a:ext cx="11475720" cy="640080"/>
          </a:xfrm>
          <a:prstGeom prst="roundRect">
            <a:avLst>
              <a:gd name="adj" fmla="val 7000"/>
            </a:avLst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0392B"/>
                </a:solidFill>
                <a:latin typeface="WenQuanYi Micro Hei"/>
                <a:ea typeface="WenQuanYi Micro Hei"/>
              </a:rPr>
              <a:t>决策含义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F3A"/>
                </a:solidFill>
                <a:latin typeface="WenQuanYi Micro Hei"/>
                <a:ea typeface="WenQuanYi Micro Hei"/>
              </a:rPr>
              <a:t>近期以降本、提质和复用解决真实痛点；中期以数据产品、分布式处理和Agent消费形成产品闭环；长期以数据质量、语义、近源执行和动作证据建立6G差异化控制点。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6565392"/>
            <a:ext cx="11475720" cy="10972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" y="6601968"/>
            <a:ext cx="96469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智能数据中枢 · 第5–8章内部策略胶片 · 5.1+5.2 痛点与趋势    [S59]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6601968"/>
            <a:ext cx="1673352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A6A7A"/>
                </a:solidFill>
                <a:latin typeface="WenQuanYi Micro Hei"/>
                <a:ea typeface="WenQuanYi Micro He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91440"/>
            <a:ext cx="114757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9144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E7C7B"/>
                </a:solidFill>
                <a:latin typeface="WenQuanYi Micro Hei"/>
                <a:ea typeface="WenQuanYi Micro Hei"/>
              </a:rPr>
              <a:t>5.3 + 5.4  ·  FOUNDATION × TARGET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B1F3A"/>
                </a:solidFill>
                <a:latin typeface="WenQuanYi Micro Hei"/>
                <a:ea typeface="WenQuanYi Micro Hei"/>
              </a:rPr>
              <a:t>现实基础已存在，目标是把数据引擎升级为6G无线产品横向共用的智能数据中枢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21792"/>
            <a:ext cx="11475720" cy="393192"/>
          </a:xfrm>
          <a:prstGeom prst="roundRect">
            <a:avLst>
              <a:gd name="adj" fmla="val 7000"/>
            </a:avLst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36576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1F3A"/>
                </a:solidFill>
                <a:latin typeface="WenQuanYi Micro Hei"/>
                <a:ea typeface="WenQuanYi Micro Hei"/>
              </a:rPr>
              <a:t>智能数据中枢以RAN网管与无线大数据资产为根，完全吸收现有数据引擎；统一可信数据产品、多维数据质量、跨系统共享、分布式处理和数据语义，向上支撑自有Agent与开放生态。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078992"/>
            <a:ext cx="3730752" cy="1197864"/>
          </a:xfrm>
          <a:prstGeom prst="roundRect">
            <a:avLst>
              <a:gd name="adj" fmla="val 7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7C7B"/>
                </a:solidFill>
                <a:latin typeface="WenQuanYi Micro Hei"/>
                <a:ea typeface="WenQuanYi Micro Hei"/>
              </a:rPr>
              <a:t>已有实践｜湖仓、流批、降本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2C3E50"/>
                </a:solidFill>
                <a:latin typeface="WenQuanYi Micro Hei"/>
                <a:ea typeface="WenQuanYi Micro Hei"/>
              </a:rPr>
              <a:t>CM/PM/工参/MR统一建模入湖，NGI湖仓已有外场实践；Zeno、Saturn和统一调度形成降本基础。部分项目披露迁移资源下降50%、后续再降30%，仍需按产品独立验收。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87952" y="1078992"/>
            <a:ext cx="3730752" cy="1197864"/>
          </a:xfrm>
          <a:prstGeom prst="roundRect">
            <a:avLst>
              <a:gd name="adj" fmla="val 7000"/>
            </a:avLst>
          </a:prstGeom>
          <a:solidFill>
            <a:srgbClr val="E6ECF2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B1F3A"/>
                </a:solidFill>
                <a:latin typeface="WenQuanYi Micro Hei"/>
                <a:ea typeface="WenQuanYi Micro Hei"/>
              </a:rPr>
              <a:t>在建能力｜NISM、治理、语义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2C3E50"/>
                </a:solidFill>
                <a:latin typeface="WenQuanYi Micro Hei"/>
                <a:ea typeface="WenQuanYi Micro Hei"/>
              </a:rPr>
              <a:t>统一查询/目录/订阅、NL2SQL/API、质量观测、治理Agent和本体语义已有方案或实践。当前关键是统一对象、Owner、数据质量、接口和版本，而不是继续堆叠组件。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078992"/>
            <a:ext cx="3730752" cy="1197864"/>
          </a:xfrm>
          <a:prstGeom prst="roundRect">
            <a:avLst>
              <a:gd name="adj" fmla="val 7000"/>
            </a:avLst>
          </a:prstGeom>
          <a:solidFill>
            <a:srgbClr val="F6EDD0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B8860B"/>
                </a:solidFill>
                <a:latin typeface="WenQuanYi Micro Hei"/>
                <a:ea typeface="WenQuanYi Micro Hei"/>
              </a:rPr>
              <a:t>差异化预研｜分时、分布、近源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2C3E50"/>
                </a:solidFill>
                <a:latin typeface="WenQuanYi Micro Hei"/>
                <a:ea typeface="WenQuanYi Micro Hei"/>
              </a:rPr>
              <a:t>NDS近实时、联邦查询、动态编排、6G新数据通道和Saturn下沉共同指向全局定义、分布执行；必须验证资源预算、断链、版本一致和真实收益。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2386584"/>
            <a:ext cx="2212848" cy="941832"/>
          </a:xfrm>
          <a:prstGeom prst="roundRect">
            <a:avLst>
              <a:gd name="adj" fmla="val 7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E7C7B"/>
                </a:solidFill>
                <a:latin typeface="WenQuanYi Micro Hei"/>
                <a:ea typeface="WenQuanYi Micro Hei"/>
              </a:rPr>
              <a:t>M1 已有基线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B1F3A"/>
                </a:solidFill>
                <a:latin typeface="WenQuanYi Micro Hei"/>
                <a:ea typeface="WenQuanYi Micro Hei"/>
              </a:rPr>
              <a:t>统一湖仓与流批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C3E50"/>
                </a:solidFill>
                <a:latin typeface="WenQuanYi Micro Hei"/>
                <a:ea typeface="WenQuanYi Micro Hei"/>
              </a:rPr>
              <a:t>统一入湖、Zeno/Saturn、跨域共部署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386584"/>
            <a:ext cx="2212848" cy="941832"/>
          </a:xfrm>
          <a:prstGeom prst="roundRect">
            <a:avLst>
              <a:gd name="adj" fmla="val 7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E7C7B"/>
                </a:solidFill>
                <a:latin typeface="WenQuanYi Micro Hei"/>
                <a:ea typeface="WenQuanYi Micro Hei"/>
              </a:rPr>
              <a:t>M2 首版闭环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B1F3A"/>
                </a:solidFill>
                <a:latin typeface="WenQuanYi Micro Hei"/>
                <a:ea typeface="WenQuanYi Micro Hei"/>
              </a:rPr>
              <a:t>治理质量与消费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C3E50"/>
                </a:solidFill>
                <a:latin typeface="WenQuanYi Micro Hei"/>
                <a:ea typeface="WenQuanYi Micro Hei"/>
              </a:rPr>
              <a:t>Owner、模型、数据质量、NISM、问数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6048" y="2386584"/>
            <a:ext cx="2212848" cy="941832"/>
          </a:xfrm>
          <a:prstGeom prst="roundRect">
            <a:avLst>
              <a:gd name="adj" fmla="val 7000"/>
            </a:avLst>
          </a:prstGeom>
          <a:solidFill>
            <a:srgbClr val="F6EDD0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B8860B"/>
                </a:solidFill>
                <a:latin typeface="WenQuanYi Micro Hei"/>
                <a:ea typeface="WenQuanYi Micro Hei"/>
              </a:rPr>
              <a:t>M3 在研增强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B1F3A"/>
                </a:solidFill>
                <a:latin typeface="WenQuanYi Micro Hei"/>
                <a:ea typeface="WenQuanYi Micro Hei"/>
              </a:rPr>
              <a:t>分布式中枢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C3E50"/>
                </a:solidFill>
                <a:latin typeface="WenQuanYi Micro Hei"/>
                <a:ea typeface="WenQuanYi Micro Hei"/>
              </a:rPr>
              <a:t>联邦、服务分层、跨集群、Pipeline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2386584"/>
            <a:ext cx="2212848" cy="941832"/>
          </a:xfrm>
          <a:prstGeom prst="roundRect">
            <a:avLst>
              <a:gd name="adj" fmla="val 7000"/>
            </a:avLst>
          </a:prstGeom>
          <a:solidFill>
            <a:srgbClr val="F6EDD0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B8860B"/>
                </a:solidFill>
                <a:latin typeface="WenQuanYi Micro Hei"/>
                <a:ea typeface="WenQuanYi Micro Hei"/>
              </a:rPr>
              <a:t>M4 时间盒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B1F3A"/>
                </a:solidFill>
                <a:latin typeface="WenQuanYi Micro Hei"/>
                <a:ea typeface="WenQuanYi Micro Hei"/>
              </a:rPr>
              <a:t>近源与网元计算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C3E50"/>
                </a:solidFill>
                <a:latin typeface="WenQuanYi Micro Hei"/>
                <a:ea typeface="WenQuanYi Micro Hei"/>
              </a:rPr>
              <a:t>NDS近实时、6G流批、Saturn下沉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64624" y="2386584"/>
            <a:ext cx="2212848" cy="941832"/>
          </a:xfrm>
          <a:prstGeom prst="roundRect">
            <a:avLst>
              <a:gd name="adj" fmla="val 7000"/>
            </a:avLst>
          </a:prstGeom>
          <a:solidFill>
            <a:srgbClr val="E6ECF2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B1F3A"/>
                </a:solidFill>
                <a:latin typeface="WenQuanYi Micro Hei"/>
                <a:ea typeface="WenQuanYi Micro Hei"/>
              </a:rPr>
              <a:t>M5 条件扩展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B1F3A"/>
                </a:solidFill>
                <a:latin typeface="WenQuanYi Micro Hei"/>
                <a:ea typeface="WenQuanYi Micro Hei"/>
              </a:rPr>
              <a:t>动作证据与开放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C3E50"/>
                </a:solidFill>
                <a:latin typeface="WenQuanYi Micro Hei"/>
                <a:ea typeface="WenQuanYi Micro Hei"/>
              </a:rPr>
              <a:t>自有Agent先消费，再开放生态与API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" y="3447288"/>
            <a:ext cx="2212848" cy="7955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B1F3A"/>
                </a:solidFill>
                <a:latin typeface="WenQuanYi Micro Hei"/>
                <a:ea typeface="WenQuanYi Micro Hei"/>
              </a:rPr>
              <a:t>网络事实与数据源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A7A"/>
                </a:solidFill>
                <a:latin typeface="WenQuanYi Micro Hei"/>
                <a:ea typeface="WenQuanYi Micro Hei"/>
              </a:rPr>
              <a:t>基站 · NDS · UME-NM · 外部数据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447288"/>
            <a:ext cx="2212848" cy="7955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B1F3A"/>
                </a:solidFill>
                <a:latin typeface="WenQuanYi Micro Hei"/>
                <a:ea typeface="WenQuanYi Micro Hei"/>
              </a:rPr>
              <a:t>智能数据中枢底座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A7A"/>
                </a:solidFill>
                <a:latin typeface="WenQuanYi Micro Hei"/>
                <a:ea typeface="WenQuanYi Micro Hei"/>
              </a:rPr>
              <a:t>湖仓 · 流批 · 联邦 · 编排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56048" y="3447288"/>
            <a:ext cx="2212848" cy="7955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B1F3A"/>
                </a:solidFill>
                <a:latin typeface="WenQuanYi Micro Hei"/>
                <a:ea typeface="WenQuanYi Micro Hei"/>
              </a:rPr>
              <a:t>可信数据控制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A7A"/>
                </a:solidFill>
                <a:latin typeface="WenQuanYi Micro Hei"/>
                <a:ea typeface="WenQuanYi Micro Hei"/>
              </a:rPr>
              <a:t>Owner · 语义 · 数据质量 · 版本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3447288"/>
            <a:ext cx="2212848" cy="7955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B1F3A"/>
                </a:solidFill>
                <a:latin typeface="WenQuanYi Micro Hei"/>
                <a:ea typeface="WenQuanYi Micro Hei"/>
              </a:rPr>
              <a:t>统一消费服务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A7A"/>
                </a:solidFill>
                <a:latin typeface="WenQuanYi Micro Hei"/>
                <a:ea typeface="WenQuanYi Micro Hei"/>
              </a:rPr>
              <a:t>NISM · NL2SQL/API · 工具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64624" y="3447288"/>
            <a:ext cx="2212848" cy="7955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B1F3A"/>
                </a:solidFill>
                <a:latin typeface="WenQuanYi Micro Hei"/>
                <a:ea typeface="WenQuanYi Micro Hei"/>
              </a:rPr>
              <a:t>产品与Agent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A7A"/>
                </a:solidFill>
                <a:latin typeface="WenQuanYi Micro Hei"/>
                <a:ea typeface="WenQuanYi Micro Hei"/>
              </a:rPr>
              <a:t>RDE · NGI · IDA · iMind · 生态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" y="4370832"/>
            <a:ext cx="7424927" cy="2084831"/>
          </a:xfrm>
          <a:prstGeom prst="roundRect">
            <a:avLst>
              <a:gd name="adj" fmla="val 7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73152" tIns="91440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E7C7B"/>
                </a:solidFill>
                <a:latin typeface="WenQuanYi Micro Hei"/>
                <a:ea typeface="WenQuanYi Micro Hei"/>
              </a:rPr>
              <a:t>目标定位｜6G无线产品横向共用的智能数据中枢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60" b="0">
                <a:solidFill>
                  <a:srgbClr val="2C3E50"/>
                </a:solidFill>
                <a:latin typeface="WenQuanYi Micro Hei"/>
                <a:ea typeface="WenQuanYi Micro Hei"/>
              </a:rPr>
              <a:t>· 以RAN网管为内部Owner锚点，由无线大数据与数据引擎共同研发；首个版本目标为2026 Q4，作为内部研发里程碑，不作外部承诺。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60" b="0">
                <a:solidFill>
                  <a:srgbClr val="2C3E50"/>
                </a:solidFill>
                <a:latin typeface="WenQuanYi Micro Hei"/>
                <a:ea typeface="WenQuanYi Micro Hei"/>
              </a:rPr>
              <a:t>· 完全吸收现有数据引擎、湖仓、NISM、治理和语义资产，不另建孤立平台；向下连接网元与网络原生执行，向上支撑AIR Net自有Agent、产品应用、第三方Agent与开放API。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2C3E50"/>
                </a:solidFill>
                <a:latin typeface="WenQuanYi Micro Hei"/>
                <a:ea typeface="WenQuanYi Micro Hei"/>
              </a:rPr>
              <a:t>· 以第二消费者、第二系统、两种后端和正式版本证明横向复用；组件存在、方案完成或单项目效果都不能替代产品成立条件。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4370832"/>
            <a:ext cx="3922776" cy="2084831"/>
          </a:xfrm>
          <a:prstGeom prst="roundRect">
            <a:avLst>
              <a:gd name="adj" fmla="val 7000"/>
            </a:avLst>
          </a:prstGeom>
          <a:solidFill>
            <a:srgbClr val="F8E6E4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73152" tIns="91440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C0392B"/>
                </a:solidFill>
                <a:latin typeface="WenQuanYi Micro Hei"/>
                <a:ea typeface="WenQuanYi Micro Hei"/>
              </a:rPr>
              <a:t>边界与非目标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0">
                <a:solidFill>
                  <a:srgbClr val="2C3E50"/>
                </a:solidFill>
                <a:latin typeface="WenQuanYi Micro Hei"/>
                <a:ea typeface="WenQuanYi Micro Hei"/>
              </a:rPr>
              <a:t>· 不是覆盖公司全部数据、存储、模型和协议的大中台。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0">
                <a:solidFill>
                  <a:srgbClr val="2C3E50"/>
                </a:solidFill>
                <a:latin typeface="WenQuanYi Micro Hei"/>
                <a:ea typeface="WenQuanYi Micro Hei"/>
              </a:rPr>
              <a:t>· 不替代无线、核心网和OSS域控制器，不进入毫秒快环远端同步单点。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0">
                <a:solidFill>
                  <a:srgbClr val="2C3E50"/>
                </a:solidFill>
                <a:latin typeface="WenQuanYi Micro Hei"/>
                <a:ea typeface="WenQuanYi Micro Hei"/>
              </a:rPr>
              <a:t>· 不强制所有产品共享同一存储、运行时或Agent框架。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3E50"/>
                </a:solidFill>
                <a:latin typeface="WenQuanYi Micro Hei"/>
                <a:ea typeface="WenQuanYi Micro Hei"/>
              </a:rPr>
              <a:t>· 通用湖仓、模型生态和渠道保持开放；中兴掌握电信语义、数据质量、近源约束和动作证据。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6565392"/>
            <a:ext cx="11475720" cy="10972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" y="6601968"/>
            <a:ext cx="96469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智能数据中枢 · 第5–8章内部策略胶片 · 5.3+5.4 现实基础与定位    [S40][S45][S59]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6601968"/>
            <a:ext cx="1673352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A6A7A"/>
                </a:solidFill>
                <a:latin typeface="WenQuanYi Micro Hei"/>
                <a:ea typeface="WenQuanYi Micro He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91440"/>
            <a:ext cx="114757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9144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E7C7B"/>
                </a:solidFill>
                <a:latin typeface="WenQuanYi Micro Hei"/>
                <a:ea typeface="WenQuanYi Micro Hei"/>
              </a:rPr>
              <a:t>6  ·  OPPORTUNITY × ARCHITECTURE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B1F3A"/>
                </a:solidFill>
                <a:latin typeface="WenQuanYi Micro Hei"/>
                <a:ea typeface="WenQuanYi Micro Hei"/>
              </a:rPr>
              <a:t>一个目标架构整合机会点与选择：先闭合横向基线，再验证近源差异，最后开放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21792"/>
            <a:ext cx="11475720" cy="393192"/>
          </a:xfrm>
          <a:prstGeom prst="roundRect">
            <a:avLst>
              <a:gd name="adj" fmla="val 7000"/>
            </a:avLst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36576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1F3A"/>
                </a:solidFill>
                <a:latin typeface="WenQuanYi Micro Hei"/>
                <a:ea typeface="WenQuanYi Micro Hei"/>
              </a:rPr>
              <a:t>底层解决数据成本和分时运行，中层建立治理、数据质量、语义与服务控制，上层服务自有Agent和开放生态。优先级由架构依赖决定，不平均分配资源。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078992"/>
            <a:ext cx="4636008" cy="630936"/>
          </a:xfrm>
          <a:prstGeom prst="roundRect">
            <a:avLst>
              <a:gd name="adj" fmla="val 7000"/>
            </a:avLst>
          </a:prstGeom>
          <a:solidFill>
            <a:srgbClr val="E6ECF2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36576" bIns="18288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B1F3A"/>
                </a:solidFill>
                <a:latin typeface="WenQuanYi Micro Hei"/>
                <a:ea typeface="WenQuanYi Micro Hei"/>
              </a:rPr>
              <a:t>L5 产品与Agent消费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2C3E50"/>
                </a:solidFill>
                <a:latin typeface="WenQuanYi Micro Hei"/>
                <a:ea typeface="WenQuanYi Micro Hei"/>
              </a:rPr>
              <a:t>RDE / NGI / IDA / iMind / 自有Agent / 第三方应用</a:t>
            </a:r>
          </a:p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B1F3A"/>
                </a:solidFill>
                <a:latin typeface="WenQuanYi Micro Hei"/>
                <a:ea typeface="WenQuanYi Micro Hei"/>
              </a:rPr>
              <a:t>自有Agent先消费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792224"/>
            <a:ext cx="4636008" cy="630936"/>
          </a:xfrm>
          <a:prstGeom prst="roundRect">
            <a:avLst>
              <a:gd name="adj" fmla="val 7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36576" bIns="18288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B1F3A"/>
                </a:solidFill>
                <a:latin typeface="WenQuanYi Micro Hei"/>
                <a:ea typeface="WenQuanYi Micro Hei"/>
              </a:rPr>
              <a:t>L4 统一数据服务与语义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2C3E50"/>
                </a:solidFill>
                <a:latin typeface="WenQuanYi Micro Hei"/>
                <a:ea typeface="WenQuanYi Micro Hei"/>
              </a:rPr>
              <a:t>NISM查询/目录/订阅 · NL2SQL/API · 本体 · 数据工具</a:t>
            </a:r>
          </a:p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E7C7B"/>
                </a:solidFill>
                <a:latin typeface="WenQuanYi Micro Hei"/>
                <a:ea typeface="WenQuanYi Micro Hei"/>
              </a:rPr>
              <a:t>P0 首版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2505456"/>
            <a:ext cx="4636008" cy="630936"/>
          </a:xfrm>
          <a:prstGeom prst="roundRect">
            <a:avLst>
              <a:gd name="adj" fmla="val 7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36576" bIns="18288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WenQuanYi Micro Hei"/>
                <a:ea typeface="WenQuanYi Micro Hei"/>
              </a:rPr>
              <a:t>L3 可信数据控制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WenQuanYi Micro Hei"/>
                <a:ea typeface="WenQuanYi Micro Hei"/>
              </a:rPr>
              <a:t>对象 · Owner · 数据产品 · 数据质量 · 血缘 · 版本/事件 · 权限</a:t>
            </a:r>
          </a:p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FFFFFF"/>
                </a:solidFill>
                <a:latin typeface="WenQuanYi Micro Hei"/>
                <a:ea typeface="WenQuanYi Micro Hei"/>
              </a:rPr>
              <a:t>P0 控制点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3218687"/>
            <a:ext cx="4636008" cy="630936"/>
          </a:xfrm>
          <a:prstGeom prst="roundRect">
            <a:avLst>
              <a:gd name="adj" fmla="val 7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36576" bIns="18288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WenQuanYi Micro Hei"/>
                <a:ea typeface="WenQuanYi Micro Hei"/>
              </a:rPr>
              <a:t>L2 统一与分布式运行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WenQuanYi Micro Hei"/>
                <a:ea typeface="WenQuanYi Micro Hei"/>
              </a:rPr>
              <a:t>湖仓 · Zeno/Saturn/Spark · Pipeline · 联邦 · 跨集群 · 成本</a:t>
            </a:r>
          </a:p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FFFFFF"/>
                </a:solidFill>
                <a:latin typeface="WenQuanYi Micro Hei"/>
                <a:ea typeface="WenQuanYi Micro Hei"/>
              </a:rPr>
              <a:t>P0/P1 增强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3931920"/>
            <a:ext cx="4636008" cy="630936"/>
          </a:xfrm>
          <a:prstGeom prst="roundRect">
            <a:avLst>
              <a:gd name="adj" fmla="val 7000"/>
            </a:avLst>
          </a:prstGeom>
          <a:solidFill>
            <a:srgbClr val="F6EDD0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36576" bIns="18288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B1F3A"/>
                </a:solidFill>
                <a:latin typeface="WenQuanYi Micro Hei"/>
                <a:ea typeface="WenQuanYi Micro Hei"/>
              </a:rPr>
              <a:t>L1 近源生产与分时处理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2C3E50"/>
                </a:solidFill>
                <a:latin typeface="WenQuanYi Micro Hei"/>
                <a:ea typeface="WenQuanYi Micro Hei"/>
              </a:rPr>
              <a:t>基站/NDS · 秒/分钟/批 · 精准订阅 · 过滤/特征 · 断链/回证</a:t>
            </a:r>
          </a:p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B8860B"/>
                </a:solidFill>
                <a:latin typeface="WenQuanYi Micro Hei"/>
                <a:ea typeface="WenQuanYi Micro Hei"/>
              </a:rPr>
              <a:t>P1 时间盒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" y="4645152"/>
            <a:ext cx="4636008" cy="630936"/>
          </a:xfrm>
          <a:prstGeom prst="roundRect">
            <a:avLst>
              <a:gd name="adj" fmla="val 7000"/>
            </a:avLst>
          </a:prstGeom>
          <a:solidFill>
            <a:srgbClr val="F8E6E4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36576" bIns="18288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B1F3A"/>
                </a:solidFill>
                <a:latin typeface="WenQuanYi Micro Hei"/>
                <a:ea typeface="WenQuanYi Micro Hei"/>
              </a:rPr>
              <a:t>X 动作证据横切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2C3E50"/>
                </a:solidFill>
                <a:latin typeface="WenQuanYi Micro Hei"/>
                <a:ea typeface="WenQuanYi Micro Hei"/>
              </a:rPr>
              <a:t>Agent身份 · 策略 · 数据/模型版本 · NDT · 灰度 · 回滚</a:t>
            </a:r>
          </a:p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C0392B"/>
                </a:solidFill>
                <a:latin typeface="WenQuanYi Micro Hei"/>
                <a:ea typeface="WenQuanYi Micro Hei"/>
              </a:rPr>
              <a:t>P1 场景验证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129784" y="1078992"/>
          <a:ext cx="6693408" cy="4197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888"/>
                <a:gridCol w="768096"/>
                <a:gridCol w="2487168"/>
                <a:gridCol w="2048256"/>
              </a:tblGrid>
              <a:tr h="839419"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机会选择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落点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最小闭环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阶段门 / 停止线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839419"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P0 可信数据产品基线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L3+L4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两类种子数据产品；对象、Owner、数据质量、语义、NISM；至少两个消费者。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第二消费者仍重做模型/接口，或无Owner、无质量门、无版本承诺则不成立。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839419"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P0 湖仓与消费整合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L2+L4+L5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复用Zeno/Saturn/湖仓；统一查询/订阅；一个自有Agent贯通生产—消费—反馈。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必须度量重复存储、接入周期、查询性能和资源成本；只搬组件不算升级。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839419"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P1 分布式与近源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L1+L2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一种高频无线数据；秒/分钟/批分时；断链、对账、回退与联邦/就近消费。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收益不覆盖网元/NDS开销、必须依赖中心或侵入快环时退回域内能力。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839420"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P1/P2 动作与开放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X+L5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一个有界Agent动作场景；身份/策略/证据/回滚；成熟后映射第三方Agent和API。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无可回放证据、无人工接管或归因责任不清，不扩大权限和结果承诺。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47472" y="5404104"/>
            <a:ext cx="7114032" cy="1051560"/>
          </a:xfrm>
          <a:prstGeom prst="roundRect">
            <a:avLst>
              <a:gd name="adj" fmla="val 7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7C7B"/>
                </a:solidFill>
                <a:latin typeface="WenQuanYi Micro Hei"/>
                <a:ea typeface="WenQuanYi Micro Hei"/>
              </a:rPr>
              <a:t>选择建议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3E50"/>
                </a:solidFill>
                <a:latin typeface="WenQuanYi Micro Hei"/>
                <a:ea typeface="WenQuanYi Micro Hei"/>
              </a:rPr>
              <a:t>资源首先投向L3/L4可信数据产品基线，与L2已有湖仓/流批及L5自有Agent闭合2026 Q4首版；分布式/近源和动作证据各选一个真实场景时间盒验证。公共能力必须进入无线主航道版本。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5404104"/>
            <a:ext cx="4233672" cy="1051560"/>
          </a:xfrm>
          <a:prstGeom prst="roundRect">
            <a:avLst>
              <a:gd name="adj" fmla="val 7000"/>
            </a:avLst>
          </a:prstGeom>
          <a:solidFill>
            <a:srgbClr val="F8E6E4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C0392B"/>
                </a:solidFill>
                <a:latin typeface="WenQuanYi Micro Hei"/>
                <a:ea typeface="WenQuanYi Micro Hei"/>
              </a:rPr>
              <a:t>不选择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3E50"/>
                </a:solidFill>
                <a:latin typeface="WenQuanYi Micro Hei"/>
                <a:ea typeface="WenQuanYi Micro Hei"/>
              </a:rPr>
              <a:t>不新建覆盖所有域的统一大平台；不同时铺开全部数据类型、Agent和接口；不以目录、接入量或API数量替代复用、数据质量、资源和版本指标。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6565392"/>
            <a:ext cx="11475720" cy="10972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" y="6601968"/>
            <a:ext cx="96469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智能数据中枢 · 第5–8章内部策略胶片 · 第6章 机会与架构整合    [S59]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49840" y="6601968"/>
            <a:ext cx="1673352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A6A7A"/>
                </a:solidFill>
                <a:latin typeface="WenQuanYi Micro Hei"/>
                <a:ea typeface="WenQuanYi Micro He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91440"/>
            <a:ext cx="114757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9144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E7C7B"/>
                </a:solidFill>
                <a:latin typeface="WenQuanYi Micro Hei"/>
                <a:ea typeface="WenQuanYi Micro Hei"/>
              </a:rPr>
              <a:t>7  ·  STRATEGY TABLE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B1F3A"/>
                </a:solidFill>
                <a:latin typeface="WenQuanYi Micro Hei"/>
                <a:ea typeface="WenQuanYi Micro Hei"/>
              </a:rPr>
              <a:t>公司选择按依赖顺序推进：Q4首版闭合基线，2027验证差异，成熟后开放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21792"/>
            <a:ext cx="11475720" cy="393192"/>
          </a:xfrm>
          <a:prstGeom prst="roundRect">
            <a:avLst>
              <a:gd name="adj" fmla="val 7000"/>
            </a:avLst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36576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1F3A"/>
                </a:solidFill>
                <a:latin typeface="WenQuanYi Micro Hei"/>
                <a:ea typeface="WenQuanYi Micro Hei"/>
              </a:rPr>
              <a:t>本页严格使用“我司选择—具体策略（具体动作和时间）—不做的风险”三列表达。P0进入正式版本，P1必须有预算和停止线，P2以前序复用门通过为前提。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7472" y="1078992"/>
          <a:ext cx="114757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998464"/>
                <a:gridCol w="3374136"/>
              </a:tblGrid>
              <a:tr h="996696"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我司选择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具体策略（包含具体动作和时间）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不做的风险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996696"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P0｜以智能数据中枢统一无线数据能力主线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现在—2026 Q4：由RAN网管牵引、无线大数据与数据引擎承担核心研发，把数据引擎、湖仓、NISM、治理和语义收敛到同一产品边界与版本基线；明确唯一产品Owner、架构Owner及两类种子数据产品，形成首个可用版本。每项能力映射代码、接口、消费者和验收指标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数据能力继续分散在NGI、NIA、NDS、网管和各Agent中；重复采集、重复存储和项目式治理持续，智能数据中枢退化为新名称而非共同底座。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996696"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P0｜先闭合数据质量、语义和统一消费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2026 Q4首版：以CM/PM与MR/告警等两类高价值数据为种子，落实对象ID、Owner、统一模型、有效性/一致性/准确性/及时性/完整性/唯一性规则及质量诊断；NISM提供查询、订阅和目录，NL2SQL/API或本体语义至少服务一个自有Agent和一个产品应用。2027扩展跨域治理Agent、观测和分布式消费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Agent继续先取数、再清洗、后解释，可信度与交付周期不可控；统一湖仓只有物理汇聚，没有责任、数据质量和语义控制，无法支撑多Agent复用。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P1｜时间盒验证分布式、近源和动作证据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2026 Q3–Q4完成方案穿刺，2027按门扩展：选择一种高频UE级数据和一个无线Agent场景，验证NDS分钟级、网元秒级或Saturn下沉，记录CPU/内存、P99、字节减量、断链、对账和回退；同步验证Agent身份、策略、数据/模型版本、NDT/灰度、人工接管与动作回证。收益不覆盖开销或侵入快环即停止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不做会丢失设备商近源数据与执行优势；无边界铺开则把远端平台和Agent引入快环，增加资源成本、故障耦合和动作责任风险。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996696"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P2｜成熟后开放第三方Agent、API与标准接口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首版复用门通过后：将稳定的数据产品、语义、数据质量和工具接口开放给第三方Agent，并映射NEF/CAMARA Quality on Demand（QoD）等能力API；把ZSM、3GPP SA2/SA5、O-RAN主张绑定参考实现、信息模型和互操作测试。能力服务与结果服务分别核算履约、授权、归因和回滚成本。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过早开放会放大不稳定契约和责任缺口、形成兼容债；长期不开放则形成封闭栈，失去标准话语权、生态入口和跨厂商部署机会。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47472" y="6135624"/>
            <a:ext cx="11475720" cy="320040"/>
          </a:xfrm>
          <a:prstGeom prst="roundRect">
            <a:avLst>
              <a:gd name="adj" fmla="val 7000"/>
            </a:avLst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18288" bIns="9144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A"/>
                </a:solidFill>
                <a:latin typeface="WenQuanYi Micro Hei"/>
                <a:ea typeface="WenQuanYi Micro Hei"/>
              </a:rPr>
              <a:t>策略纪律：P0不能被P1/P2抢占资源；内部方案完成、PoC成功或API数量，均不能替代“第二消费者复用 + 数据质量闭环 + 正式版本承诺”。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6565392"/>
            <a:ext cx="11475720" cy="10972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6601968"/>
            <a:ext cx="96469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智能数据中枢 · 第5–8章内部策略胶片 · 第7章 具体策略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49840" y="6601968"/>
            <a:ext cx="1673352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A6A7A"/>
                </a:solidFill>
                <a:latin typeface="WenQuanYi Micro Hei"/>
                <a:ea typeface="WenQuanYi Micro He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91440"/>
            <a:ext cx="114757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9144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E7C7B"/>
                </a:solidFill>
                <a:latin typeface="WenQuanYi Micro Hei"/>
                <a:ea typeface="WenQuanYi Micro Hei"/>
              </a:rPr>
              <a:t>8  ·  AP-P0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B1F3A"/>
                </a:solidFill>
                <a:latin typeface="WenQuanYi Micro Hei"/>
                <a:ea typeface="WenQuanYi Micro Hei"/>
              </a:rPr>
              <a:t>最高优先级AP：90天闭合“可信数据产品基线 + 首个Agent消费”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21792"/>
            <a:ext cx="11475720" cy="393192"/>
          </a:xfrm>
          <a:prstGeom prst="roundRect">
            <a:avLst>
              <a:gd name="adj" fmla="val 7000"/>
            </a:avLst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36576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1F3A"/>
                </a:solidFill>
                <a:latin typeface="WenQuanYi Micro Hei"/>
                <a:ea typeface="WenQuanYi Micro Hei"/>
              </a:rPr>
              <a:t>目标不是90天完成全部智能数据中枢，而是用两类种子数据产品和两个真实消费者证明：同一对象、数据质量、语义与NISM接口可复用，并可进入2026 Q4正式版本。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078992"/>
            <a:ext cx="2770632" cy="1389888"/>
          </a:xfrm>
          <a:prstGeom prst="roundRect">
            <a:avLst>
              <a:gd name="adj" fmla="val 7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>
                <a:solidFill>
                  <a:srgbClr val="0E7C7B"/>
                </a:solidFill>
                <a:latin typeface="WenQuanYi Micro Hei"/>
                <a:ea typeface="WenQuanYi Micro Hei"/>
              </a:rPr>
              <a:t>W1｜第0–30天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B1F3A"/>
                </a:solidFill>
                <a:latin typeface="WenQuanYi Micro Hei"/>
                <a:ea typeface="WenQuanYi Micro Hei"/>
              </a:rPr>
              <a:t>冻结边界与责任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2C3E50"/>
                </a:solidFill>
                <a:latin typeface="WenQuanYi Micro Hei"/>
                <a:ea typeface="WenQuanYi Micro Hei"/>
              </a:rPr>
              <a:t>指定RAN网管产品Owner、无线大数据技术Owner和跨线架构Owner；盘点代码/接口/数据/消费者；冻结首版包含湖仓复用、数据质量、语义、NISM和两类数据产品。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27832" y="1078992"/>
            <a:ext cx="2770632" cy="1389888"/>
          </a:xfrm>
          <a:prstGeom prst="roundRect">
            <a:avLst>
              <a:gd name="adj" fmla="val 7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>
                <a:solidFill>
                  <a:srgbClr val="0E7C7B"/>
                </a:solidFill>
                <a:latin typeface="WenQuanYi Micro Hei"/>
                <a:ea typeface="WenQuanYi Micro Hei"/>
              </a:rPr>
              <a:t>W2｜第15–60天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B1F3A"/>
                </a:solidFill>
                <a:latin typeface="WenQuanYi Micro Hei"/>
                <a:ea typeface="WenQuanYi Micro Hei"/>
              </a:rPr>
              <a:t>建立可信数据产品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2C3E50"/>
                </a:solidFill>
                <a:latin typeface="WenQuanYi Micro Hei"/>
                <a:ea typeface="WenQuanYi Micro Hei"/>
              </a:rPr>
              <a:t>建议CM/PM与MR/告警等已有基础数据族；冻结对象ID、Owner、Schema、版本、用途、消费者、血缘、SLO和六维数据质量规则；建立监控、诊断、修复与回退。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1078992"/>
            <a:ext cx="2770632" cy="1389888"/>
          </a:xfrm>
          <a:prstGeom prst="roundRect">
            <a:avLst>
              <a:gd name="adj" fmla="val 7000"/>
            </a:avLst>
          </a:prstGeom>
          <a:solidFill>
            <a:srgbClr val="E6ECF2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>
                <a:solidFill>
                  <a:srgbClr val="0E7C7B"/>
                </a:solidFill>
                <a:latin typeface="WenQuanYi Micro Hei"/>
                <a:ea typeface="WenQuanYi Micro Hei"/>
              </a:rPr>
              <a:t>W3｜第31–75天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B1F3A"/>
                </a:solidFill>
                <a:latin typeface="WenQuanYi Micro Hei"/>
                <a:ea typeface="WenQuanYi Micro Hei"/>
              </a:rPr>
              <a:t>贯通消费与语义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2C3E50"/>
                </a:solidFill>
                <a:latin typeface="WenQuanYi Micro Hei"/>
                <a:ea typeface="WenQuanYi Micro Hei"/>
              </a:rPr>
              <a:t>用NISM封装目录、查询和订阅，打通两个后端/中枢；完成指标、维度和API语义映射；为一个自有Agent提供NL2SQL/API或结构化工具并记录输入版本。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88552" y="1078992"/>
            <a:ext cx="2770632" cy="1389888"/>
          </a:xfrm>
          <a:prstGeom prst="roundRect">
            <a:avLst>
              <a:gd name="adj" fmla="val 7000"/>
            </a:avLst>
          </a:prstGeom>
          <a:solidFill>
            <a:srgbClr val="E6ECF2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>
                <a:solidFill>
                  <a:srgbClr val="0E7C7B"/>
                </a:solidFill>
                <a:latin typeface="WenQuanYi Micro Hei"/>
                <a:ea typeface="WenQuanYi Micro Hei"/>
              </a:rPr>
              <a:t>W4｜第61–90天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B1F3A"/>
                </a:solidFill>
                <a:latin typeface="WenQuanYi Micro Hei"/>
                <a:ea typeface="WenQuanYi Micro Hei"/>
              </a:rPr>
              <a:t>完成复用与版本门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2C3E50"/>
                </a:solidFill>
                <a:latin typeface="WenQuanYi Micro Hei"/>
                <a:ea typeface="WenQuanYi Micro Hei"/>
              </a:rPr>
              <a:t>一个Agent与一个非Agent产品共同消费；验证第二消费者无需重建核心模型；对比接入工期、重复存储、查询性能、资源成本及质量缺陷周期；通过后进入Q4版本。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47472" y="2587752"/>
          <a:ext cx="11475720" cy="2642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/>
                <a:gridCol w="3136392"/>
                <a:gridCol w="3867912"/>
                <a:gridCol w="3447288"/>
              </a:tblGrid>
              <a:tr h="440436"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验收域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90天必须交付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通过门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不通过如何处置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440436"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产品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首版章程、边界、版本清单、Owner/RACI、两类种子数据产品。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能力均有代码、接口、消费者、指标、退出；产品Owner签字进入Q4版本。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无Owner或无消费者的能力移出首版，不以“待定”占位。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440436"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数据质量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六维规则、质量基线、监控看板、异常诊断与闭环工单。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关键字段/链路有门槛；缺陷可发现、定位、修复、回归和回退。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只展示分数、不能定位责任或触发处置时，退回治理基线重做。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40436"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复用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一个自有Agent+一个产品应用；两个后端/中枢；统一NISM接口。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第二消费者复用核心对象、质量规则和服务接口，主要工作是域适配。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仍大量复制模型和管道时冻结扩面，先消除分叉。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440436"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价值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接入周期、重复数据量、资源成本、查询P95/P99、缺陷周期基线。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至少两项核心指标相对现状可量化改善，且不引入快环同步依赖。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价值不可量化则不扩大资源，改善项和副作用带入阶段评审。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40436"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可信消费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Agent身份、数据/模型版本、工具调用、结果和异常反馈证据。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输入可追溯、越权可拦截、异常可回放；高风险动作仍由域控制器授权。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41148" rIns="36576" tIns="27432" bIns="18288"/>
                    <a:lstStyle/>
                    <a:p>
                      <a:pPr algn="l">
                        <a:lnSpc>
                          <a:spcPct val="101000"/>
                        </a:lnSpc>
                        <a:spcAft>
                          <a:spcPts val="0"/>
                        </a:spcAft>
                      </a:pPr>
                      <a:r>
                        <a:rPr sz="805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无证据时保持只读/建议模式，不扩大自动动作权限。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47472" y="5367528"/>
            <a:ext cx="3730752" cy="1088136"/>
          </a:xfrm>
          <a:prstGeom prst="roundRect">
            <a:avLst>
              <a:gd name="adj" fmla="val 7000"/>
            </a:avLst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E7C7B"/>
                </a:solidFill>
                <a:latin typeface="WenQuanYi Micro Hei"/>
                <a:ea typeface="WenQuanYi Micro Hei"/>
              </a:rPr>
              <a:t>治理节奏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2C3E50"/>
                </a:solidFill>
                <a:latin typeface="WenQuanYi Micro Hei"/>
                <a:ea typeface="WenQuanYi Micro Hei"/>
              </a:rPr>
              <a:t>每周工作包、双周架构/Schema评审，第30/60/90天阶段门；产品Owner裁决范围，架构Owner裁决对象/接口，消费者Owner确认业务可用。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87952" y="5367528"/>
            <a:ext cx="3730752" cy="1088136"/>
          </a:xfrm>
          <a:prstGeom prst="roundRect">
            <a:avLst>
              <a:gd name="adj" fmla="val 7000"/>
            </a:avLst>
          </a:prstGeom>
          <a:solidFill>
            <a:srgbClr val="E6ECF2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关键依赖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2C3E50"/>
                </a:solidFill>
                <a:latin typeface="WenQuanYi Micro Hei"/>
                <a:ea typeface="WenQuanYi Micro Hei"/>
              </a:rPr>
              <a:t>现有数据引擎与湖仓代码、NISM接口、两类数据Owner、Agent场景Owner、测试环境和现状成本基线必须在第30天前可用。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5367528"/>
            <a:ext cx="3730752" cy="1088136"/>
          </a:xfrm>
          <a:prstGeom prst="roundRect">
            <a:avLst>
              <a:gd name="adj" fmla="val 7000"/>
            </a:avLst>
          </a:prstGeom>
          <a:solidFill>
            <a:srgbClr val="F8E6E4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 bIns="3657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WenQuanYi Micro Hei"/>
                <a:ea typeface="WenQuanYi Micro Hei"/>
              </a:rPr>
              <a:t>停止线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2C3E50"/>
                </a:solidFill>
                <a:latin typeface="WenQuanYi Micro Hei"/>
                <a:ea typeface="WenQuanYi Micro Hei"/>
              </a:rPr>
              <a:t>没有第二消费者、数据质量不能进入准入、收益不可度量、公共层成为快环单点或Q4版本无法承诺时，停止扩面并退回最小可信数据产品。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6565392"/>
            <a:ext cx="11475720" cy="10972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" y="6601968"/>
            <a:ext cx="96469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智能数据中枢 · 第5–8章内部策略胶片 · 第8章 最高优先级AP    [S59]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0" y="6601968"/>
            <a:ext cx="1673352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A6A7A"/>
                </a:solidFill>
                <a:latin typeface="WenQuanYi Micro Hei"/>
                <a:ea typeface="WenQuanYi Micro He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