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2.3.1  ·  ARCHITECTURE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92608"/>
            <a:ext cx="114757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6G数据能力不会收敛为单一Fabric；两类技术架构承载三种竞争位置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640080"/>
            <a:ext cx="11475720" cy="493776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产品命名和SKU边界不必然构成新的数据拓扑。Ericsson与Nokia共享相近的联邦分层骨架，分别从治理和自智应用进入；Huawei重构网络内数据处理拓扑。真正要比较的是技术底座、控制入口，以及以什么代价换什么优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207008"/>
            <a:ext cx="37947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28016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9304"/>
            <a:ext cx="237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WenQuanYi Micro Hei"/>
                <a:ea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252728"/>
            <a:ext cx="32461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50" b="1">
                <a:solidFill>
                  <a:srgbClr val="0E7C7B"/>
                </a:solidFill>
                <a:latin typeface="WenQuanYi Micro Hei"/>
                <a:ea typeface="WenQuanYi Micro Hei"/>
              </a:rPr>
              <a:t>约束 1  ·  时标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399032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事实在近源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91056"/>
            <a:ext cx="3538728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无线状态、移动性和断链生存，要求毫秒执行留在网元、边缘或域控制器。把快环事实外移到远端平台，会同时失去时延和故障域。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194560"/>
            <a:ext cx="37947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226771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237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WenQuanYi Micro Hei"/>
                <a:ea typeface="WenQuanYi Micro 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240280"/>
            <a:ext cx="32461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50" b="1">
                <a:solidFill>
                  <a:srgbClr val="0E7C7B"/>
                </a:solidFill>
                <a:latin typeface="WenQuanYi Micro Hei"/>
                <a:ea typeface="WenQuanYi Micro Hei"/>
              </a:rPr>
              <a:t>约束 2  ·  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386584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语义要跨域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8608"/>
            <a:ext cx="3538728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模型与产品要跨RAN、Core、OSS/BSS复用，必须有稳定对象、上下文、QoD和版本。名称相似不等于跨域语义已经对齐。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3182112"/>
            <a:ext cx="37947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325526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64408"/>
            <a:ext cx="237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WenQuanYi Micro Hei"/>
                <a:ea typeface="WenQuanYi Micro 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27832"/>
            <a:ext cx="32461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50" b="1">
                <a:solidFill>
                  <a:srgbClr val="0E7C7B"/>
                </a:solidFill>
                <a:latin typeface="WenQuanYi Micro Hei"/>
                <a:ea typeface="WenQuanYi Micro Hei"/>
              </a:rPr>
              <a:t>约束 3  ·  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374136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少搬运、多计算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3538728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感知、训练和遥测规模不允许默认把全量数据搬到中心。过滤、特征化与推理应先在源侧完成，再按用途交付。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" y="4169664"/>
            <a:ext cx="379476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424281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51960"/>
            <a:ext cx="237744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WenQuanYi Micro Hei"/>
                <a:ea typeface="WenQuanYi Micro 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4"/>
            <a:ext cx="324612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50" b="1">
                <a:solidFill>
                  <a:srgbClr val="0E7C7B"/>
                </a:solidFill>
                <a:latin typeface="WenQuanYi Micro Hei"/>
                <a:ea typeface="WenQuanYi Micro Hei"/>
              </a:rPr>
              <a:t>约束 4  ·  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61688"/>
            <a:ext cx="3246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动作要回证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53712"/>
            <a:ext cx="3538728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Agent输出会改变真实网络。数据、模型、策略、动作、结果和回滚必须连成可解释、可追责的证据链，否则自治权限扩不出去。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7952" y="1572768"/>
            <a:ext cx="41148" cy="33832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4187952" y="3273552"/>
            <a:ext cx="219456" cy="201168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43984" y="2743200"/>
            <a:ext cx="1335024" cy="135331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2852928"/>
            <a:ext cx="1225296" cy="11338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控制权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如何分配</a:t>
            </a:r>
          </a:p>
          <a:p>
            <a:pPr algn="ctr">
              <a:lnSpc>
                <a:spcPct val="112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决定位置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815584" y="3273552"/>
            <a:ext cx="182880" cy="201168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16752" y="1207008"/>
            <a:ext cx="5806440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16752" y="1207008"/>
            <a:ext cx="73152" cy="124358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1261872"/>
            <a:ext cx="5440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0E7C7B"/>
                </a:solidFill>
                <a:latin typeface="WenQuanYi Micro Hei"/>
                <a:ea typeface="WenQuanYi Micro Hei"/>
              </a:rPr>
              <a:t>Ericsson  ·  联邦分层 / 治理入口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1426464"/>
            <a:ext cx="5440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连接既有数据岛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1645920"/>
            <a:ext cx="54406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以复杂协调换迁移连续性。权威源与Mediation、NWDAF、湖仓不可跳过；统一的是发现、策略和消费体验，不是把全部运行时收进一个SKU。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16752" y="2523744"/>
            <a:ext cx="5806440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16752" y="2523744"/>
            <a:ext cx="73152" cy="124358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2578608"/>
            <a:ext cx="5440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B8860B"/>
                </a:solidFill>
                <a:latin typeface="WenQuanYi Micro Hei"/>
                <a:ea typeface="WenQuanYi Micro Hei"/>
              </a:rPr>
              <a:t>Huawei  ·  网络原生 / 执行入口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2743200"/>
            <a:ext cx="5440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重构数据拓扑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2962656"/>
            <a:ext cx="54406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以新平面复杂度换近源控制。把多源、多处理、多汇做成可编排执行，而不是先建设企业Catalog；缺少通用目录不能直接判为路线不完整。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16752" y="3840480"/>
            <a:ext cx="5806440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16752" y="3840480"/>
            <a:ext cx="73152" cy="1243584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3895344"/>
            <a:ext cx="5440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0B1F3A"/>
                </a:solidFill>
                <a:latin typeface="WenQuanYi Micro Hei"/>
                <a:ea typeface="WenQuanYi Micro Hei"/>
              </a:rPr>
              <a:t>Nokia  ·  联邦分层 / 应用入口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4059936"/>
            <a:ext cx="54406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产品化数据—自智软件链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4279392"/>
            <a:ext cx="544068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2C3E50"/>
                </a:solidFill>
                <a:latin typeface="WenQuanYi Micro Hei"/>
                <a:ea typeface="WenQuanYi Micro Hei"/>
              </a:rPr>
              <a:t>技术底座与Ericsson高度相似，差别在产品组织：把数据契约、智能消费和AN Apps包装成可售软件链，而不是形成第三种数据架构。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7472" y="5212080"/>
            <a:ext cx="11475720" cy="1298448"/>
          </a:xfrm>
          <a:prstGeom prst="roundRect">
            <a:avLst/>
          </a:prstGeom>
          <a:solidFill>
            <a:srgbClr val="D7ECEA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3776" y="5266944"/>
            <a:ext cx="11183112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共同绕不开的不是平台名称，而是四类控制能力及其外部接口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" y="5504688"/>
            <a:ext cx="2697480" cy="877824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5216" y="5559552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跨域语义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5216" y="5833872"/>
            <a:ext cx="2514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稳定ID、权威源、配置版本和对象映射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28416" y="5504688"/>
            <a:ext cx="2697480" cy="877824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19856" y="5559552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QoD / 产品契约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9856" y="5833872"/>
            <a:ext cx="2514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用途适用性、Owner、SLO、计量与退出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63056" y="5504688"/>
            <a:ext cx="2697480" cy="877824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4496" y="5559552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近源运行时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54496" y="5833872"/>
            <a:ext cx="2514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算子放置、策略下发、断链生存与回退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97696" y="5504688"/>
            <a:ext cx="2697480" cy="877824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89136" y="5559552"/>
            <a:ext cx="2514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  <a:ea typeface="WenQuanYi Micro Hei"/>
              </a:rPr>
              <a:t>动作证据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89136" y="5833872"/>
            <a:ext cx="2514600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数据到回滚可关联、可导出、可测试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2.3 架构路线 · 2.3.1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2.3.2  ·  STANDARD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92608"/>
            <a:ext cx="114757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标准先冻结外部行为，不会先冻结统一平台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640080"/>
            <a:ext cx="11475720" cy="493776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ITU-R、SA2/SA5、O-RAN和外部运营接口正在形成一条可组合链路，但并不共同要求一个名为Data Fabric的网元。标准冻结跨厂商必须一致的对象与接口，不替厂商选择内部拓扑，因此两类技术架构和不同产品入口可以长期并存。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207008"/>
            <a:ext cx="6583680" cy="1371600"/>
          </a:xfrm>
          <a:prstGeom prst="round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261872"/>
            <a:ext cx="629107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C9A227"/>
                </a:solidFill>
                <a:latin typeface="WenQuanYi Micro Hei"/>
                <a:ea typeface="WenQuanYi Micro Hei"/>
              </a:rPr>
              <a:t>LAYER 3  ·  外部产品行为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26464"/>
            <a:ext cx="6291072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WenQuanYi Micro Hei"/>
                <a:ea typeface="WenQuanYi Micro Hei"/>
              </a:rPr>
              <a:t>API  ·  SLA  ·  用途  ·  计量  ·  结算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682496"/>
            <a:ext cx="6291072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WenQuanYi Micro Hei"/>
                <a:ea typeface="WenQuanYi Micro Hei"/>
              </a:rPr>
              <a:t>消费者看见的是可订购、可计量、可追责的服务，而不是内部网元名称。TMF/GSMA/CAMARA会先冻结这些外部行为，倒逼上游给出稳定语义和责任映射。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2743200"/>
            <a:ext cx="6583680" cy="137160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2798064"/>
            <a:ext cx="629107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C9A227"/>
                </a:solidFill>
                <a:latin typeface="WenQuanYi Micro Hei"/>
                <a:ea typeface="WenQuanYi Micro Hei"/>
              </a:rPr>
              <a:t>LAYER 2  ·  跨域控制语义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962656"/>
            <a:ext cx="6291072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WenQuanYi Micro Hei"/>
                <a:ea typeface="WenQuanYi Micro Hei"/>
              </a:rPr>
              <a:t>稳定ID  ·  最小元数据  ·  QoD  ·  授权  ·  动作证据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3218688"/>
            <a:ext cx="6291072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WenQuanYi Micro Hei"/>
                <a:ea typeface="WenQuanYi Micro Hei"/>
              </a:rPr>
              <a:t>跨域复用真正依赖对象能否对齐、质量能否声明、授权能否传递、动作能否回证。这是标准最可能先下手的控制层，也是两类技术架构最终都要交出的接口。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279392"/>
            <a:ext cx="6583680" cy="13716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4334255"/>
            <a:ext cx="629107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1">
                <a:solidFill>
                  <a:srgbClr val="C9A227"/>
                </a:solidFill>
                <a:latin typeface="WenQuanYi Micro Hei"/>
                <a:ea typeface="WenQuanYi Micro Hei"/>
              </a:rPr>
              <a:t>LAYER 1  ·  网络权威事实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4498848"/>
            <a:ext cx="6291072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WenQuanYi Micro Hei"/>
                <a:ea typeface="WenQuanYi Micro Hei"/>
              </a:rPr>
              <a:t>RAN  ·  Core  ·  OAM  ·  O-RAN接口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4754879"/>
            <a:ext cx="6291072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WenQuanYi Micro Hei"/>
                <a:ea typeface="WenQuanYi Micro Hei"/>
              </a:rPr>
              <a:t>无线、会话和运维事实仍由网络域产生。标准先承认这些权威源，而不是另造一个总库来替代RAN快环、会话状态或OAM对象。</a:t>
            </a:r>
          </a:p>
        </p:txBody>
      </p:sp>
      <p:sp>
        <p:nvSpPr>
          <p:cNvPr id="19" name="Up Arrow 18"/>
          <p:cNvSpPr/>
          <p:nvPr/>
        </p:nvSpPr>
        <p:spPr>
          <a:xfrm>
            <a:off x="3364992" y="4023360"/>
            <a:ext cx="384048" cy="237744"/>
          </a:xfrm>
          <a:prstGeom prst="up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3364992" y="2487168"/>
            <a:ext cx="384048" cy="237744"/>
          </a:xfrm>
          <a:prstGeom prst="up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14032" y="1207008"/>
            <a:ext cx="4709160" cy="2157984"/>
          </a:xfrm>
          <a:prstGeom prst="roundRect">
            <a:avLst/>
          </a:prstGeom>
          <a:solidFill>
            <a:srgbClr val="D7ECEA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14032" y="1207008"/>
            <a:ext cx="64008" cy="215798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252728"/>
            <a:ext cx="4471416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较可能先冻结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1481328"/>
            <a:ext cx="4471416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50" b="0">
                <a:solidFill>
                  <a:srgbClr val="2C3E50"/>
                </a:solidFill>
                <a:latin typeface="WenQuanYi Micro Hei"/>
                <a:ea typeface="WenQuanYi Micro Hei"/>
              </a:rPr>
              <a:t>角色、稳定标识、最小元数据、交付控制、QoD/授权/证据挂钩点，以及一致性测试。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50" b="0">
                <a:solidFill>
                  <a:srgbClr val="2C3E50"/>
                </a:solidFill>
                <a:latin typeface="WenQuanYi Micro Hei"/>
                <a:ea typeface="WenQuanYi Micro Hei"/>
              </a:rPr>
              <a:t>ZSM 029对注册、发现、资产和工作流的研究也指向同一组外部行为，而不是指向某个平台形态。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4032" y="3474720"/>
            <a:ext cx="4709160" cy="2176272"/>
          </a:xfrm>
          <a:prstGeom prst="roundRect">
            <a:avLst/>
          </a:prstGeom>
          <a:solidFill>
            <a:srgbClr val="F6EDD0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14032" y="3474720"/>
            <a:ext cx="64008" cy="217627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520439"/>
            <a:ext cx="4471416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300" b="1">
                <a:solidFill>
                  <a:srgbClr val="0B1F3A"/>
                </a:solidFill>
                <a:latin typeface="WenQuanYi Micro Hei"/>
                <a:ea typeface="WenQuanYi Micro Hei"/>
              </a:rPr>
              <a:t>仍然保持开放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3749039"/>
            <a:ext cx="4471416" cy="18470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50" b="0">
                <a:solidFill>
                  <a:srgbClr val="2C3E50"/>
                </a:solidFill>
                <a:latin typeface="WenQuanYi Micro Hei"/>
                <a:ea typeface="WenQuanYi Micro Hei"/>
              </a:rPr>
              <a:t>既有NF增强、新NF、边缘Agent、管理侧服务、湖仓和消息运行时，都可能承载同一外部行为。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1050" b="0">
                <a:solidFill>
                  <a:srgbClr val="2C3E50"/>
                </a:solidFill>
                <a:latin typeface="WenQuanYi Micro Hei"/>
                <a:ea typeface="WenQuanYi Micro Hei"/>
              </a:rPr>
              <a:t>是否存在独立Fabric仍是实现选择。标准不替厂商选定内部拓扑，也不把某家组件写成行业唯一答案。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" y="5742432"/>
            <a:ext cx="11475720" cy="786384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制度含义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竞争从“组件是否存在”转向“接口能否互操作、后端能否替换、责任能否跨域传递”。名称相似不等于控制体系已经统一。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9768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B1F3A"/>
                </a:solidFill>
                <a:latin typeface="WenQuanYi Micro Hei"/>
                <a:ea typeface="WenQuanYi Micro Hei"/>
              </a:rPr>
              <a:t>判断含义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9768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同一外部行为可以由网络原生功能、管理域服务或外部数据层分别实现；不同数据族也可以选择不同后端。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2336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停止线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2336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Kafka、湖仓、完整知识图谱或独立Fabric都不是标准预设终点。不能用接口清单反推统一平台已经形成。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2.3 架构路线 · 2.3.2    [S1][S5][S6][S26][S29][S7][S43][S15][S16]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2.3.4  ·  ERICSSON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92608"/>
            <a:ext cx="114757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Ericsson以联邦保留存量：迁移连续性最强，跨产品一致性是关键风险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640080"/>
            <a:ext cx="11475720" cy="493776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这是一条“先联邦、后治理”的路线：数据在域内加工、按需联邦消费，统一的是治理视图而不是全部运行时。公开材料支持架构思想连续，不支持已经形成一个统一商用Data Fabric SKU。官方产品血缘是 Mediation→Telco DataOps，不是 EDCA→DataOps。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188720"/>
            <a:ext cx="7059168" cy="44622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icsson-data-ingestion-architectur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53" y="1243584"/>
            <a:ext cx="5764004" cy="24871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95053" y="1243584"/>
            <a:ext cx="5764004" cy="2487168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298448"/>
            <a:ext cx="1417320" cy="20116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1673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WenQuanYi Micro Hei"/>
                <a:ea typeface="WenQuanYi Micro Hei"/>
              </a:rPr>
              <a:t>官方架构  Figure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683971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主图：2026 Data Ingestion Architecture。EDCA/DRG仍在，客户侧DMF与Ericsson侧EFDL/Data Fabric构成联邦边界。</a:t>
            </a:r>
          </a:p>
        </p:txBody>
      </p:sp>
      <p:pic>
        <p:nvPicPr>
          <p:cNvPr id="13" name="Picture 12" descr="ericsson-ai-ready-data-managemen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96" y="3931920"/>
            <a:ext cx="2893568" cy="16276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64896" y="3931920"/>
            <a:ext cx="2893568" cy="1627632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" y="3986784"/>
            <a:ext cx="1234440" cy="18288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4005072"/>
            <a:ext cx="12344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750" b="1">
                <a:solidFill>
                  <a:srgbClr val="FFFFFF"/>
                </a:solidFill>
                <a:latin typeface="WenQuanYi Micro Hei"/>
                <a:ea typeface="WenQuanYi Micro Hei"/>
              </a:rPr>
              <a:t>参考架构  North 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31920"/>
            <a:ext cx="3621024" cy="16276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① 近源摄取仍保留：EDCA、DRG在2026 Figure 18继续存在，证明联邦摄取机制没有被废弃。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② 联邦边界被扩展：客户侧DMF连接Ericsson侧EFDL/Data Fabric，权威数据不必先搬迁。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③ 治理范围上移：North Star增加目录、质量、血缘、语义/KG和数据产品，但是future-state参考架构，不是已交付统一SKU。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34656" y="1188720"/>
            <a:ext cx="4306824" cy="1408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34656" y="1188720"/>
            <a:ext cx="64008" cy="14081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234440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数据与控制如何流动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463040"/>
            <a:ext cx="4069080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数据在域内采集加工，经联邦访问和智能移动供跨域消费，重点不是把数据集中到一个湖。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目录、策略、质量与血缘提供跨岛视图；执行仍分散在DataOps、NWDAF、EIAP/rApps和域系统。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4656" y="2688336"/>
            <a:ext cx="4306824" cy="1408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34656" y="2688336"/>
            <a:ext cx="64008" cy="140817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734056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为什么选择联邦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962656"/>
            <a:ext cx="4069080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RAN、Core、OSS/BSS和边缘拥有不同对象、时标和故障域，权威源天然分散。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Mediation、NWDAF、SMO/RIC和客户湖仓不可跳过。先连接数据岛、对齐外部行为，再决定内部控制是否值得收敛。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4187952"/>
            <a:ext cx="4306824" cy="1463040"/>
          </a:xfrm>
          <a:prstGeom prst="roundRect">
            <a:avLst/>
          </a:prstGeom>
          <a:solidFill>
            <a:srgbClr val="F6EDD0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34656" y="4187952"/>
            <a:ext cx="64008" cy="1463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233672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竞争含义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462272"/>
            <a:ext cx="4069080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优势是渐进接入、多后端和源侧权威，迁移风险低，也更容易进入异构数据栈。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代价是跨产品Schema、QoD、策略和版本可能长期碎片化；协调成本若高于替换成本，联邦优势会下降。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742432"/>
            <a:ext cx="11475720" cy="786384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已证明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Figure 18延续EDCA/DRG；Mediation、EIAP、NWDAF和API渠道分别有产品或部署锚点。North Star把范围扩到语义/KG、质量和数据产品，但仍是参考架构。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9768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关键边界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9768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官方产品血缘是 Mediation→Telco DataOps，不是 EDCA→DataOps。DDC/GDC名称消失只能说明功能重组。“no data copy”应读成减少不必要复制。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2336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B8860B"/>
                </a:solidFill>
                <a:latin typeface="WenQuanYi Micro Hei"/>
                <a:ea typeface="WenQuanYi Micro Hei"/>
              </a:rPr>
              <a:t>决定性验证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2336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同一版本化数据产品能否跨DataOps、EIAP、NWDAF及第三方后端复用，无需项目级重写，并在断链、回退与动作回证上满足通信预算。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2.3 架构路线 · 2.3.4    [S9][S10][S21][S30][S35][S36][S57][S58]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2.3.5  ·  HUAWEI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92608"/>
            <a:ext cx="114757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Huawei重构数据拓扑：近源执行控制最强，电信级可靠性是验证门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640080"/>
            <a:ext cx="11475720" cy="493776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这是一条“先重构执行、再决定治理边界”的路线：DO编排拓扑，DA近源处理，DCP异步分发。它首先是6G数据面机制，能吸收部分发现、编排和交付能力，但不会自动解决跨域语义、QoD、血缘与产品责任。不能把“补成Fabric”当成唯一终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188720"/>
            <a:ext cx="7059168" cy="44622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uawei-6g-data-plane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17" y="1243584"/>
            <a:ext cx="5583676" cy="29992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85217" y="1243584"/>
            <a:ext cx="5583676" cy="2999232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298448"/>
            <a:ext cx="1417320" cy="201168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316736"/>
            <a:ext cx="1417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750" b="1">
                <a:solidFill>
                  <a:srgbClr val="0B1F3A"/>
                </a:solidFill>
                <a:latin typeface="WenQuanYi Micro Hei"/>
                <a:ea typeface="WenQuanYi Micro Hei"/>
              </a:rPr>
              <a:t>研究架构  非3GPP方案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15968"/>
            <a:ext cx="21945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E7C7B"/>
                </a:solidFill>
                <a:latin typeface="WenQuanYi Micro Hei"/>
                <a:ea typeface="WenQuanYi Micro Hei"/>
              </a:rPr>
              <a:t>①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2194560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能力注册、操作DAG分解、选点与策略下发。登记的是“谁能执行什么”，不是通用资产目录。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15968"/>
            <a:ext cx="21945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0B1F3A"/>
                </a:solidFill>
                <a:latin typeface="WenQuanYi Micro Hei"/>
                <a:ea typeface="WenQuanYi Micro Hei"/>
              </a:rPr>
              <a:t>② DA / DPF / DSF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80560"/>
            <a:ext cx="2194560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在UE、RAN、边缘和Core近源采集、过滤、推理与存储，把计算放到数据所在故障域。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15968"/>
            <a:ext cx="21945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C0392B"/>
                </a:solidFill>
                <a:latin typeface="WenQuanYi Micro Hei"/>
                <a:ea typeface="WenQuanYi Micro Hei"/>
              </a:rPr>
              <a:t>③ DCP / Data Spine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480560"/>
            <a:ext cx="2194560" cy="106070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以Pub/Sub解耦生产者和多消费者，服务AI/ISAC扇出，而不是沿用GTP会话模型。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34656" y="1188720"/>
            <a:ext cx="4306824" cy="1408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34656" y="1188720"/>
            <a:ext cx="64008" cy="14081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234440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控制流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463040"/>
            <a:ext cx="4069080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服务请求向DO声明采集、过滤、聚合、转换、分析或推理目标。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DO从能力注册中选择执行节点，拆解操作DAG，并下发拓扑、访问、隐私与资源策略。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4656" y="2688336"/>
            <a:ext cx="4306824" cy="1408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34656" y="2688336"/>
            <a:ext cx="64008" cy="140817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734056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数据流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962656"/>
            <a:ext cx="4069080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源DA发布topic，DCP按订阅或带内拓扑把数据异步送往多个处理/消费节点。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DA/DPF沿途过滤、压缩、特征化和本地推理，上游模型输出还可成为下游输入。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4187952"/>
            <a:ext cx="4306824" cy="1463040"/>
          </a:xfrm>
          <a:prstGeom prst="roundRect">
            <a:avLst/>
          </a:prstGeom>
          <a:solidFill>
            <a:srgbClr val="F6EDD0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34656" y="4187952"/>
            <a:ext cx="64008" cy="1463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233672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为什么需要新平面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462272"/>
            <a:ext cx="4069080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SBI偏控制消息，PDU会话围绕连接；AI/ISAC需要多源、多处理、多汇和派生数据链。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跨域语义与产品契约可能被网络原生吸收，也可能由管理域补充。AUTINOps不是DCP商用证明。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742432"/>
            <a:ext cx="11475720" cy="786384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原型信号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DCP公开实验约2ms；10 broker、128KB消息约2,394.6MB/s，说明精简路径与横向吞吐具有潜力，仍属研究原型。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9768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比较局限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9768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DCP移除持久化，而RocketMQ对照开启持久化；结果不能外推为同功能全面领先，也没有证明长期可靠性。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2336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B8860B"/>
                </a:solidFill>
                <a:latin typeface="WenQuanYi Micro Hei"/>
                <a:ea typeface="WenQuanYi Micro Hei"/>
              </a:rPr>
              <a:t>决定性验证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2336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同等持久化条件下的跨站故障、移动性、断链回退、多租户SLA和第三方算子测试。增强SBA/UP若已够用，新增平面必要性下降。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2.3 架构路线 · 2.3.5    [S12][S14][S37][S38]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2.3.6  ·  NOKIA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92608"/>
            <a:ext cx="114757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Nokia以AN Fabric编织自智应用：共享数据与AI是内置能力，域控制器执行动作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640080"/>
            <a:ext cx="11475720" cy="493776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AN Fabric是自智网络的公共智能服务平台，内部包含共享数据管理、AIOps、安全与自治域服务；Data Suite和其他AN Apps通过API使用这些能力。ANF承载上层意图和应用编排，但具体实时资源动作仍由OSS、SMO、RIC、SON及域控制器执行。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188720"/>
            <a:ext cx="7059168" cy="44622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25296"/>
            <a:ext cx="41605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50" b="1">
                <a:solidFill>
                  <a:srgbClr val="0E7C7B"/>
                </a:solidFill>
                <a:latin typeface="WenQuanYi Micro Hei"/>
                <a:ea typeface="WenQuanYi Micro Hei"/>
              </a:rPr>
              <a:t>主视觉  ·  官方定位还原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408176"/>
            <a:ext cx="4160520" cy="65836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53896"/>
            <a:ext cx="3904487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WenQuanYi Micro Hei"/>
                <a:ea typeface="WenQuanYi Micro Hei"/>
              </a:rPr>
              <a:t>1  网络与OSS数据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00784"/>
            <a:ext cx="3904487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RAN、Core、Transport、Fixed及OSS持续产生状态与事件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395728" y="2048256"/>
            <a:ext cx="201168" cy="128016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" y="2194560"/>
            <a:ext cx="4160520" cy="6583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2240279"/>
            <a:ext cx="3904487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WenQuanYi Micro Hei"/>
                <a:ea typeface="WenQuanYi Micro Hei"/>
              </a:rPr>
              <a:t>2  AN Fabric公共服务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2487168"/>
            <a:ext cx="3904487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Data Management、AIOps、Security与Autonomous Domain Services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395728" y="2834639"/>
            <a:ext cx="201168" cy="128016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" y="2980944"/>
            <a:ext cx="4160520" cy="658368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026663"/>
            <a:ext cx="3904487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WenQuanYi Micro Hei"/>
                <a:ea typeface="WenQuanYi Micro Hei"/>
              </a:rPr>
              <a:t>3  AN Apps / Data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273551"/>
            <a:ext cx="3904487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数据产品、业务/运营意图、分析和自动化工作流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395728" y="3621024"/>
            <a:ext cx="201168" cy="128016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5488" y="3767328"/>
            <a:ext cx="4160520" cy="658368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3813048"/>
            <a:ext cx="3904487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WenQuanYi Micro Hei"/>
                <a:ea typeface="WenQuanYi Micro Hei"/>
              </a:rPr>
              <a:t>4  域控制与编排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4059936"/>
            <a:ext cx="3904487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OSS、SMO、RIC、SON及域控制器保留状态与动作权限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395728" y="4407408"/>
            <a:ext cx="201168" cy="128016"/>
          </a:xfrm>
          <a:prstGeom prst="down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" y="4553712"/>
            <a:ext cx="4160520" cy="65836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4599432"/>
            <a:ext cx="3904487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WenQuanYi Micro Hei"/>
                <a:ea typeface="WenQuanYi Micro Hei"/>
              </a:rPr>
              <a:t>5  网元动作与回证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4846320"/>
            <a:ext cx="3904487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WenQuanYi Micro Hei"/>
                <a:ea typeface="WenQuanYi Micro Hei"/>
              </a:rPr>
              <a:t>执行、自愈、结果、回滚；证据返回应用和公共服务</a:t>
            </a:r>
          </a:p>
        </p:txBody>
      </p:sp>
      <p:pic>
        <p:nvPicPr>
          <p:cNvPr id="28" name="Picture 27" descr="nokia-autonomous-network-fa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84930"/>
            <a:ext cx="2487168" cy="185933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754880" y="1584930"/>
            <a:ext cx="2487168" cy="1859339"/>
          </a:xfrm>
          <a:prstGeom prst="rect">
            <a:avLst/>
          </a:prstGeom>
          <a:noFill/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09744" y="1463040"/>
            <a:ext cx="2011680" cy="1828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1481328"/>
            <a:ext cx="20116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750" b="1">
                <a:solidFill>
                  <a:srgbClr val="0B1F3A"/>
                </a:solidFill>
                <a:latin typeface="WenQuanYi Micro Hei"/>
                <a:ea typeface="WenQuanYi Micro Hei"/>
              </a:rPr>
              <a:t>官方图  ANF为应用公共底座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694176"/>
            <a:ext cx="2487168" cy="18653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官方白皮书：ANF包含Data Management、AIOps和Autonomous Domain Services，AN Apps经内部API使用这些服务。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Data Suite官网：属于AN应用栈并由AN Fabric驱动；因此不能画成ANF上游的独立数据平台。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官方图未画OSS、SMO、RIC、SON或网元路径；不能据此断言ANF直接承担全部资源控制。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34656" y="1188720"/>
            <a:ext cx="4306824" cy="1408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34656" y="1188720"/>
            <a:ext cx="64008" cy="1408176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1234440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ANF内含数据编织能力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1463040"/>
            <a:ext cx="4069080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统一数据管理不是ANF外部前置层，而是其公共服务之一：网络数据被采集、治理、关联并发布为可复用数据产品。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Data Suite将目录、血缘、质量、语义和产品能力形成用户入口，支撑AI和自动化应用。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34656" y="2688336"/>
            <a:ext cx="4306824" cy="14081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34656" y="2688336"/>
            <a:ext cx="64008" cy="140817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2734056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AN Apps承载意图与用例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962656"/>
            <a:ext cx="4069080" cy="10789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AN Apps面向运营、网络安全和用户体验，使用ANF的数据、模型、知识和自治域服务。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它们解释业务/运营意图并编排分析与自动化工作流；Fabric Experience和Marketplace承接体验及商业入口。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34656" y="4187952"/>
            <a:ext cx="4306824" cy="1463040"/>
          </a:xfrm>
          <a:prstGeom prst="roundRect">
            <a:avLst/>
          </a:prstGeom>
          <a:solidFill>
            <a:srgbClr val="F6EDD0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34656" y="4187952"/>
            <a:ext cx="64008" cy="146304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4233672"/>
            <a:ext cx="40690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域控制器执行资源动作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462272"/>
            <a:ext cx="4069080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服务层给出目标、分析和动作请求，SMO、RIC、SON、OSS及域控制器完成具体控制并保留实时状态。</a:t>
            </a:r>
          </a:p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50" b="0">
                <a:solidFill>
                  <a:srgbClr val="2C3E50"/>
                </a:solidFill>
                <a:latin typeface="WenQuanYi Micro Hei"/>
                <a:ea typeface="WenQuanYi Micro Hei"/>
              </a:rPr>
              <a:t>KDDI与stc案例证明域级恢复和SON动作，不证明完整ANF已经成为跨域统一资源控制面。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" y="5742432"/>
            <a:ext cx="11475720" cy="786384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0E7C7B"/>
                </a:solidFill>
                <a:latin typeface="WenQuanYi Micro Hei"/>
                <a:ea typeface="WenQuanYi Micro Hei"/>
              </a:rPr>
              <a:t>官方架构已证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ANF包含Data Management、AIOps与Autonomous Domain Services；AN Apps经API使用公共能力，Data Suite由ANF驱动。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39768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B8860B"/>
                </a:solidFill>
                <a:latin typeface="WenQuanYi Micro Hei"/>
                <a:ea typeface="WenQuanYi Micro Hei"/>
              </a:rPr>
              <a:t>域执行已证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9768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KDDI 20万RAN由Recovery System恢复；stc MantaRay SON执行&gt;1万次动作。证明域控制，不证明完整ANF统一栈。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2336" y="5779008"/>
            <a:ext cx="3691128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C0392B"/>
                </a:solidFill>
                <a:latin typeface="WenQuanYi Micro Hei"/>
                <a:ea typeface="WenQuanYi Micro Hei"/>
              </a:rPr>
              <a:t>决定性验证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2336" y="5943600"/>
            <a:ext cx="36911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00" b="0">
                <a:solidFill>
                  <a:srgbClr val="2C3E50"/>
                </a:solidFill>
                <a:latin typeface="WenQuanYi Micro Hei"/>
                <a:ea typeface="WenQuanYi Micro Hei"/>
              </a:rPr>
              <a:t>具名部署中，Data Suite能否被第三方AN Apps复用，ANF意图能否经开放接口进入多厂商域控制器，并返回动作、结果与回滚证据。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2.3 架构路线 · 2.3.6    [S23][S24][S31][S32][S33][S34][S39]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11475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2.3.3 + 2.3.7  · 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292608"/>
            <a:ext cx="114757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2000" b="1">
                <a:solidFill>
                  <a:srgbClr val="0B1F3A"/>
                </a:solidFill>
                <a:latin typeface="WenQuanYi Micro Hei"/>
                <a:ea typeface="WenQuanYi Micro Hei"/>
              </a:rPr>
              <a:t>两类技术架构、三种产品位置；最终胜负由四类接口控制权决定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640080"/>
            <a:ext cx="11475720" cy="493776"/>
          </a:xfrm>
          <a:prstGeom prst="roundRect">
            <a:avLst/>
          </a:prstGeom>
          <a:solidFill>
            <a:srgbClr val="E8F0F2"/>
          </a:solidFill>
          <a:ln w="952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B1F3A"/>
                </a:solidFill>
                <a:latin typeface="WenQuanYi Micro Hei"/>
                <a:ea typeface="WenQuanYi Micro Hei"/>
              </a:rPr>
              <a:t>Ericsson与Nokia在相近联邦分层底座内竞争不同入口：前者争治理，后者把数据契约连接到自智应用；Huawei争网络原生近源运行时。谁能定义外部接口，同时允许执行层和后端替换，谁才更接近长期平台位置。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7472" y="1170432"/>
          <a:ext cx="1147572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355848"/>
                <a:gridCol w="3355848"/>
                <a:gridCol w="3346704"/>
              </a:tblGrid>
              <a:tr h="350084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比较项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Ericsson  ·  联邦治理入口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Huawei  ·  网络原生执行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WenQuanYi Micro Hei"/>
                          <a:ea typeface="WenQuanYi Micro Hei"/>
                        </a:rPr>
                        <a:t>Nokia  ·  联邦应用入口</a:t>
                      </a:r>
                    </a:p>
                  </a:txBody>
                  <a:tcPr anchor="ctr">
                    <a:solidFill>
                      <a:srgbClr val="0B1F3A"/>
                    </a:solidFill>
                  </a:tcPr>
                </a:tc>
              </a:tr>
              <a:tr h="350084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架构起点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分散数据岛和既有产品如何少迁移、可复用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AI/ISAC多源多处理多汇如何低时延流动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在相近联邦底座上把数据契约、自智应用和商业外延形成可售组合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</a:tr>
              <a:tr h="350084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控制中心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目录、治理和策略逻辑联邦；产品控制仍分散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DO编排执行能力与数据拓扑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Data Suite管数据产品，AN Fabric管智能消费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执行位置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域内产品、EDCA/DMF与数据湖按需访问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DA/DPF/DSF在UE/RAN/边缘/Core近源执行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数据留域；动作经AN Apps回OSS/RIC/SON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</a:tr>
              <a:tr h="350084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换取优势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保护存量、降低迁移风险、允许多后端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降低全量搬运，获得可编排近源处理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能力可分别产品化并快速进入现网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084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结构性代价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跨产品语义、QoD、策略和版本协调持续存在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新增顺序、持久化、容灾、移动性与可移植性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多层SKU可能只在品牌层组合并形成软锁定</a:t>
                      </a:r>
                    </a:p>
                  </a:txBody>
                  <a:tcPr anchor="ctr">
                    <a:solidFill>
                      <a:srgbClr val="F4F7F8"/>
                    </a:solidFill>
                  </a:tcPr>
                </a:tc>
              </a:tr>
              <a:tr h="350088"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决定性验证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同一数据产品跨DataOps、EIAP、NWDAF和第三方复用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同功能对比下通过持久化、故障、移动性和租户SLA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36576" tIns="27432" bIns="27432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WenQuanYi Micro Hei"/>
                          <a:ea typeface="WenQuanYi Micro Hei"/>
                        </a:rPr>
                        <a:t>三层共享契约，并支持第三方双向替换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47472" y="3712463"/>
            <a:ext cx="2816352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3712463"/>
            <a:ext cx="64008" cy="124358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3758183"/>
            <a:ext cx="25786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1  跨域语义与身份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986783"/>
            <a:ext cx="25786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定义稳定ID、权威源、配置版本和对象映射，使同一小区、会话、模型与业务对象能跨接口关联。谁掌握这组映射，谁就能让模型和产品复用。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3712463"/>
            <a:ext cx="2816352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3712463"/>
            <a:ext cx="64008" cy="124358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3758183"/>
            <a:ext cx="25786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2  QoD与产品契约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3986783"/>
            <a:ext cx="25786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定义数据对特定任务是否适用、谁负责、满足何种SLO、如何计量、何时降级或退出。没有契约，跨域交付只能停留在项目集成。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12463"/>
            <a:ext cx="2816352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712463"/>
            <a:ext cx="64008" cy="124358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758183"/>
            <a:ext cx="25786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3  近源运行时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986783"/>
            <a:ext cx="25786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决定过滤、特征、推理与缓存放在哪里，策略如何下发，断链如何生存，版本如何回退。快环不能外包给远端目录或云平台。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5712" y="3712463"/>
            <a:ext cx="2816352" cy="12435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5D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5712" y="3712463"/>
            <a:ext cx="64008" cy="124358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3758183"/>
            <a:ext cx="2578608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>
                <a:solidFill>
                  <a:srgbClr val="0B1F3A"/>
                </a:solidFill>
                <a:latin typeface="WenQuanYi Micro Hei"/>
                <a:ea typeface="WenQuanYi Micro Hei"/>
              </a:rPr>
              <a:t>4  动作证据与接口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3986783"/>
            <a:ext cx="2578608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4000"/>
              </a:lnSpc>
              <a:spcAft>
                <a:spcPts val="100"/>
              </a:spcAft>
            </a:pPr>
            <a:r>
              <a:rPr sz="900" b="0">
                <a:solidFill>
                  <a:srgbClr val="2C3E50"/>
                </a:solidFill>
                <a:latin typeface="WenQuanYi Micro Hei"/>
                <a:ea typeface="WenQuanYi Micro Hei"/>
              </a:rPr>
              <a:t>把数据、模型、策略、动作、结果和回滚关联起来，并能被第三方审计、导出与一致性测试。没有证据链，自治权限扩不出去。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5029200"/>
            <a:ext cx="11475720" cy="1481328"/>
          </a:xfrm>
          <a:prstGeom prst="roundRect">
            <a:avLst/>
          </a:prstGeom>
          <a:solidFill>
            <a:srgbClr val="E6ECF2"/>
          </a:solidFill>
          <a:ln w="9525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5065776"/>
            <a:ext cx="11183112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E7C7B"/>
                </a:solidFill>
                <a:latin typeface="WenQuanYi Micro Hei"/>
                <a:ea typeface="WenQuanYi Micro Hei"/>
              </a:rPr>
              <a:t>路线落点与竞合边界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5248656"/>
            <a:ext cx="1118311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050" b="1">
                <a:solidFill>
                  <a:srgbClr val="0B1F3A"/>
                </a:solidFill>
                <a:latin typeface="WenQuanYi Micro Hei"/>
                <a:ea typeface="WenQuanYi Micro Hei"/>
              </a:rPr>
              <a:t>Ericsson与Nokia共享相近联邦分层骨架：前者争联邦目录与渐进治理，后者把数据契约产品化并连接自治应用；Huawei争数据拓扑与近源运行时。三者是两类技术架构和三种产品位置，不是成熟度阶梯。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5596128"/>
            <a:ext cx="1118311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050" b="0">
                <a:solidFill>
                  <a:srgbClr val="2C3E50"/>
                </a:solidFill>
                <a:latin typeface="WenQuanYi Micro Hei"/>
                <a:ea typeface="WenQuanYi Micro Hei"/>
              </a:rPr>
              <a:t>真正的平台地位不是把所有数据收到一个平台，也不是把Data Mesh写成自智内核，而是让消费者遵循稳定语义、QoD和证据契约，同时让状态—意图—策略—动作—结果—回滚闭环可验证，并证明运行时、后端和渠道仍可替换。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5980176"/>
            <a:ext cx="11183112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950" b="0">
                <a:solidFill>
                  <a:srgbClr val="5A6A7A"/>
                </a:solidFill>
                <a:latin typeface="WenQuanYi Micro Hei"/>
                <a:ea typeface="WenQuanYi Micro Hei"/>
              </a:rPr>
              <a:t>竞合边界：设备商更接近网络语义、近源执行与动作权限；云和湖仓更接近规模数据/模型运行时；聚合商更接近跨网分发与结算。三者可以组合，但RAN快环和网元动作权限不能外移。Google Telecom Data Fabric仍为Private Preview，不能外推为已形成的跨网统一平台。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6601968"/>
            <a:ext cx="11475720" cy="9144"/>
          </a:xfrm>
          <a:prstGeom prst="rect">
            <a:avLst/>
          </a:prstGeom>
          <a:solidFill>
            <a:srgbClr val="C5D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6638544"/>
            <a:ext cx="95097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6G 数据架构 × 数据编织 · 2.3 架构路线 · 2.3.3 / 2.3.7    [S18][S25] 及 P3–P5 厂商证据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6638544"/>
            <a:ext cx="1444752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05000"/>
              </a:lnSpc>
              <a:spcAft>
                <a:spcPts val="100"/>
              </a:spcAft>
            </a:pPr>
            <a:r>
              <a:rPr sz="800" b="0">
                <a:solidFill>
                  <a:srgbClr val="5A6A7A"/>
                </a:solidFill>
                <a:latin typeface="WenQuanYi Micro Hei"/>
                <a:ea typeface="WenQuanYi Micro 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