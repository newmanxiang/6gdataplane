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2.3.1  ·  ARCHITECTURE CHOICE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92608"/>
            <a:ext cx="114757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6G数据能力不会收敛为单一Fabric；三条路线围绕同一组控制能力竞争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640080"/>
            <a:ext cx="11475720" cy="420624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三条路线是不同起点，不是“谁更接近Fabric”的排名；它们分别优先解决低风险演进、近源执行与产品化速度。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170432"/>
            <a:ext cx="3794760" cy="9509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1280160"/>
            <a:ext cx="237744" cy="237744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89304"/>
            <a:ext cx="237744" cy="2194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WenQuanYi Micro Hei"/>
                <a:ea typeface="WenQuanYi Micro 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1243584"/>
            <a:ext cx="324612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50" b="1">
                <a:solidFill>
                  <a:srgbClr val="0E7C7B"/>
                </a:solidFill>
                <a:latin typeface="WenQuanYi Micro Hei"/>
                <a:ea typeface="WenQuanYi Micro Hei"/>
              </a:rPr>
              <a:t>约束 1  ·  时标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1408176"/>
            <a:ext cx="32461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事实在近源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64208"/>
            <a:ext cx="3538728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无线状态、移动性和断链生存，要求毫秒执行留在网元、边缘或域控制器。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2194560"/>
            <a:ext cx="3794760" cy="9509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" y="2304288"/>
            <a:ext cx="237744" cy="237744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313432"/>
            <a:ext cx="237744" cy="2194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WenQuanYi Micro Hei"/>
                <a:ea typeface="WenQuanYi Micro 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267712"/>
            <a:ext cx="324612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50" b="1">
                <a:solidFill>
                  <a:srgbClr val="0E7C7B"/>
                </a:solidFill>
                <a:latin typeface="WenQuanYi Micro Hei"/>
                <a:ea typeface="WenQuanYi Micro Hei"/>
              </a:rPr>
              <a:t>约束 2  ·  复用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2432304"/>
            <a:ext cx="32461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语义要跨域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688336"/>
            <a:ext cx="3538728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模型与产品跨RAN、Core、OSS/BSS复用，需要稳定对象、上下文、QoD和版本。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" y="3218688"/>
            <a:ext cx="3794760" cy="9509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7200" y="3328416"/>
            <a:ext cx="237744" cy="237744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337560"/>
            <a:ext cx="237744" cy="2194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WenQuanYi Micro Hei"/>
                <a:ea typeface="WenQuanYi Micro 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291840"/>
            <a:ext cx="324612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50" b="1">
                <a:solidFill>
                  <a:srgbClr val="0E7C7B"/>
                </a:solidFill>
                <a:latin typeface="WenQuanYi Micro Hei"/>
                <a:ea typeface="WenQuanYi Micro Hei"/>
              </a:rPr>
              <a:t>约束 3  ·  成本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3456432"/>
            <a:ext cx="32461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少搬运、多计算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712464"/>
            <a:ext cx="3538728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感知、训练和遥测规模推动过滤、特征化与推理向源侧下沉，而不是默认集中。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7472" y="4242816"/>
            <a:ext cx="3794760" cy="9509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57200" y="4352544"/>
            <a:ext cx="237744" cy="237744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361688"/>
            <a:ext cx="237744" cy="2194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WenQuanYi Micro Hei"/>
                <a:ea typeface="WenQuanYi Micro He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4315968"/>
            <a:ext cx="324612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50" b="1">
                <a:solidFill>
                  <a:srgbClr val="0E7C7B"/>
                </a:solidFill>
                <a:latin typeface="WenQuanYi Micro Hei"/>
                <a:ea typeface="WenQuanYi Micro Hei"/>
              </a:rPr>
              <a:t>约束 4  ·  风险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4480560"/>
            <a:ext cx="32461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动作要回证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736592"/>
            <a:ext cx="3538728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Agent输出会改变真实网络，数据、模型、策略、动作与结果必须形成证据链。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87952" y="1572768"/>
            <a:ext cx="41148" cy="3493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ight Arrow 31"/>
          <p:cNvSpPr/>
          <p:nvPr/>
        </p:nvSpPr>
        <p:spPr>
          <a:xfrm>
            <a:off x="4187952" y="3273552"/>
            <a:ext cx="219456" cy="201168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443984" y="2816352"/>
            <a:ext cx="1335024" cy="129844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98848" y="2999232"/>
            <a:ext cx="1225296" cy="95097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WenQuanYi Micro Hei"/>
                <a:ea typeface="WenQuanYi Micro Hei"/>
              </a:rPr>
              <a:t>控制权</a:t>
            </a:r>
          </a:p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WenQuanYi Micro Hei"/>
                <a:ea typeface="WenQuanYi Micro Hei"/>
              </a:rPr>
              <a:t>如何分配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5815584" y="3273552"/>
            <a:ext cx="182880" cy="201168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016752" y="1170432"/>
            <a:ext cx="5806440" cy="1280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16752" y="1170432"/>
            <a:ext cx="73152" cy="128016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6208" y="1243584"/>
            <a:ext cx="54406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0E7C7B"/>
                </a:solidFill>
                <a:latin typeface="WenQuanYi Micro Hei"/>
                <a:ea typeface="WenQuanYi Micro Hei"/>
              </a:rPr>
              <a:t>Ericsson  ·  存量联邦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1426464"/>
            <a:ext cx="54406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400" b="1">
                <a:solidFill>
                  <a:srgbClr val="0B1F3A"/>
                </a:solidFill>
                <a:latin typeface="WenQuanYi Micro Hei"/>
                <a:ea typeface="WenQuanYi Micro Hei"/>
              </a:rPr>
              <a:t>连接既有数据岛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36208" y="1700784"/>
            <a:ext cx="5440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50" b="0">
                <a:solidFill>
                  <a:srgbClr val="2C3E50"/>
                </a:solidFill>
                <a:latin typeface="WenQuanYi Micro Hei"/>
                <a:ea typeface="WenQuanYi Micro Hei"/>
              </a:rPr>
              <a:t>以复杂协调换迁移连续性。权威源与存量产品不可跳过，统一的是治理视图，不是全部运行时。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016752" y="2542032"/>
            <a:ext cx="5806440" cy="1280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016752" y="2542032"/>
            <a:ext cx="73152" cy="12801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36208" y="2615184"/>
            <a:ext cx="54406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B8860B"/>
                </a:solidFill>
                <a:latin typeface="WenQuanYi Micro Hei"/>
                <a:ea typeface="WenQuanYi Micro Hei"/>
              </a:rPr>
              <a:t>Huawei  ·  网络原生拓扑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6208" y="2798064"/>
            <a:ext cx="54406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400" b="1">
                <a:solidFill>
                  <a:srgbClr val="0B1F3A"/>
                </a:solidFill>
                <a:latin typeface="WenQuanYi Micro Hei"/>
                <a:ea typeface="WenQuanYi Micro Hei"/>
              </a:rPr>
              <a:t>重构数据拓扑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6208" y="3072384"/>
            <a:ext cx="5440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50" b="0">
                <a:solidFill>
                  <a:srgbClr val="2C3E50"/>
                </a:solidFill>
                <a:latin typeface="WenQuanYi Micro Hei"/>
                <a:ea typeface="WenQuanYi Micro Hei"/>
              </a:rPr>
              <a:t>以新平面复杂度换近源控制。把多源、多处理、多汇做成可编排执行，而不是先建企业Catalog。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016752" y="3913632"/>
            <a:ext cx="5806440" cy="1280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16752" y="3913632"/>
            <a:ext cx="73152" cy="12801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6208" y="3986784"/>
            <a:ext cx="54406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0B1F3A"/>
                </a:solidFill>
                <a:latin typeface="WenQuanYi Micro Hei"/>
                <a:ea typeface="WenQuanYi Micro Hei"/>
              </a:rPr>
              <a:t>Nokia  ·  分层商品化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36208" y="4169664"/>
            <a:ext cx="54406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400" b="1">
                <a:solidFill>
                  <a:srgbClr val="0B1F3A"/>
                </a:solidFill>
                <a:latin typeface="WenQuanYi Micro Hei"/>
                <a:ea typeface="WenQuanYi Micro Hei"/>
              </a:rPr>
              <a:t>组合数据与自治软件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36208" y="4443984"/>
            <a:ext cx="5440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50" b="0">
                <a:solidFill>
                  <a:srgbClr val="2C3E50"/>
                </a:solidFill>
                <a:latin typeface="WenQuanYi Micro Hei"/>
                <a:ea typeface="WenQuanYi Micro Hei"/>
              </a:rPr>
              <a:t>以分层SKU换产品化速度。先让能力可销售、可组合，再验证各层是否共享同一控制体系。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47472" y="5321808"/>
            <a:ext cx="11475720" cy="1170432"/>
          </a:xfrm>
          <a:prstGeom prst="roundRect">
            <a:avLst/>
          </a:prstGeom>
          <a:solidFill>
            <a:srgbClr val="D7ECEA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93776" y="5394960"/>
            <a:ext cx="1118311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共同绕不开的不是平台名称，而是四类控制能力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93776" y="5687568"/>
            <a:ext cx="2697480" cy="621792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93776" y="5833872"/>
            <a:ext cx="2697480" cy="34747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WenQuanYi Micro Hei"/>
                <a:ea typeface="WenQuanYi Micro Hei"/>
              </a:rPr>
              <a:t>跨域语义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328416" y="5687568"/>
            <a:ext cx="2697480" cy="621792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28416" y="5833872"/>
            <a:ext cx="2697480" cy="34747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WenQuanYi Micro Hei"/>
                <a:ea typeface="WenQuanYi Micro Hei"/>
              </a:rPr>
              <a:t>QoD / 产品契约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163056" y="5687568"/>
            <a:ext cx="2697480" cy="621792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63056" y="5833872"/>
            <a:ext cx="2697480" cy="34747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WenQuanYi Micro Hei"/>
                <a:ea typeface="WenQuanYi Micro Hei"/>
              </a:rPr>
              <a:t>近源运行时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997696" y="5687568"/>
            <a:ext cx="2697480" cy="621792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97696" y="5833872"/>
            <a:ext cx="2697480" cy="34747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WenQuanYi Micro Hei"/>
                <a:ea typeface="WenQuanYi Micro Hei"/>
              </a:rPr>
              <a:t>动作证据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2.3 架构路线 · 2.3.1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2.3.2  ·  STANDARD BOUNDARY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92608"/>
            <a:ext cx="114757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标准先冻结外部行为，不会先冻结统一平台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640080"/>
            <a:ext cx="11475720" cy="420624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标准更关注跨厂商必须一致的对象和接口，不替厂商选择内部拓扑，因此三条路线可以长期并存。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353312"/>
            <a:ext cx="6583680" cy="1389888"/>
          </a:xfrm>
          <a:prstGeom prst="roundRect">
            <a:avLst/>
          </a:prstGeom>
          <a:solidFill>
            <a:srgbClr val="1F4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1426464"/>
            <a:ext cx="6254496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C9A227"/>
                </a:solidFill>
                <a:latin typeface="WenQuanYi Micro Hei"/>
                <a:ea typeface="WenQuanYi Micro Hei"/>
              </a:rPr>
              <a:t>LAYER 3  ·  外部产品行为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609344"/>
            <a:ext cx="62544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WenQuanYi Micro Hei"/>
                <a:ea typeface="WenQuanYi Micro Hei"/>
              </a:rPr>
              <a:t>API  ·  SLA  ·  用途  ·  计量  ·  结算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1883664"/>
            <a:ext cx="6254496" cy="7680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FFFFFF"/>
                </a:solidFill>
                <a:latin typeface="WenQuanYi Micro Hei"/>
                <a:ea typeface="WenQuanYi Micro Hei"/>
              </a:rPr>
              <a:t>消费者看见的是可订购、可计量、可追责的服务，而不是内部网元名称。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" y="2907792"/>
            <a:ext cx="6583680" cy="138988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2980944"/>
            <a:ext cx="6254496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C9A227"/>
                </a:solidFill>
                <a:latin typeface="WenQuanYi Micro Hei"/>
                <a:ea typeface="WenQuanYi Micro Hei"/>
              </a:rPr>
              <a:t>LAYER 2  ·  跨域控制语义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3163824"/>
            <a:ext cx="62544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WenQuanYi Micro Hei"/>
                <a:ea typeface="WenQuanYi Micro Hei"/>
              </a:rPr>
              <a:t>稳定ID  ·  最小元数据  ·  QoD  ·  授权  ·  动作证据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3438144"/>
            <a:ext cx="6254496" cy="7680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FFFFFF"/>
                </a:solidFill>
                <a:latin typeface="WenQuanYi Micro Hei"/>
                <a:ea typeface="WenQuanYi Micro Hei"/>
              </a:rPr>
              <a:t>跨域复用真正依赖的是对象能否对齐、质量能否声明、动作能否回证。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" y="4462272"/>
            <a:ext cx="6583680" cy="138988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4535424"/>
            <a:ext cx="6254496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C9A227"/>
                </a:solidFill>
                <a:latin typeface="WenQuanYi Micro Hei"/>
                <a:ea typeface="WenQuanYi Micro Hei"/>
              </a:rPr>
              <a:t>LAYER 1  ·  网络权威事实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4718304"/>
            <a:ext cx="62544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WenQuanYi Micro Hei"/>
                <a:ea typeface="WenQuanYi Micro Hei"/>
              </a:rPr>
              <a:t>RAN  ·  Core  ·  OAM  ·  O-RAN接口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" y="4992624"/>
            <a:ext cx="6254496" cy="7680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FFFFFF"/>
                </a:solidFill>
                <a:latin typeface="WenQuanYi Micro Hei"/>
                <a:ea typeface="WenQuanYi Micro Hei"/>
              </a:rPr>
              <a:t>无线、会话和运维事实仍由网络域产生；标准先承认这些权威源，而不是另造一个总库。</a:t>
            </a:r>
          </a:p>
        </p:txBody>
      </p:sp>
      <p:sp>
        <p:nvSpPr>
          <p:cNvPr id="19" name="Up Arrow 18"/>
          <p:cNvSpPr/>
          <p:nvPr/>
        </p:nvSpPr>
        <p:spPr>
          <a:xfrm>
            <a:off x="3364992" y="4187952"/>
            <a:ext cx="384048" cy="256032"/>
          </a:xfrm>
          <a:prstGeom prst="up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Up Arrow 19"/>
          <p:cNvSpPr/>
          <p:nvPr/>
        </p:nvSpPr>
        <p:spPr>
          <a:xfrm>
            <a:off x="3364992" y="2633472"/>
            <a:ext cx="384048" cy="256032"/>
          </a:xfrm>
          <a:prstGeom prst="up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114032" y="1353312"/>
            <a:ext cx="4709160" cy="2084831"/>
          </a:xfrm>
          <a:prstGeom prst="roundRect">
            <a:avLst/>
          </a:prstGeom>
          <a:solidFill>
            <a:srgbClr val="D7ECEA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14032" y="1353312"/>
            <a:ext cx="64008" cy="2084831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0336" y="1417320"/>
            <a:ext cx="4471416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较可能先冻结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0336" y="1664208"/>
            <a:ext cx="4471416" cy="17007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角色、稳定标识、最小元数据、交付控制、QoD/授权/证据挂钩点，以及一致性测试。ZSM 029对注册、发现、资产和工作流的研究也指向这一方向。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14032" y="3566160"/>
            <a:ext cx="4709160" cy="2084831"/>
          </a:xfrm>
          <a:prstGeom prst="roundRect">
            <a:avLst/>
          </a:prstGeom>
          <a:solidFill>
            <a:srgbClr val="F6EDD0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14032" y="3566160"/>
            <a:ext cx="64008" cy="2084831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0336" y="3630168"/>
            <a:ext cx="4471416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仍然保持开放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0336" y="3877056"/>
            <a:ext cx="4471416" cy="17007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既有NF增强、新NF、边缘Agent、管理侧服务、湖仓、消息运行时，以及是否存在独立Fabric，都仍是实现选择。标准不替厂商选定内部拓扑。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7472" y="5779008"/>
            <a:ext cx="11475720" cy="731520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5824728"/>
            <a:ext cx="5573268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E7C7B"/>
                </a:solidFill>
                <a:latin typeface="WenQuanYi Micro Hei"/>
                <a:ea typeface="WenQuanYi Micro Hei"/>
              </a:rPr>
              <a:t>制度含义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998464"/>
            <a:ext cx="5573268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竞争从“组件是否存在”转向“接口能否互操作、后端能否替换、责任能否跨域传递”。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40196" y="5824728"/>
            <a:ext cx="5573268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B8860B"/>
                </a:solidFill>
                <a:latin typeface="WenQuanYi Micro Hei"/>
                <a:ea typeface="WenQuanYi Micro Hei"/>
              </a:rPr>
              <a:t>停止线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40196" y="5998464"/>
            <a:ext cx="5573268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Kafka、湖仓、完整知识图谱或独立Fabric都不是标准预设终点。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2.3 架构路线 · 2.3.2    [S1][S5][S6][S26][S29][S7][S43][S15][S16]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2.3.4  ·  ERICSSON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92608"/>
            <a:ext cx="114757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Ericsson以联邦保留存量：迁移连续性最强，跨产品一致性是关键风险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640080"/>
            <a:ext cx="11475720" cy="420624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数据在域内加工、按需联邦消费；统一的是治理视图，不是全部运行时。官方血缘是 Mediation→Telco DataOps，不是 EDCA→DataOps。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152144"/>
            <a:ext cx="7059168" cy="4572000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ricsson-data-ingestion-architecture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354" y="1225296"/>
            <a:ext cx="6251402" cy="26974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51354" y="1225296"/>
            <a:ext cx="6251402" cy="2697480"/>
          </a:xfrm>
          <a:prstGeom prst="rect">
            <a:avLst/>
          </a:prstGeom>
          <a:noFill/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280160"/>
            <a:ext cx="1417320" cy="219456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298448"/>
            <a:ext cx="14173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750" b="1">
                <a:solidFill>
                  <a:srgbClr val="FFFFFF"/>
                </a:solidFill>
                <a:latin typeface="WenQuanYi Micro Hei"/>
                <a:ea typeface="WenQuanYi Micro Hei"/>
              </a:rPr>
              <a:t>官方架构  Figure 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31920"/>
            <a:ext cx="6839712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主图：2026 Data Ingestion Architecture。EDCA/DRG仍在，客户侧DMF与Ericsson侧EFDL/Data Fabric构成联邦边界。</a:t>
            </a:r>
          </a:p>
        </p:txBody>
      </p:sp>
      <p:pic>
        <p:nvPicPr>
          <p:cNvPr id="13" name="Picture 12" descr="ericsson-ai-ready-data-management-2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268" y="4133087"/>
            <a:ext cx="2665983" cy="1499616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47268" y="4133087"/>
            <a:ext cx="2665983" cy="1499616"/>
          </a:xfrm>
          <a:prstGeom prst="rect">
            <a:avLst/>
          </a:prstGeom>
          <a:noFill/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4187952"/>
            <a:ext cx="1234440" cy="2011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4206240"/>
            <a:ext cx="123444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750" b="1">
                <a:solidFill>
                  <a:srgbClr val="FFFFFF"/>
                </a:solidFill>
                <a:latin typeface="WenQuanYi Micro Hei"/>
                <a:ea typeface="WenQuanYi Micro Hei"/>
              </a:rPr>
              <a:t>参考架构  North Star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03904" y="4133087"/>
            <a:ext cx="3474720" cy="149961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① 近源摄取仍保留：EDCA、DRG在Figure 18继续存在。</a:t>
            </a:r>
          </a:p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② 联邦边界被扩展：客户侧DMF连接Ericsson侧EFDL/Data Fabric。</a:t>
            </a:r>
          </a:p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③ 治理范围上移：North Star增加目录、质量、血缘、语义/KG和数据产品。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34656" y="1152144"/>
            <a:ext cx="4306824" cy="14447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534656" y="1152144"/>
            <a:ext cx="64008" cy="14447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0" y="1216152"/>
            <a:ext cx="40690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数据与控制如何流动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1463040"/>
            <a:ext cx="4069080" cy="10607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数据在域内采集加工，经联邦访问和智能移动供跨域消费。目录、策略和治理提供统一视图；执行仍分散在DataOps、NWDAF、EIAP/rApps和域系统。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34656" y="2706624"/>
            <a:ext cx="4306824" cy="14447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34656" y="2706624"/>
            <a:ext cx="64008" cy="144475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2770632"/>
            <a:ext cx="40690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为什么选择联邦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3017520"/>
            <a:ext cx="4069080" cy="10607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RAN、Core、OSS/BSS和边缘权威源天然分散；Mediation、NWDAF、SMO/RIC和客户湖仓不可跳过。先连接数据岛，再逐步补齐治理。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34656" y="4261104"/>
            <a:ext cx="4306824" cy="1463040"/>
          </a:xfrm>
          <a:prstGeom prst="roundRect">
            <a:avLst/>
          </a:prstGeom>
          <a:solidFill>
            <a:srgbClr val="F6EDD0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534656" y="4261104"/>
            <a:ext cx="64008" cy="14630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0" y="4325112"/>
            <a:ext cx="40690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竞争含义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4572000"/>
            <a:ext cx="4069080" cy="10789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优势是渐进接入、多后端、迁移风险低。代价是跨产品Schema、QoD、策略和版本可能长期碎片化。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7472" y="5833872"/>
            <a:ext cx="11475720" cy="694944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879592"/>
            <a:ext cx="3678936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E7C7B"/>
                </a:solidFill>
                <a:latin typeface="WenQuanYi Micro Hei"/>
                <a:ea typeface="WenQuanYi Micro Hei"/>
              </a:rPr>
              <a:t>已证明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053328"/>
            <a:ext cx="3678936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Figure 18延续EDCA/DRG；Mediation、EIAP、NWDAF分别有产品或部署锚点。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45864" y="5879592"/>
            <a:ext cx="3678936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WenQuanYi Micro Hei"/>
                <a:ea typeface="WenQuanYi Micro Hei"/>
              </a:rPr>
              <a:t>关键边界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5864" y="6053328"/>
            <a:ext cx="3678936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官方产品血缘是 Mediation→Telco DataOps，不是 EDCA→DataOps。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34528" y="5879592"/>
            <a:ext cx="3678936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B8860B"/>
                </a:solidFill>
                <a:latin typeface="WenQuanYi Micro Hei"/>
                <a:ea typeface="WenQuanYi Micro Hei"/>
              </a:rPr>
              <a:t>决定性验证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34528" y="6053328"/>
            <a:ext cx="3678936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同一版本化数据产品能否跨DataOps、EIAP、NWDAF及第三方后端复用，无需项目级重写。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2.3 架构路线 · 2.3.4    [S9][S10][S21][S30][S35][S36][S57][S58]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2.3.5  ·  HUAWEI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92608"/>
            <a:ext cx="114757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Huawei重构数据拓扑：近源执行控制最强，电信级可靠性是验证门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640080"/>
            <a:ext cx="11475720" cy="420624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DO编排拓扑，DA近源处理，DCP异步分发。这首先是6G数据面机制，不能把“补成Fabric”当成唯一终点。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152144"/>
            <a:ext cx="7059168" cy="4572000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huawei-6g-data-plane-architec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401" y="1243584"/>
            <a:ext cx="6043308" cy="32461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55401" y="1243584"/>
            <a:ext cx="6043308" cy="3246120"/>
          </a:xfrm>
          <a:prstGeom prst="rect">
            <a:avLst/>
          </a:prstGeom>
          <a:noFill/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298448"/>
            <a:ext cx="1417320" cy="219456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316736"/>
            <a:ext cx="14173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750" b="1">
                <a:solidFill>
                  <a:srgbClr val="0B1F3A"/>
                </a:solidFill>
                <a:latin typeface="WenQuanYi Micro Hei"/>
                <a:ea typeface="WenQuanYi Micro Hei"/>
              </a:rPr>
              <a:t>研究架构  非3GPP方案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572000"/>
            <a:ext cx="21945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1">
                <a:solidFill>
                  <a:srgbClr val="0E7C7B"/>
                </a:solidFill>
                <a:latin typeface="WenQuanYi Micro Hei"/>
                <a:ea typeface="WenQuanYi Micro Hei"/>
              </a:rPr>
              <a:t>①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754880"/>
            <a:ext cx="2194560" cy="8412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能力注册、操作DAG分解、选点与策略下发。登记的是执行能力，不是通用资产目录。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572000"/>
            <a:ext cx="21945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1">
                <a:solidFill>
                  <a:srgbClr val="0B1F3A"/>
                </a:solidFill>
                <a:latin typeface="WenQuanYi Micro Hei"/>
                <a:ea typeface="WenQuanYi Micro Hei"/>
              </a:rPr>
              <a:t>② DA / DPF / DSF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4754880"/>
            <a:ext cx="2194560" cy="8412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在UE、RAN、边缘和Core近源采集、处理、推理与存储。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4572000"/>
            <a:ext cx="21945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1">
                <a:solidFill>
                  <a:srgbClr val="C0392B"/>
                </a:solidFill>
                <a:latin typeface="WenQuanYi Micro Hei"/>
                <a:ea typeface="WenQuanYi Micro Hei"/>
              </a:rPr>
              <a:t>③ DCP / Data Spine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4754880"/>
            <a:ext cx="2194560" cy="8412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以Pub/Sub解耦生产者和多消费者，服务AI/ISAC扇出。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34656" y="1152144"/>
            <a:ext cx="4306824" cy="14447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534656" y="1152144"/>
            <a:ext cx="64008" cy="14447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0" y="1216152"/>
            <a:ext cx="40690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控制流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1463040"/>
            <a:ext cx="4069080" cy="10607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050" b="0">
                <a:solidFill>
                  <a:srgbClr val="2C3E50"/>
                </a:solidFill>
                <a:latin typeface="WenQuanYi Micro Hei"/>
                <a:ea typeface="WenQuanYi Micro Hei"/>
              </a:rPr>
              <a:t>服务意图进入DO。DO选择执行能力、生成数据处理拓扑，并下发访问、隐私与资源策略。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34656" y="2706624"/>
            <a:ext cx="4306824" cy="14447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34656" y="2706624"/>
            <a:ext cx="64008" cy="144475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2770632"/>
            <a:ext cx="40690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数据流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3017520"/>
            <a:ext cx="4069080" cy="10607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050" b="0">
                <a:solidFill>
                  <a:srgbClr val="2C3E50"/>
                </a:solidFill>
                <a:latin typeface="WenQuanYi Micro Hei"/>
                <a:ea typeface="WenQuanYi Micro Hei"/>
              </a:rPr>
              <a:t>源DA发布数据，DCP异步分发；DA/DPF沿途过滤、压缩、特征化和推理，上游模型输出可成为下游输入。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34656" y="4261104"/>
            <a:ext cx="4306824" cy="1463040"/>
          </a:xfrm>
          <a:prstGeom prst="roundRect">
            <a:avLst/>
          </a:prstGeom>
          <a:solidFill>
            <a:srgbClr val="F6EDD0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534656" y="4261104"/>
            <a:ext cx="64008" cy="14630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0" y="4325112"/>
            <a:ext cx="40690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为什么需要新平面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4572000"/>
            <a:ext cx="4069080" cy="10789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AI/ISAC的多源、多处理、多汇和派生数据链，不完全适配围绕控制消息与连接设计的CP/UP。AUTINOps不是DCP商用证明。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7472" y="5833872"/>
            <a:ext cx="11475720" cy="694944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879592"/>
            <a:ext cx="3678936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E7C7B"/>
                </a:solidFill>
                <a:latin typeface="WenQuanYi Micro Hei"/>
                <a:ea typeface="WenQuanYi Micro Hei"/>
              </a:rPr>
              <a:t>原型信号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053328"/>
            <a:ext cx="3678936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DCP公开实验约2ms；10 broker、128KB消息约2,394.6MB/s。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45864" y="5879592"/>
            <a:ext cx="3678936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WenQuanYi Micro Hei"/>
                <a:ea typeface="WenQuanYi Micro Hei"/>
              </a:rPr>
              <a:t>比较局限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5864" y="6053328"/>
            <a:ext cx="3678936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DCP移除持久化，RocketMQ对照开启持久化，不能外推为同功能全面领先。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34528" y="5879592"/>
            <a:ext cx="3678936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B8860B"/>
                </a:solidFill>
                <a:latin typeface="WenQuanYi Micro Hei"/>
                <a:ea typeface="WenQuanYi Micro Hei"/>
              </a:rPr>
              <a:t>决定性验证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34528" y="6053328"/>
            <a:ext cx="3678936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同等持久化条件下的跨站故障、移动性、断链回退、多租户SLA和第三方算子。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2.3 架构路线 · 2.3.5    [S12][S14][S37][S38]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2.3.6  ·  NOKIA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92608"/>
            <a:ext cx="114757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Nokia分层商品化：产品进入现网最快，统一控制与开放性仍待证明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640080"/>
            <a:ext cx="11475720" cy="420624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Data Suite是数据管理层，AN Fabric是智能消费层；动作仍回OSS/RIC/SON，数据默认留域。两套Fabric不是同一层。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152144"/>
            <a:ext cx="7059168" cy="4572000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207008"/>
            <a:ext cx="4160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0E7C7B"/>
                </a:solidFill>
                <a:latin typeface="WenQuanYi Micro Hei"/>
                <a:ea typeface="WenQuanYi Micro Hei"/>
              </a:rPr>
              <a:t>主视觉  ·  自绘五段链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426464"/>
            <a:ext cx="4160520" cy="65836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481328"/>
            <a:ext cx="3904487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1  域数据底座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1737360"/>
            <a:ext cx="390448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0">
                <a:solidFill>
                  <a:srgbClr val="FFFFFF"/>
                </a:solidFill>
                <a:latin typeface="WenQuanYi Micro Hei"/>
                <a:ea typeface="WenQuanYi Micro Hei"/>
              </a:rPr>
              <a:t>Domain lakehouse  ·  本地权威事实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395728" y="2066543"/>
            <a:ext cx="201168" cy="146304"/>
          </a:xfrm>
          <a:prstGeom prst="down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8" y="2231136"/>
            <a:ext cx="4160520" cy="6583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2286000"/>
            <a:ext cx="3904487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2  Common Fabric / Lakehouse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2542032"/>
            <a:ext cx="390448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0">
                <a:solidFill>
                  <a:srgbClr val="FFFFFF"/>
                </a:solidFill>
                <a:latin typeface="WenQuanYi Micro Hei"/>
                <a:ea typeface="WenQuanYi Micro Hei"/>
              </a:rPr>
              <a:t>适配  ·  抽象  ·  联邦访问，而非强制集中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2395728" y="2871215"/>
            <a:ext cx="201168" cy="146304"/>
          </a:xfrm>
          <a:prstGeom prst="down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75488" y="3035808"/>
            <a:ext cx="4160520" cy="6583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3090672"/>
            <a:ext cx="3904487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3  Data Suite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3346704"/>
            <a:ext cx="390448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0">
                <a:solidFill>
                  <a:srgbClr val="FFFFFF"/>
                </a:solidFill>
                <a:latin typeface="WenQuanYi Micro Hei"/>
                <a:ea typeface="WenQuanYi Micro Hei"/>
              </a:rPr>
              <a:t>语义  ·  QoD  ·  血缘  ·  数据产品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2395728" y="3675888"/>
            <a:ext cx="201168" cy="146304"/>
          </a:xfrm>
          <a:prstGeom prst="down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75488" y="3840480"/>
            <a:ext cx="4160520" cy="658368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3895344"/>
            <a:ext cx="3904487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4  AN Fabric / AN Apps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4151376"/>
            <a:ext cx="390448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0">
                <a:solidFill>
                  <a:srgbClr val="FFFFFF"/>
                </a:solidFill>
                <a:latin typeface="WenQuanYi Micro Hei"/>
                <a:ea typeface="WenQuanYi Micro Hei"/>
              </a:rPr>
              <a:t>Sense  ·  Think  ·  Act  智能消费层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2395728" y="4480560"/>
            <a:ext cx="201168" cy="146304"/>
          </a:xfrm>
          <a:prstGeom prst="down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75488" y="4645152"/>
            <a:ext cx="4160520" cy="65836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4700016"/>
            <a:ext cx="3904487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5  域控制器 + API / Marketplace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" y="4956048"/>
            <a:ext cx="390448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0">
                <a:solidFill>
                  <a:srgbClr val="FFFFFF"/>
                </a:solidFill>
                <a:latin typeface="WenQuanYi Micro Hei"/>
                <a:ea typeface="WenQuanYi Micro Hei"/>
              </a:rPr>
              <a:t>OSS / RIC / SON 动作  ·  商业外延</a:t>
            </a:r>
          </a:p>
        </p:txBody>
      </p:sp>
      <p:pic>
        <p:nvPicPr>
          <p:cNvPr id="28" name="Picture 27" descr="nokia-autonomous-network-fabr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662654"/>
            <a:ext cx="2487168" cy="1859339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4754880" y="1662654"/>
            <a:ext cx="2487168" cy="1859339"/>
          </a:xfrm>
          <a:prstGeom prst="rect">
            <a:avLst/>
          </a:prstGeom>
          <a:noFill/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809744" y="1481328"/>
            <a:ext cx="2011680" cy="201168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1499616"/>
            <a:ext cx="20116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750" b="1">
                <a:solidFill>
                  <a:srgbClr val="0B1F3A"/>
                </a:solidFill>
                <a:latin typeface="WenQuanYi Micro Hei"/>
                <a:ea typeface="WenQuanYi Micro Hei"/>
              </a:rPr>
              <a:t>官方图  仅证智能消费层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3840480"/>
            <a:ext cx="2487168" cy="1737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官方AN Fabric图只证明Sense–Think–Act智能层。</a:t>
            </a:r>
          </a:p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Data Suite、域数据底座和公共湖仓不在这张图里，必须靠左侧自绘链路补齐。</a:t>
            </a:r>
          </a:p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高风险动作仍经AN Apps回到域控制器。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34656" y="1152144"/>
            <a:ext cx="4306824" cy="14447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534656" y="1152144"/>
            <a:ext cx="64008" cy="14447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0" y="1216152"/>
            <a:ext cx="40690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必须分层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0" y="1463040"/>
            <a:ext cx="4069080" cy="10607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Data Suite管目录、语义、质量、血缘和产品；AN Fabric管智能消费与编排。数据默认留域，公共层只做适配、抽象和联邦访问。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534656" y="2706624"/>
            <a:ext cx="4306824" cy="14447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534656" y="2706624"/>
            <a:ext cx="64008" cy="144475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80960" y="2770632"/>
            <a:ext cx="40690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数据与控制如何流动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3017520"/>
            <a:ext cx="4069080" cy="10607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域湖仓完成本地加工，经公共层进入Data Suite，再进入Sense。Think之后，Act通过AN Apps调用既有OSS/RIC/SON。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534656" y="4261104"/>
            <a:ext cx="4306824" cy="1463040"/>
          </a:xfrm>
          <a:prstGeom prst="roundRect">
            <a:avLst/>
          </a:prstGeom>
          <a:solidFill>
            <a:srgbClr val="F6EDD0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534656" y="4261104"/>
            <a:ext cx="64008" cy="14630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0" y="4325112"/>
            <a:ext cx="40690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竞争含义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0" y="4572000"/>
            <a:ext cx="4069080" cy="10789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优势是SKU可组合、进入现网快。代价是各层可能只在品牌层组合，并形成语义、应用与云后端的软锁定。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7472" y="5833872"/>
            <a:ext cx="11475720" cy="694944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5879592"/>
            <a:ext cx="3678936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E7C7B"/>
                </a:solidFill>
                <a:latin typeface="WenQuanYi Micro Hei"/>
                <a:ea typeface="WenQuanYi Micro Hei"/>
              </a:rPr>
              <a:t>域应用已证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053328"/>
            <a:ext cx="3678936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KDDI覆盖20万4G/5G RAN；stc披露超过1万次自动动作；Indosat证明节能应用可扩展。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45864" y="5879592"/>
            <a:ext cx="3678936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B8860B"/>
                </a:solidFill>
                <a:latin typeface="WenQuanYi Micro Hei"/>
                <a:ea typeface="WenQuanYi Micro Hei"/>
              </a:rPr>
              <a:t>规模信号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45864" y="6053328"/>
            <a:ext cx="3678936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匿名Tier-1：25万小区、27万报告/秒，仅支持摄取与关联潜力。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34528" y="5879592"/>
            <a:ext cx="3678936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WenQuanYi Micro Hei"/>
                <a:ea typeface="WenQuanYi Micro Hei"/>
              </a:rPr>
              <a:t>决定性验证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34528" y="6053328"/>
            <a:ext cx="3678936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同一契约是否共享、第三方后端/Agent能否双向替换、动作与回滚证据能否贯通。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2.3 架构路线 · 2.3.6    [S23][S24][S31][S32][S33][S34][S39]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2.3.3 + 2.3.7  ·  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92608"/>
            <a:ext cx="114757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三条路线不构成成熟度序列；最终胜负由四类接口控制权决定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640080"/>
            <a:ext cx="11475720" cy="420624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Ericsson争联邦治理，Huawei争近源运行时，Nokia争语义产品与应用入口。平台地位取决于外部契约，而不是把数据集中到一个名字。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47472" y="1133856"/>
          <a:ext cx="11475720" cy="2359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310128"/>
                <a:gridCol w="3310128"/>
                <a:gridCol w="3300984"/>
              </a:tblGrid>
              <a:tr h="337021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比较项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Ericsson  ·  存量联邦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Huawei  ·  网络原生拓扑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Nokia  ·  分层商品化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</a:tr>
              <a:tr h="337021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架构起点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连接既有数据岛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重构数据处理拓扑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组合数据与自治软件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</a:tr>
              <a:tr h="337021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控制中心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联邦目录、治理与策略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DO与网络原生拓扑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Data Suite + AN Fabric分层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021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执行位置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域内产品与数据湖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UE / RAN / 边缘 / Core近源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域湖仓与OSS / RIC / SON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</a:tr>
              <a:tr h="337021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换取优势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迁移连续性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近源执行控制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产品化速度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021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结构性代价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跨产品协调复杂度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新平面可靠性与状态复杂度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多层SKU与软锁定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</a:tr>
              <a:tr h="337026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决定性验证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跨产品、跨后端复用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同功能可靠性与多厂商测试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统一契约、动作贯通、后端可替换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47472" y="3602736"/>
            <a:ext cx="2816352" cy="12984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3602736"/>
            <a:ext cx="64008" cy="129844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" y="3666744"/>
            <a:ext cx="2578608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1  跨域语义与身份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" y="3913632"/>
            <a:ext cx="2578608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稳定ID、权威源、配置版本和对象映射，使同一小区、会话、模型能跨接口关联。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73552" y="3602736"/>
            <a:ext cx="2816352" cy="12984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73552" y="3602736"/>
            <a:ext cx="64008" cy="129844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9856" y="3666744"/>
            <a:ext cx="2578608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2  QoD与产品契约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9856" y="3913632"/>
            <a:ext cx="2578608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用途适用性、Owner、SLO、计量、降级与退出，决定数据对特定任务是否可交付。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3602736"/>
            <a:ext cx="2816352" cy="12984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2" y="3602736"/>
            <a:ext cx="64008" cy="129844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3666744"/>
            <a:ext cx="2578608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3  近源运行时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3913632"/>
            <a:ext cx="2578608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算子放置、策略下发、断链生存和版本回退，决定快环能否留在故障域内。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25712" y="3602736"/>
            <a:ext cx="2816352" cy="12984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25712" y="3602736"/>
            <a:ext cx="64008" cy="129844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72016" y="3666744"/>
            <a:ext cx="2578608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4  动作证据与接口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2016" y="3913632"/>
            <a:ext cx="2578608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数据—模型—策略—动作—结果—回滚的关联，并能被导出、审计与一致性测试。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7472" y="4992624"/>
            <a:ext cx="11475720" cy="1517904"/>
          </a:xfrm>
          <a:prstGeom prst="roundRect">
            <a:avLst/>
          </a:prstGeom>
          <a:solidFill>
            <a:srgbClr val="E6ECF2"/>
          </a:solidFill>
          <a:ln w="9525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" y="5047488"/>
            <a:ext cx="1118311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路线落点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" y="5248656"/>
            <a:ext cx="11183112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Ericsson争夺联邦目录与渐进治理控制权。  Huawei争夺数据拓扑与近源运行时控制权。  Nokia争夺语义产品与自治应用入口控制权。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" y="5632704"/>
            <a:ext cx="11183112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真正的平台地位不是把所有数据收到一个平台，而是让跨域消费者遵循自己的语义、QoD和证据契约，同时证明运行时、后端和渠道仍可互操作、可替换。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" y="6016752"/>
            <a:ext cx="11183112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5A6A7A"/>
                </a:solidFill>
                <a:latin typeface="WenQuanYi Micro Hei"/>
                <a:ea typeface="WenQuanYi Micro Hei"/>
              </a:rPr>
              <a:t>竞合边界：设备商更接近网络语义、近源执行与动作权限；云和湖仓更接近规模数据/模型运行时；聚合商更接近跨网分发与结算。三者可以组合，但RAN快环和网元动作权限不能外移。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2.3 架构路线 · 2.3.3 / 2.3.7    [S18][S25] 及 P3–P5 厂商证据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