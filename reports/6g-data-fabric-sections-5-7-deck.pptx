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7472" y="91440"/>
            <a:ext cx="1147572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18288" bIns="0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E7C7B"/>
                </a:solidFill>
                <a:latin typeface="WenQuanYi Micro Hei"/>
                <a:ea typeface="WenQuanYi Micro Hei"/>
              </a:rPr>
              <a:t>5.1  ·  CURRENT POSITION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B1F3A"/>
                </a:solidFill>
                <a:latin typeface="WenQuanYi Micro Hei"/>
                <a:ea typeface="WenQuanYi Micro Hei"/>
              </a:rPr>
              <a:t>中兴已覆盖网络执行、数据智能和Agent应用，但跨产品共用能力仍未闭合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603504"/>
            <a:ext cx="11475720" cy="420624"/>
          </a:xfrm>
          <a:prstGeom prst="roundRect">
            <a:avLst>
              <a:gd name="adj" fmla="val 6000"/>
            </a:avLst>
          </a:prstGeom>
          <a:solidFill>
            <a:srgbClr val="E8F0F2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54864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中兴不是只在网络执行与智能体之间提供数据，而是同时拥有底层网络触点、中间数据/模型/孪生资产和上层自有Agent应用。真正缺少的是跨产品共用的数据契约、分布式供数和动作证据基线。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060704"/>
            <a:ext cx="7973568" cy="1115568"/>
          </a:xfrm>
          <a:prstGeom prst="roundRect">
            <a:avLst>
              <a:gd name="adj" fmla="val 6000"/>
            </a:avLst>
          </a:prstGeom>
          <a:solidFill>
            <a:srgbClr val="E6ECF2"/>
          </a:solidFill>
          <a:ln w="9525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64008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WenQuanYi Micro Hei"/>
                <a:ea typeface="WenQuanYi Micro Hei"/>
              </a:rPr>
              <a:t>自有智能体应用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0B1F3A"/>
                </a:solidFill>
                <a:latin typeface="WenQuanYi Micro Hei"/>
                <a:ea typeface="WenQuanYi Micro Hei"/>
              </a:rPr>
              <a:t>Fault Agent · Co-Sight · Copilot · 场景Agent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已有域级应用、插件能力和量化试点；尚未证明不同Agent共享同一数据产品、任务适用性、策略版本和动作证据。中兴不仅为第三方供数，也提供自有智能体应用。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30768" y="1060704"/>
            <a:ext cx="3392424" cy="1115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64008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0B1F3A"/>
                </a:solidFill>
                <a:latin typeface="WenQuanYi Micro Hei"/>
                <a:ea typeface="WenQuanYi Micro Hei"/>
              </a:rPr>
              <a:t>右侧判断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判断：已有域级应用和量化案例，尚未证明跨Agent共享同一契约与证据。自有Agent既是产品，也是公共能力的首批消费者。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" y="2304288"/>
            <a:ext cx="7973568" cy="1115568"/>
          </a:xfrm>
          <a:prstGeom prst="roundRect">
            <a:avLst>
              <a:gd name="adj" fmla="val 6000"/>
            </a:avLst>
          </a:prstGeom>
          <a:solidFill>
            <a:srgbClr val="D7ECEA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64008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WenQuanYi Micro Hei"/>
                <a:ea typeface="WenQuanYi Micro Hei"/>
              </a:rPr>
              <a:t>数据与智能基础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0E7C7B"/>
                </a:solidFill>
                <a:latin typeface="WenQuanYi Micro Hei"/>
                <a:ea typeface="WenQuanYi Micro Hei"/>
              </a:rPr>
              <a:t>AIR Net数据引擎 · 模型引擎 · 数字孪生引擎 · KG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公开材料已给出数据资产、治理、模型与孪生组件。建议沿可信数据产品、语义治理、质量洞察、跨系统共享与分布式处理演进，但尚不足以证明跨产品统一版本与责任基线。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30768" y="2304288"/>
            <a:ext cx="3392424" cy="1115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64008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0E7C7B"/>
                </a:solidFill>
                <a:latin typeface="WenQuanYi Micro Hei"/>
                <a:ea typeface="WenQuanYi Micro Hei"/>
              </a:rPr>
              <a:t>右侧判断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判断：组件存在，尚未形成跨产品统一版本与责任基线。公共能力应升级现有引擎，而不是另建通用湖仓或独立IT平台。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3547872"/>
            <a:ext cx="7973568" cy="1115568"/>
          </a:xfrm>
          <a:prstGeom prst="roundRect">
            <a:avLst>
              <a:gd name="adj" fmla="val 6000"/>
            </a:avLst>
          </a:prstGeom>
          <a:solidFill>
            <a:srgbClr val="F6EDD0"/>
          </a:solidFill>
          <a:ln w="9525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64008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WenQuanYi Micro Hei"/>
                <a:ea typeface="WenQuanYi Micro Hei"/>
              </a:rPr>
              <a:t>网络执行与权威数据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B8860B"/>
                </a:solidFill>
                <a:latin typeface="WenQuanYi Micro Hei"/>
                <a:ea typeface="WenQuanYi Micro Hei"/>
              </a:rPr>
              <a:t>RAN · Core · Transport · OSS/SMO · NEF · CUDR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掌握无线对象、配置、测量、会话、网管状态、网络API入口和域控制触点。ZXUN CUDR、NEF及主航道产品证明电信数据管理与能力暴露基础，但不能外推为跨域统一数据平台。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30768" y="3547872"/>
            <a:ext cx="3392424" cy="1115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64008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B8860B"/>
                </a:solidFill>
                <a:latin typeface="WenQuanYi Micro Hei"/>
                <a:ea typeface="WenQuanYi Micro Hei"/>
              </a:rPr>
              <a:t>右侧判断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判断：掌握对象、状态和动作触点，是相对云/IT平台最难替代的优势。近源执行和动作回证必须落在这一层，而不是远端目录。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160520" y="2176272"/>
            <a:ext cx="164592" cy="109728"/>
          </a:xfrm>
          <a:prstGeom prst="downArrow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4160520" y="3419856"/>
            <a:ext cx="164592" cy="109728"/>
          </a:xfrm>
          <a:prstGeom prst="downArrow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7472" y="4736592"/>
            <a:ext cx="3794760" cy="822960"/>
          </a:xfrm>
          <a:prstGeom prst="roundRect">
            <a:avLst>
              <a:gd name="adj" fmla="val 6000"/>
            </a:avLst>
          </a:prstGeom>
          <a:solidFill>
            <a:srgbClr val="D7ECEA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bIns="36576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7C7B"/>
                </a:solidFill>
                <a:latin typeface="WenQuanYi Micro Hei"/>
                <a:ea typeface="WenQuanYi Micro Hei"/>
              </a:rPr>
              <a:t>强项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网络触点、自智应用、闭环场景和API入口均有公开锚点。AIR Net三引擎、Fault Agent案例、NEF/CAMARA入口构成可升级基础，而不是从零建设数据平台。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87952" y="4736592"/>
            <a:ext cx="3794760" cy="822960"/>
          </a:xfrm>
          <a:prstGeom prst="roundRect">
            <a:avLst>
              <a:gd name="adj" fmla="val 6000"/>
            </a:avLst>
          </a:prstGeom>
          <a:solidFill>
            <a:srgbClr val="F6EDD0"/>
          </a:solidFill>
          <a:ln w="9525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bIns="36576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B8860B"/>
                </a:solidFill>
                <a:latin typeface="WenQuanYi Micro Hei"/>
                <a:ea typeface="WenQuanYi Micro Hei"/>
              </a:rPr>
              <a:t>缺口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跨产品契约、任务适用性、变化事件、近源执行/供数和统一动作证据尚未形成一套可复用基线。同一对象仍可能被无线、核心网、OSS和Agent重复解释。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4736592"/>
            <a:ext cx="3794760" cy="822960"/>
          </a:xfrm>
          <a:prstGeom prst="roundRect">
            <a:avLst>
              <a:gd name="adj" fmla="val 6000"/>
            </a:avLst>
          </a:prstGeom>
          <a:solidFill>
            <a:srgbClr val="F8E6E4"/>
          </a:solidFill>
          <a:ln w="95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bIns="36576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0392B"/>
                </a:solidFill>
                <a:latin typeface="WenQuanYi Micro Hei"/>
                <a:ea typeface="WenQuanYi Micro Hei"/>
              </a:rPr>
              <a:t>未证明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多个组件存在，不等于完整Fabric、公司级统一中枢、跨厂商控制面或规模结果服务已经成立。也不能把域级技术效果直接写成结果型商业合同。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" y="5632704"/>
            <a:ext cx="2871216" cy="859536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bIns="36576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B1F3A"/>
                </a:solidFill>
                <a:latin typeface="WenQuanYi Micro Hei"/>
                <a:ea typeface="WenQuanYi Micro Hei"/>
              </a:rPr>
              <a:t>诊断 1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无线、核心网、OSS和Agent是否引用同一对象ID、权威源与配置版本？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10128" y="5632704"/>
            <a:ext cx="2871216" cy="859536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bIns="36576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B1F3A"/>
                </a:solidFill>
                <a:latin typeface="WenQuanYi Micro Hei"/>
                <a:ea typeface="WenQuanYi Micro Hei"/>
              </a:rPr>
              <a:t>诊断 2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同一数据产品能否被第二产品、第二Agent和第二后端复用，而无需大规模重写？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2784" y="5632704"/>
            <a:ext cx="2871216" cy="859536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bIns="36576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B1F3A"/>
                </a:solidFill>
                <a:latin typeface="WenQuanYi Micro Hei"/>
                <a:ea typeface="WenQuanYi Micro Hei"/>
              </a:rPr>
              <a:t>诊断 3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Agent使用的数据、模型、策略、动作和结果能否关联回放，并支持人工接管？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5632704"/>
            <a:ext cx="2871216" cy="859536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bIns="36576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B1F3A"/>
                </a:solidFill>
                <a:latin typeface="WenQuanYi Micro Hei"/>
                <a:ea typeface="WenQuanYi Micro Hei"/>
              </a:rPr>
              <a:t>诊断 4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现有能力是进入正式版本和持续使用，还是仍依赖项目级定制与一次性对接？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" y="6565392"/>
            <a:ext cx="11475720" cy="10972"/>
          </a:xfrm>
          <a:prstGeom prst="rect">
            <a:avLst/>
          </a:prstGeom>
          <a:solidFill>
            <a:srgbClr val="C5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7472" y="6601968"/>
            <a:ext cx="96469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0" bIns="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A6A7A"/>
                </a:solidFill>
                <a:latin typeface="WenQuanYi Micro Hei"/>
                <a:ea typeface="WenQuanYi Micro Hei"/>
              </a:rPr>
              <a:t>6G 数据架构 × 数据编织 · 第5–7章决策胶片 · 5.1 现状    [S40][S41][S42][S48][S51][S53][S55]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49840" y="6601968"/>
            <a:ext cx="167335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A6A7A"/>
                </a:solidFill>
                <a:latin typeface="WenQuanYi Micro Hei"/>
                <a:ea typeface="WenQuanYi Micro Hei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7472" y="91440"/>
            <a:ext cx="1147572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18288" bIns="0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E7C7B"/>
                </a:solidFill>
                <a:latin typeface="WenQuanYi Micro Hei"/>
                <a:ea typeface="WenQuanYi Micro Hei"/>
              </a:rPr>
              <a:t>5.2  ·  TARGET POSITION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B1F3A"/>
                </a:solidFill>
                <a:latin typeface="WenQuanYi Micro Hei"/>
                <a:ea typeface="WenQuanYi Micro Hei"/>
              </a:rPr>
              <a:t>把AIR Net数据引擎及相邻资产升级为主航道共用的“电信数据与动作可信能力”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603504"/>
            <a:ext cx="11475720" cy="402336"/>
          </a:xfrm>
          <a:prstGeom prst="roundRect">
            <a:avLst>
              <a:gd name="adj" fmla="val 6000"/>
            </a:avLst>
          </a:prstGeom>
          <a:solidFill>
            <a:srgbClr val="E8F0F2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54864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公共能力不是独立IT平台，而是嵌入无线、核心网、OSS/SMO和Agent应用的横向组件。向下连接权威数据与域控制器，向上同时服务中兴自有Agent、第三方Agent、行业应用和开放API。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060704"/>
            <a:ext cx="4041648" cy="585216"/>
          </a:xfrm>
          <a:prstGeom prst="roundRect">
            <a:avLst>
              <a:gd name="adj" fmla="val 6000"/>
            </a:avLst>
          </a:prstGeom>
          <a:solidFill>
            <a:srgbClr val="E6ECF2"/>
          </a:solidFill>
          <a:ln w="9525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36576" bIns="2743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B1F3A"/>
                </a:solidFill>
                <a:latin typeface="WenQuanYi Micro Hei"/>
                <a:ea typeface="WenQuanYi Micro Hei"/>
              </a:rPr>
              <a:t>1  网络事实与动作触点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RAN / Core / Transport / OSS/SMO 提供对象、状态、配置和动作入口；公共能力连接这些触点，不替代域控制器。</a:t>
            </a:r>
          </a:p>
        </p:txBody>
      </p:sp>
      <p:sp>
        <p:nvSpPr>
          <p:cNvPr id="7" name="Down Arrow 6"/>
          <p:cNvSpPr/>
          <p:nvPr/>
        </p:nvSpPr>
        <p:spPr>
          <a:xfrm>
            <a:off x="2267712" y="1645919"/>
            <a:ext cx="146304" cy="91440"/>
          </a:xfrm>
          <a:prstGeom prst="downArrow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7472" y="1755648"/>
            <a:ext cx="4041648" cy="585216"/>
          </a:xfrm>
          <a:prstGeom prst="roundRect">
            <a:avLst>
              <a:gd name="adj" fmla="val 6000"/>
            </a:avLst>
          </a:prstGeom>
          <a:solidFill>
            <a:srgbClr val="D7ECEA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36576" bIns="2743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B1F3A"/>
                </a:solidFill>
                <a:latin typeface="WenQuanYi Micro Hei"/>
                <a:ea typeface="WenQuanYi Micro Hei"/>
              </a:rPr>
              <a:t>2  可信数据契约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对象语义、数据产品、Owner/SLO、任务适用性、变化事件与退出，使跨产品消费同一责任基线。</a:t>
            </a:r>
          </a:p>
        </p:txBody>
      </p:sp>
      <p:sp>
        <p:nvSpPr>
          <p:cNvPr id="9" name="Down Arrow 8"/>
          <p:cNvSpPr/>
          <p:nvPr/>
        </p:nvSpPr>
        <p:spPr>
          <a:xfrm>
            <a:off x="2267712" y="2340864"/>
            <a:ext cx="146304" cy="91440"/>
          </a:xfrm>
          <a:prstGeom prst="downArrow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472" y="2450591"/>
            <a:ext cx="4041648" cy="585216"/>
          </a:xfrm>
          <a:prstGeom prst="roundRect">
            <a:avLst>
              <a:gd name="adj" fmla="val 6000"/>
            </a:avLst>
          </a:prstGeom>
          <a:solidFill>
            <a:srgbClr val="D7ECEA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36576" bIns="2743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B1F3A"/>
                </a:solidFill>
                <a:latin typeface="WenQuanYi Micro Hei"/>
                <a:ea typeface="WenQuanYi Micro Hei"/>
              </a:rPr>
              <a:t>3  分布式供数运行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全局定义规则与版本；近源执行过滤、特征与受限处理；断链运行、版本同步和异步回证。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267712" y="3035808"/>
            <a:ext cx="146304" cy="91440"/>
          </a:xfrm>
          <a:prstGeom prst="downArrow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7472" y="3145535"/>
            <a:ext cx="4041648" cy="585216"/>
          </a:xfrm>
          <a:prstGeom prst="roundRect">
            <a:avLst>
              <a:gd name="adj" fmla="val 6000"/>
            </a:avLst>
          </a:prstGeom>
          <a:solidFill>
            <a:srgbClr val="F6EDD0"/>
          </a:solidFill>
          <a:ln w="9525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36576" bIns="2743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B1F3A"/>
                </a:solidFill>
                <a:latin typeface="WenQuanYi Micro Hei"/>
                <a:ea typeface="WenQuanYi Micro Hei"/>
              </a:rPr>
              <a:t>4  动作证据机制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Agent身份与作用域、策略与风险预算、NDT预演、灰度、结果和回滚，形成可审计责任链。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2267712" y="3730751"/>
            <a:ext cx="146304" cy="91440"/>
          </a:xfrm>
          <a:prstGeom prst="downArrow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7472" y="3840479"/>
            <a:ext cx="4041648" cy="585216"/>
          </a:xfrm>
          <a:prstGeom prst="roundRect">
            <a:avLst>
              <a:gd name="adj" fmla="val 6000"/>
            </a:avLst>
          </a:prstGeom>
          <a:solidFill>
            <a:srgbClr val="E6ECF2"/>
          </a:solidFill>
          <a:ln w="9525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36576" bIns="2743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B1F3A"/>
                </a:solidFill>
                <a:latin typeface="WenQuanYi Micro Hei"/>
                <a:ea typeface="WenQuanYi Micro Hei"/>
              </a:rPr>
              <a:t>5  自有Agent / 第三方Agent / 开放API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先服务中兴自有智能体和主航道产品，再向第三方Agent、NEF/CAMARA和行业API开放。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35424" y="1060704"/>
            <a:ext cx="7315200" cy="1078992"/>
          </a:xfrm>
          <a:prstGeom prst="roundRect">
            <a:avLst>
              <a:gd name="adj" fmla="val 6000"/>
            </a:avLst>
          </a:prstGeom>
          <a:solidFill>
            <a:srgbClr val="D7ECEA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64008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WenQuanYi Micro Hei"/>
                <a:ea typeface="WenQuanYi Micro Hei"/>
              </a:rPr>
              <a:t>数据契约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对象语义、数据产品、Owner/SLO、任务适用性、变化事件与退出。无线、核心网、OSS与Agent围绕同一责任基线消费数据；产品线可扩展域字段，但不得复制核心ID。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35424" y="2212848"/>
            <a:ext cx="7315200" cy="1078992"/>
          </a:xfrm>
          <a:prstGeom prst="roundRect">
            <a:avLst>
              <a:gd name="adj" fmla="val 6000"/>
            </a:avLst>
          </a:prstGeom>
          <a:solidFill>
            <a:srgbClr val="D7ECEA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64008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WenQuanYi Micro Hei"/>
                <a:ea typeface="WenQuanYi Micro Hei"/>
              </a:rPr>
              <a:t>分布式供数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全局定义、近源过滤/特征、断链运行、版本同步和异步回证。近源执行按时标和故障域就近完成处理；公共服务不得成为毫秒快环同步单点。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35424" y="3364991"/>
            <a:ext cx="7315200" cy="1078992"/>
          </a:xfrm>
          <a:prstGeom prst="roundRect">
            <a:avLst>
              <a:gd name="adj" fmla="val 6000"/>
            </a:avLst>
          </a:prstGeom>
          <a:solidFill>
            <a:srgbClr val="F6EDD0"/>
          </a:solidFill>
          <a:ln w="9525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64008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WenQuanYi Micro Hei"/>
                <a:ea typeface="WenQuanYi Micro Hei"/>
              </a:rPr>
              <a:t>动作证据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Agent身份与作用域、策略与风险预算、NDT预演、灰度、结果和回滚。公共层定义证据Schema，域控制器保留具体动作权限，失败必须可接管、可回放。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" y="4608576"/>
            <a:ext cx="2871216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64008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E7C7B"/>
                </a:solidFill>
                <a:latin typeface="WenQuanYi Micro Hei"/>
                <a:ea typeface="WenQuanYi Micro Hei"/>
              </a:rPr>
              <a:t>公共能力责任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核心对象、契约、公共接口、版本兼容和证据Schema；识别重复建设，维护互操作测试。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10128" y="4608576"/>
            <a:ext cx="2871216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64008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B1F3A"/>
                </a:solidFill>
                <a:latin typeface="WenQuanYi Micro Hei"/>
                <a:ea typeface="WenQuanYi Micro Hei"/>
              </a:rPr>
              <a:t>产品线责任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域语义扩展、实时状态、资源预算、具体动作和客户SLO；不得绕过公共对象与证据基线。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608576"/>
            <a:ext cx="2871216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64008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B8860B"/>
                </a:solidFill>
                <a:latin typeface="WenQuanYi Micro Hei"/>
                <a:ea typeface="WenQuanYi Micro Hei"/>
              </a:rPr>
              <a:t>Agent责任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模型/工具选择、身份权限、动作申请和结果回证；无门控不得改生产契约或高风险策略。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4608576"/>
            <a:ext cx="2871216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64008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0392B"/>
                </a:solidFill>
                <a:latin typeface="WenQuanYi Micro Hei"/>
                <a:ea typeface="WenQuanYi Micro Hei"/>
              </a:rPr>
              <a:t>验证门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跨两产品/Agent复用、两种后端、断链回退、动作证据完整，以及开放接口可替换。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" y="5522976"/>
            <a:ext cx="11475720" cy="969264"/>
          </a:xfrm>
          <a:prstGeom prst="roundRect">
            <a:avLst>
              <a:gd name="adj" fmla="val 6000"/>
            </a:avLst>
          </a:prstGeom>
          <a:solidFill>
            <a:srgbClr val="F8E6E4"/>
          </a:solidFill>
          <a:ln w="95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64008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0392B"/>
                </a:solidFill>
                <a:latin typeface="WenQuanYi Micro Hei"/>
                <a:ea typeface="WenQuanYi Micro Hei"/>
              </a:rPr>
              <a:t>目标边界：不把建议写成现有SKU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不建设通用湖仓/Catalog；不替代域控制器；不进入毫秒快环同步单点；不绑定单一模型、后端或渠道；不把目标架构写成现有SKU或客户承诺。电信数据与动作可信能力是战略工作定位，不是正式产品名或标准网元。向上出口包括中兴自有Agent、第三方Agent和开放API，自有Agent不是第三方生态的附属验证工具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" y="6565392"/>
            <a:ext cx="11475720" cy="10972"/>
          </a:xfrm>
          <a:prstGeom prst="rect">
            <a:avLst/>
          </a:prstGeom>
          <a:solidFill>
            <a:srgbClr val="C5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7472" y="6601968"/>
            <a:ext cx="96469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0" bIns="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A6A7A"/>
                </a:solidFill>
                <a:latin typeface="WenQuanYi Micro Hei"/>
                <a:ea typeface="WenQuanYi Micro Hei"/>
              </a:rPr>
              <a:t>6G 数据架构 × 数据编织 · 第5–7章决策胶片 · 5.2 目标定位    [S40][S41][S43][S48][S54]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49840" y="6601968"/>
            <a:ext cx="167335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A6A7A"/>
                </a:solidFill>
                <a:latin typeface="WenQuanYi Micro Hei"/>
                <a:ea typeface="WenQuanYi Micro He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7472" y="91440"/>
            <a:ext cx="1147572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18288" bIns="0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E7C7B"/>
                </a:solidFill>
                <a:latin typeface="WenQuanYi Micro Hei"/>
                <a:ea typeface="WenQuanYi Micro Hei"/>
              </a:rPr>
              <a:t>MODE ANALYSIS  ·  ONE HORIZONTAL / MANY VERTICALS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B1F3A"/>
                </a:solidFill>
                <a:latin typeface="WenQuanYi Micro Hei"/>
                <a:ea typeface="WenQuanYi Micro Hei"/>
              </a:rPr>
              <a:t>横向共用三项可信能力，纵向嵌入主航道产品和Agent应用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603504"/>
            <a:ext cx="11475720" cy="384048"/>
          </a:xfrm>
          <a:prstGeom prst="roundRect">
            <a:avLst>
              <a:gd name="adj" fmla="val 6000"/>
            </a:avLst>
          </a:prstGeom>
          <a:solidFill>
            <a:srgbClr val="E8F0F2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54864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中兴不需要另建一个统一平台，而应让无线、核心网、OSS/SMO和自有Agent复用同一数据契约、供数规则和动作证据接口；各产品继续保留场景、实时状态、域内执行和客户结果责任。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042415"/>
            <a:ext cx="11475720" cy="219456"/>
          </a:xfrm>
          <a:prstGeom prst="roundRect">
            <a:avLst>
              <a:gd name="adj" fmla="val 4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9144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WenQuanYi Micro Hei"/>
                <a:ea typeface="WenQuanYi Micro Hei"/>
              </a:rPr>
              <a:t>横向公共能力：统一理解、版本、接口和证据，而不是统一全部存储、运行时与动作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" y="1298448"/>
            <a:ext cx="3730752" cy="1444752"/>
          </a:xfrm>
          <a:prstGeom prst="roundRect">
            <a:avLst>
              <a:gd name="adj" fmla="val 6000"/>
            </a:avLst>
          </a:prstGeom>
          <a:solidFill>
            <a:srgbClr val="D7ECEA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36576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0B1F3A"/>
                </a:solidFill>
                <a:latin typeface="WenQuanYi Micro Hei"/>
                <a:ea typeface="WenQuanYi Micro Hei"/>
              </a:rPr>
              <a:t>可信数据契约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0E7C7B"/>
                </a:solidFill>
                <a:latin typeface="WenQuanYi Micro Hei"/>
                <a:ea typeface="WenQuanYi Micro Hei"/>
              </a:rPr>
              <a:t>语义 / 产品 / 任务适用性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核心对象、权威源、语义和对象关系；数据产品、Owner/SLO、任务适用性；版本、变化事件、用途、保留和退出。产品线允许域扩展，但不能复制核心ID和责任口径。</a:t>
            </a:r>
          </a:p>
        </p:txBody>
      </p:sp>
      <p:sp>
        <p:nvSpPr>
          <p:cNvPr id="8" name="Down Arrow 7"/>
          <p:cNvSpPr/>
          <p:nvPr/>
        </p:nvSpPr>
        <p:spPr>
          <a:xfrm>
            <a:off x="2139696" y="2761488"/>
            <a:ext cx="146304" cy="128016"/>
          </a:xfrm>
          <a:prstGeom prst="downArrow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87952" y="1298448"/>
            <a:ext cx="3730752" cy="1444752"/>
          </a:xfrm>
          <a:prstGeom prst="roundRect">
            <a:avLst>
              <a:gd name="adj" fmla="val 6000"/>
            </a:avLst>
          </a:prstGeom>
          <a:solidFill>
            <a:srgbClr val="D7ECEA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36576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0B1F3A"/>
                </a:solidFill>
                <a:latin typeface="WenQuanYi Micro Hei"/>
                <a:ea typeface="WenQuanYi Micro Hei"/>
              </a:rPr>
              <a:t>分布式供数规则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0E7C7B"/>
                </a:solidFill>
                <a:latin typeface="WenQuanYi Micro Hei"/>
                <a:ea typeface="WenQuanYi Micro Hei"/>
              </a:rPr>
              <a:t>订阅 / 版本 / 近源执行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全局发布、订阅、缓存和版本基线；近源执行过滤、聚合、特征和资源预算；断链运行、异步回证、对账和回退。公共服务不得成为毫秒快环同步单点。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980176" y="2761488"/>
            <a:ext cx="146304" cy="128016"/>
          </a:xfrm>
          <a:prstGeom prst="downArrow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28432" y="1298448"/>
            <a:ext cx="3730752" cy="1444752"/>
          </a:xfrm>
          <a:prstGeom prst="roundRect">
            <a:avLst>
              <a:gd name="adj" fmla="val 6000"/>
            </a:avLst>
          </a:prstGeom>
          <a:solidFill>
            <a:srgbClr val="D7ECEA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36576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0B1F3A"/>
                </a:solidFill>
                <a:latin typeface="WenQuanYi Micro Hei"/>
                <a:ea typeface="WenQuanYi Micro Hei"/>
              </a:rPr>
              <a:t>动作证据接口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0E7C7B"/>
                </a:solidFill>
                <a:latin typeface="WenQuanYi Micro Hei"/>
                <a:ea typeface="WenQuanYi Micro Hei"/>
              </a:rPr>
              <a:t>身份 / 策略 / 结果 / 回滚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Agent身份、委托、作用域和租约；数据/模型/策略版本与候选动作；审批、执行结果、副作用、人工接管和回滚。公共层定义证据Schema，域控制器保留具体动作权限。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9820656" y="2761488"/>
            <a:ext cx="146304" cy="128016"/>
          </a:xfrm>
          <a:prstGeom prst="downArrow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7472" y="2907792"/>
            <a:ext cx="11475720" cy="219456"/>
          </a:xfrm>
          <a:prstGeom prst="roundRect">
            <a:avLst>
              <a:gd name="adj" fmla="val 4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9144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WenQuanYi Micro Hei"/>
                <a:ea typeface="WenQuanYi Micro Hei"/>
              </a:rPr>
              <a:t>纵向嵌入：主航道产品与中兴自有Agent保留场景责任，第三方Agent/API按成熟度接入同一接口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" y="3163824"/>
            <a:ext cx="2212848" cy="658368"/>
          </a:xfrm>
          <a:prstGeom prst="roundRect">
            <a:avLst>
              <a:gd name="adj" fmla="val 6000"/>
            </a:avLst>
          </a:prstGeom>
          <a:solidFill>
            <a:srgbClr val="E6ECF2"/>
          </a:solidFill>
          <a:ln w="9525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2743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B1F3A"/>
                </a:solidFill>
                <a:latin typeface="WenQuanYi Micro Hei"/>
                <a:ea typeface="WenQuanYi Micro Hei"/>
              </a:rPr>
              <a:t>无线产品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无线对象、近源数据、实时状态和域动作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3163824"/>
            <a:ext cx="2212848" cy="658368"/>
          </a:xfrm>
          <a:prstGeom prst="roundRect">
            <a:avLst>
              <a:gd name="adj" fmla="val 6000"/>
            </a:avLst>
          </a:prstGeom>
          <a:solidFill>
            <a:srgbClr val="E6ECF2"/>
          </a:solidFill>
          <a:ln w="9525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2743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B1F3A"/>
                </a:solidFill>
                <a:latin typeface="WenQuanYi Micro Hei"/>
                <a:ea typeface="WenQuanYi Micro Hei"/>
              </a:rPr>
              <a:t>核心网产品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会话、策略、NWDAF/NEF和核心网动作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56048" y="3163824"/>
            <a:ext cx="2212848" cy="658368"/>
          </a:xfrm>
          <a:prstGeom prst="roundRect">
            <a:avLst>
              <a:gd name="adj" fmla="val 6000"/>
            </a:avLst>
          </a:prstGeom>
          <a:solidFill>
            <a:srgbClr val="E6ECF2"/>
          </a:solidFill>
          <a:ln w="9525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2743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B1F3A"/>
                </a:solidFill>
                <a:latin typeface="WenQuanYi Micro Hei"/>
                <a:ea typeface="WenQuanYi Micro Hei"/>
              </a:rPr>
              <a:t>OSS / SMO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配置、拓扑、Non-RT编排和跨域保证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0336" y="3163824"/>
            <a:ext cx="2212848" cy="658368"/>
          </a:xfrm>
          <a:prstGeom prst="roundRect">
            <a:avLst>
              <a:gd name="adj" fmla="val 6000"/>
            </a:avLst>
          </a:prstGeom>
          <a:solidFill>
            <a:srgbClr val="D7ECEA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2743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B1F3A"/>
                </a:solidFill>
                <a:latin typeface="WenQuanYi Micro Hei"/>
                <a:ea typeface="WenQuanYi Micro Hei"/>
              </a:rPr>
              <a:t>中兴自有Agent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Fault、节能、优化、运维等正式场景产品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64624" y="3163824"/>
            <a:ext cx="2212848" cy="658368"/>
          </a:xfrm>
          <a:prstGeom prst="roundRect">
            <a:avLst>
              <a:gd name="adj" fmla="val 6000"/>
            </a:avLst>
          </a:prstGeom>
          <a:solidFill>
            <a:srgbClr val="F6EDD0"/>
          </a:solidFill>
          <a:ln w="9525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2743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B1F3A"/>
                </a:solidFill>
                <a:latin typeface="WenQuanYi Micro Hei"/>
                <a:ea typeface="WenQuanYi Micro Hei"/>
              </a:rPr>
              <a:t>第三方Agent / API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受控数据产品、工具接口和开放能力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" y="3895344"/>
            <a:ext cx="5650992" cy="987552"/>
          </a:xfrm>
          <a:prstGeom prst="roundRect">
            <a:avLst>
              <a:gd name="adj" fmla="val 6000"/>
            </a:avLst>
          </a:prstGeom>
          <a:solidFill>
            <a:srgbClr val="D7ECEA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公共能力Owner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管理核心对象、契约、版本、公共接口和互操作测试；识别重复建设；维护证据Schema和工具调用约束；统计跨产品复用和公共能力生命周期。公共团队不承担所有客户场景和网络动作责任。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08192" y="3895344"/>
            <a:ext cx="5650992" cy="987552"/>
          </a:xfrm>
          <a:prstGeom prst="roundRect">
            <a:avLst>
              <a:gd name="adj" fmla="val 6000"/>
            </a:avLst>
          </a:prstGeom>
          <a:solidFill>
            <a:srgbClr val="E6ECF2"/>
          </a:solidFill>
          <a:ln w="9525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产品与Agent Owner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管理域语义扩展、实时状态和资源预算；对场景数据产品、模型/Agent性能和客户SLO负责；管理具体动作授权、灰度、人工接管和回滚；将质量、漂移、异常和动作结果反馈到公共基线。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" y="4956048"/>
            <a:ext cx="2871216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bIns="2743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E7C7B"/>
                </a:solidFill>
                <a:latin typeface="WenQuanYi Micro Hei"/>
                <a:ea typeface="WenQuanYi Micro Hei"/>
              </a:rPr>
              <a:t>复用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同一契约、工具和证据接口进入两条主航道或两类Agent，第二场景无需大规模重写。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10128" y="4956048"/>
            <a:ext cx="2871216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bIns="2743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B1F3A"/>
                </a:solidFill>
                <a:latin typeface="WenQuanYi Micro Hei"/>
                <a:ea typeface="WenQuanYi Micro Hei"/>
              </a:rPr>
              <a:t>运行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中心不可达时域内继续运行，恢复后完成对账、证据回传和冲突处理。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72784" y="4956048"/>
            <a:ext cx="2871216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bIns="2743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B8860B"/>
                </a:solidFill>
                <a:latin typeface="WenQuanYi Micro Hei"/>
                <a:ea typeface="WenQuanYi Micro Hei"/>
              </a:rPr>
              <a:t>责任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公共团队不承担所有客户场景，产品线不得绕过公共对象、契约和证据基线。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4956048"/>
            <a:ext cx="2871216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bIns="2743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C0392B"/>
                </a:solidFill>
                <a:latin typeface="WenQuanYi Micro Hei"/>
                <a:ea typeface="WenQuanYi Micro Hei"/>
              </a:rPr>
              <a:t>反馈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结果只触发影响分析、重验、审批和版本发布，不允许Agent无门控改规则。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7472" y="5742432"/>
            <a:ext cx="11475720" cy="749808"/>
          </a:xfrm>
          <a:prstGeom prst="roundRect">
            <a:avLst>
              <a:gd name="adj" fmla="val 6000"/>
            </a:avLst>
          </a:prstGeom>
          <a:solidFill>
            <a:srgbClr val="F8E6E4"/>
          </a:solidFill>
          <a:ln w="95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36576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0392B"/>
                </a:solidFill>
                <a:latin typeface="WenQuanYi Micro Hei"/>
                <a:ea typeface="WenQuanYi Micro Hei"/>
              </a:rPr>
              <a:t>模式停止线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如果公共能力不能跨第二产品或第二Agent复用，或引入后增加快环依赖、模糊动作责任、阻碍产品版本演进，应退回域内能力；不能为了统一强迫所有产品共享同一存储、模型或在线处理流程。商业路径不是本页主轴：能力API或结果型服务只在后续扩展中按成熟度选择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" y="6565392"/>
            <a:ext cx="11475720" cy="10972"/>
          </a:xfrm>
          <a:prstGeom prst="rect">
            <a:avLst/>
          </a:prstGeom>
          <a:solidFill>
            <a:srgbClr val="C5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7472" y="6601968"/>
            <a:ext cx="96469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0" bIns="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A6A7A"/>
                </a:solidFill>
                <a:latin typeface="WenQuanYi Micro Hei"/>
                <a:ea typeface="WenQuanYi Micro Hei"/>
              </a:rPr>
              <a:t>6G 数据架构 × 数据编织 · 第5–7章决策胶片 · 6.1 模式分析    [S40][S41][S42][S48][S53]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49840" y="6601968"/>
            <a:ext cx="167335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A6A7A"/>
                </a:solidFill>
                <a:latin typeface="WenQuanYi Micro Hei"/>
                <a:ea typeface="WenQuanYi Micro He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7472" y="91440"/>
            <a:ext cx="1147572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18288" bIns="0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E7C7B"/>
                </a:solidFill>
                <a:latin typeface="WenQuanYi Micro Hei"/>
                <a:ea typeface="WenQuanYi Micro Hei"/>
              </a:rPr>
              <a:t>6.2  ·  OPPORTUNITY PACKAGES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B1F3A"/>
                </a:solidFill>
                <a:latin typeface="WenQuanYi Micro Hei"/>
                <a:ea typeface="WenQuanYi Micro Hei"/>
              </a:rPr>
              <a:t>机会集中在三项公共能力和一类智能体应用产品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603504"/>
            <a:ext cx="11475720" cy="365760"/>
          </a:xfrm>
          <a:prstGeom prst="roundRect">
            <a:avLst>
              <a:gd name="adj" fmla="val 6000"/>
            </a:avLst>
          </a:prstGeom>
          <a:solidFill>
            <a:srgbClr val="E8F0F2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54864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三项公共能力解决跨产品重复建设，自有Agent把公共能力转成真实场景和客户结果。四类机会共用对象模型、契约、身份、版本和证据Schema，不分别建设平台。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47472" y="1042415"/>
          <a:ext cx="11475719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4752"/>
                <a:gridCol w="1993392"/>
                <a:gridCol w="2212848"/>
                <a:gridCol w="1993392"/>
                <a:gridCol w="1993392"/>
                <a:gridCol w="1837943"/>
              </a:tblGrid>
              <a:tr h="921715"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机会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客户/产品任务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最小交付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中兴优势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验证门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停止线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</a:tr>
              <a:tr h="921715"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可信数据契约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Agent与产品须知道拿到什么、由谁负责、当前任务是否适用，否则无法复用或放行。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对象语义、数据产品、Owner/SLO、任务适用性、变化事件、用途、版本与退出。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网元、配置、测量与场景知识；AIR Net数据引擎与知识图谱资产。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两产品线、两类Agent或两种后端复用；版本兼容、退出可执行。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第二场景仍需大规模重写，或数据产品长期没有真实消费者。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</a:tr>
              <a:tr h="921715"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分布式供数运行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高频数据少搬运、近源执行过滤与特征，断链时仍运行并向全局异步回证。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全局规则、近源过滤/特征、缓存、版本、资源预算、对账、断链与异步证据。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RAN/Edge触点、网管运行工程和域内实时状态，具备近源处理条件。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P99、资源预算、字节减量、断链可用、同步、证据完整和回退成功。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收益覆盖不了站点开销，或公共服务成为快环远端同步单点。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921715"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动作证据机制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Agent获权后须解释为何放行、谁负责、失败如何接管，动作可回放定责。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身份、作用域、租约、策略、NDT、灰度、结果、熔断、人工接管和回滚。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自有Agent、数字孪生引擎和域控制器相邻资产，能把动作落到真实网元。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越权拦截、误差门槛、证据完整、人工接管成功和回滚可执行。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只有聊天/RAG或孪生可视化，动作无法回放、定责和退回。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</a:tr>
              <a:tr h="921716"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自有Agent产品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把公共能力转化为故障、节能、优化和运维场景，并形成持续使用与结果反馈。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Fault Agent加第二类Agent；复用同一数据产品、工具、策略和证据接口。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已有Agent产品、故障知识、网络动作触点和公开量化案例。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第二Agent复用、交付周期下降、场景效果、证据完整和版本回流。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每个Agent仍独立取数治理，或效果无法跨场景复制改进。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47472" y="5724144"/>
            <a:ext cx="3730752" cy="768096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bIns="36576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B1F3A"/>
                </a:solidFill>
                <a:latin typeface="WenQuanYi Micro Hei"/>
                <a:ea typeface="WenQuanYi Micro Hei"/>
              </a:rPr>
              <a:t>公共能力不是独立销售单元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三项能力是主航道和Agent产品的共用组件，不分别建设平台，也不以单独品牌替代现有产品版本体系。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87952" y="5724144"/>
            <a:ext cx="3730752" cy="768096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bIns="36576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B1F3A"/>
                </a:solidFill>
                <a:latin typeface="WenQuanYi Micro Hei"/>
                <a:ea typeface="WenQuanYi Micro Hei"/>
              </a:rPr>
              <a:t>自有Agent是正式产品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中兴自有Agent不是第三方生态的附属验证，而是正式场景产品与首批消费者，负责把契约和证据用进真实闭环。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5724144"/>
            <a:ext cx="3730752" cy="768096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bIns="36576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B1F3A"/>
                </a:solidFill>
                <a:latin typeface="WenQuanYi Micro Hei"/>
                <a:ea typeface="WenQuanYi Micro Hei"/>
              </a:rPr>
              <a:t>第三方与API是开放扩展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第三方Agent和API不改变中兴必须掌握的电信约束和责任接口；Quality on Demand（QoD）等能力API属于后续出口。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6565392"/>
            <a:ext cx="11475720" cy="10972"/>
          </a:xfrm>
          <a:prstGeom prst="rect">
            <a:avLst/>
          </a:prstGeom>
          <a:solidFill>
            <a:srgbClr val="C5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" y="6601968"/>
            <a:ext cx="96469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0" bIns="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A6A7A"/>
                </a:solidFill>
                <a:latin typeface="WenQuanYi Micro Hei"/>
                <a:ea typeface="WenQuanYi Micro Hei"/>
              </a:rPr>
              <a:t>6G 数据架构 × 数据编织 · 第5–7章决策胶片 · 6.2 机会分析    [S40][S41][S42][S43][S48][S53]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49840" y="6601968"/>
            <a:ext cx="167335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A6A7A"/>
                </a:solidFill>
                <a:latin typeface="WenQuanYi Micro Hei"/>
                <a:ea typeface="WenQuanYi Micro He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7472" y="91440"/>
            <a:ext cx="1147572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18288" bIns="0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E7C7B"/>
                </a:solidFill>
                <a:latin typeface="WenQuanYi Micro Hei"/>
                <a:ea typeface="WenQuanYi Micro Hei"/>
              </a:rPr>
              <a:t>6.3  ·  PORTFOLIO CHOICE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B1F3A"/>
                </a:solidFill>
                <a:latin typeface="WenQuanYi Micro Hei"/>
                <a:ea typeface="WenQuanYi Micro Hei"/>
              </a:rPr>
              <a:t>优先补齐共用基线和自有Agent复用，近源与动作证据按场景推进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603504"/>
            <a:ext cx="11475720" cy="402336"/>
          </a:xfrm>
          <a:prstGeom prst="roundRect">
            <a:avLst>
              <a:gd name="adj" fmla="val 6000"/>
            </a:avLst>
          </a:prstGeom>
          <a:solidFill>
            <a:srgbClr val="E8F0F2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54864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机会优先级首先看跨产品复用和网络差异化，其次看能否进入真实Agent场景并形成可运行证据，最后再选择第三方生态、能力API或结果型服务等外部扩展方式。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060704"/>
            <a:ext cx="3730752" cy="3822191"/>
          </a:xfrm>
          <a:prstGeom prst="roundRect">
            <a:avLst>
              <a:gd name="adj" fmla="val 6000"/>
            </a:avLst>
          </a:prstGeom>
          <a:solidFill>
            <a:srgbClr val="D7ECEA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E7C7B"/>
                </a:solidFill>
                <a:latin typeface="WenQuanYi Micro Hei"/>
                <a:ea typeface="WenQuanYi Micro Hei"/>
              </a:rPr>
              <a:t>优先建设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B1F3A"/>
                </a:solidFill>
                <a:latin typeface="WenQuanYi Micro Hei"/>
                <a:ea typeface="WenQuanYi Micro Hei"/>
              </a:rPr>
              <a:t>公共数据契约 + 自有Agent复用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· 统一核心对象、语义、数据产品、任务适用性、变化事件、Agent供数工具和动作证据接口，使无线、核心网、OSS与Agent不再各建一套解释。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· Fault Agent加一类非故障Agent成为真实消费者；公共能力进入至少两条主航道产品，而不是停留在演示或单项目对接。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· 验收第二场景重写比例、两种后端可替换、Owner、真实消费者、交付周期和契约违规；无消费者的目录条目不计入成功。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· 这一步决定后续所有扩展是否有可复制基线：先闭合横向公共能力，再讨论近源规模和外部接口。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87952" y="1060704"/>
            <a:ext cx="3730752" cy="3822191"/>
          </a:xfrm>
          <a:prstGeom prst="roundRect">
            <a:avLst>
              <a:gd name="adj" fmla="val 6000"/>
            </a:avLst>
          </a:prstGeom>
          <a:solidFill>
            <a:srgbClr val="F6EDD0"/>
          </a:solidFill>
          <a:ln w="9525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B8860B"/>
                </a:solidFill>
                <a:latin typeface="WenQuanYi Micro Hei"/>
                <a:ea typeface="WenQuanYi Micro Hei"/>
              </a:rPr>
              <a:t>时间盒验证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B1F3A"/>
                </a:solidFill>
                <a:latin typeface="WenQuanYi Micro Hei"/>
                <a:ea typeface="WenQuanYi Micro Hei"/>
              </a:rPr>
              <a:t>近源供数 + 动作证据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· 选择一种高频无线数据和一个真实Agent场景，验证近源执行中的过滤/特征、资源预算、断链、同步、证据与回退，而不是先铺全网。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· 同步验证身份、策略、NDT误差、灰度、人工接管和回滚；只有聊天/RAG或孪生可视化，不能算动作证据成立。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· 收益不覆盖站点开销、无法标定误差、或必须把远端目录/Agent放入快环关键路径时停止，退回域内分析或辅助能力。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· 近源与证据按场景推进，不与契约基线抢同一时间的全面铺开；验证的是差异化，不是新平台品牌。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060704"/>
            <a:ext cx="3730752" cy="3822191"/>
          </a:xfrm>
          <a:prstGeom prst="roundRect">
            <a:avLst>
              <a:gd name="adj" fmla="val 6000"/>
            </a:avLst>
          </a:prstGeom>
          <a:solidFill>
            <a:srgbClr val="E6ECF2"/>
          </a:solidFill>
          <a:ln w="9525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B1F3A"/>
                </a:solidFill>
                <a:latin typeface="WenQuanYi Micro Hei"/>
                <a:ea typeface="WenQuanYi Micro Hei"/>
              </a:rPr>
              <a:t>后续扩展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B1F3A"/>
                </a:solidFill>
                <a:latin typeface="WenQuanYi Micro Hei"/>
                <a:ea typeface="WenQuanYi Micro Hei"/>
              </a:rPr>
              <a:t>第三方Agent、开放API与行业场景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· 共用能力和自有Agent验证成立后，再开放第三方Agent工具；外部Agent使用同一契约、身份和证据接口，保持可替换。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· 将成熟能力映射到NEF、CAMARA Quality on Demand（QoD）、行业API和聚合渠道；能力API验证跨网一致、持续使用和履约成本。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· 结果型服务只有在业务Owner、基线、授权、归因和回滚清晰时承诺；域级技术效果不能直接外推结果合同。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· 商业路径只是成熟后的出口选择，不回写为本页之前的模式分析主轴，也不改变中兴必须掌握的电信约束。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" y="4974336"/>
            <a:ext cx="3730752" cy="1517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7315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E7C7B"/>
                </a:solidFill>
                <a:latin typeface="WenQuanYi Micro Hei"/>
                <a:ea typeface="WenQuanYi Micro Hei"/>
              </a:rPr>
              <a:t>战略控制门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核心电信对象、任务适用性、近源约束和动作证据不得外包；通用湖仓、模型和渠道保持开放可替换。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87952" y="4974336"/>
            <a:ext cx="3730752" cy="1517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7315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复用与场景门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跨第二产品/Agent、两种后端、有真实消费者和版本承诺；自有Agent必须实际消费公共能力。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4974336"/>
            <a:ext cx="3730752" cy="1517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7315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C0392B"/>
                </a:solidFill>
                <a:latin typeface="WenQuanYi Micro Hei"/>
                <a:ea typeface="WenQuanYi Micro Hei"/>
              </a:rPr>
              <a:t>工程停止门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不成为快环远端单点；无回退、无责任、无消费者或长期项目化定制时停止扩张。阶段门决定加码或收缩。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6565392"/>
            <a:ext cx="11475720" cy="10972"/>
          </a:xfrm>
          <a:prstGeom prst="rect">
            <a:avLst/>
          </a:prstGeom>
          <a:solidFill>
            <a:srgbClr val="C5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" y="6601968"/>
            <a:ext cx="96469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0" bIns="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A6A7A"/>
                </a:solidFill>
                <a:latin typeface="WenQuanYi Micro Hei"/>
                <a:ea typeface="WenQuanYi Micro Hei"/>
              </a:rPr>
              <a:t>6G 数据架构 × 数据编织 · 第5–7章决策胶片 · 6.3 机会选择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49840" y="6601968"/>
            <a:ext cx="167335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A6A7A"/>
                </a:solidFill>
                <a:latin typeface="WenQuanYi Micro Hei"/>
                <a:ea typeface="WenQuanYi Micro He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7472" y="91440"/>
            <a:ext cx="1147572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18288" bIns="0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E7C7B"/>
                </a:solidFill>
                <a:latin typeface="WenQuanYi Micro Hei"/>
                <a:ea typeface="WenQuanYi Micro Hei"/>
              </a:rPr>
              <a:t>7.1  ·  STRATEGY TABLE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B1F3A"/>
                </a:solidFill>
                <a:latin typeface="WenQuanYi Micro Hei"/>
                <a:ea typeface="WenQuanYi Micro Hei"/>
              </a:rPr>
              <a:t>围绕共用、嵌入、Agent、工程验证和开放接口形成公司级策略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603504"/>
            <a:ext cx="11475720" cy="347472"/>
          </a:xfrm>
          <a:prstGeom prst="roundRect">
            <a:avLst>
              <a:gd name="adj" fmla="val 6000"/>
            </a:avLst>
          </a:prstGeom>
          <a:solidFill>
            <a:srgbClr val="E8F0F2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54864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本页只保留公司级选择、执行时序和停止条件。详细AP、组织、风险和治理进入第8章，不在决策胶片重复展开。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47472" y="1005840"/>
          <a:ext cx="11475718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6543"/>
                <a:gridCol w="4590288"/>
                <a:gridCol w="2752344"/>
                <a:gridCol w="2066543"/>
              </a:tblGrid>
              <a:tr h="780288"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我司选择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具体策略（带时间 / 触发条件）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不做的风险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备注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</a:tr>
              <a:tr h="780288"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建立横向公共能力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当前阶段启动：基于AIR Net数据引擎及相邻资产，统一核心对象、语义、数据产品契约、任务适用性、变化事件、Agent工具和动作证据接口；不另建覆盖所有存储与模型的大平台。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产品线重复建设目录、管道、语义和策略；客户看到多个平台孤岛，跨场景交付持续项目化。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进入门：第二场景无需大规模重写、两种后端可替换、有公共Owner和版本基线；内部项目只能作为候选载体。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</a:tr>
              <a:tr h="780288"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嵌入主航道产品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公共基线形成后：公共契约、供数和证据能力进入无线、核心网、OSS/SMO至少两条产品线；产品线保留域扩展、实时状态、资源预算、动作和客户SLO责任。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公共能力脱离网络产品和版本体系成为独立平台；产品线绕开公共基线，重复建设和对象冲突持续。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验收跨产品对象一致、版本兼容、断链运行和证据回传；公共层不得成为毫秒快环依赖。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780288"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做强自有Agent产品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与主航道嵌入并行：Fault Agent加一类非故障Agent复用同一数据产品、任务适用性、工具、策略和证据链；结果反哺质量规则、模型重验和版本发布。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自有Agent继续按项目取数治理；公共能力缺少真实消费者；Agent效果无法跨场景复制和持续改进。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自有Agent是正式产品和首批消费者；验收第二Agent复用、交付周期、动作证据和结果反馈。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</a:tr>
              <a:tr h="780288"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时间盒验证近源与动作证据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真实场景和资源预算具备后：选择高频无线数据与Agent场景，验证近源处理、断链、回退、身份、NDT误差、灰度、人工接管和动作回证。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失去相对云/IT平台的网络差异化；或过度平台化，把远端目录和Agent放入快环关键路径。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停止线：收益不覆盖开销、误差不可标定、动作无法定责回退或必须成为快环单点。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780288"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建立开放接口和阶段门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能力成熟及每个版本门持续：开放第三方Agent、NEF/CAMARA Quality on Demand（QoD）和行业API；标准主张对应代码和测试；按复用、运行、Agent场景和外部使用决定加码或停止。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形成封闭栈，标准与产品脱节；PoC长期化、资源平均分配；API扩张但内部供给和责任不稳定。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45720" rIns="36576" tIns="36576" bIns="27432"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能力服务与结果型服务只是成熟后的不同出口；详细AP、Owner和治理进入第8章。阶段门用于加码或停止，而不是并行铺开。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47472" y="5760720"/>
            <a:ext cx="11475720" cy="731520"/>
          </a:xfrm>
          <a:prstGeom prst="roundRect">
            <a:avLst>
              <a:gd name="adj" fmla="val 6000"/>
            </a:avLst>
          </a:prstGeom>
          <a:solidFill>
            <a:srgbClr val="E8F0F2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73152" bIns="54864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B1F3A"/>
                </a:solidFill>
                <a:latin typeface="WenQuanYi Micro Hei"/>
                <a:ea typeface="WenQuanYi Micro Hei"/>
              </a:rPr>
              <a:t>中兴应以网络数据与执行触点为基础，建设跨产品共用的电信数据与动作可信能力，并将其嵌入无线、核心网、OSS/SMO和自有智能体应用，形成可信供数、分布式处理、智能决策与动作回证相互贯通的产品体系。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6565392"/>
            <a:ext cx="11475720" cy="10972"/>
          </a:xfrm>
          <a:prstGeom prst="rect">
            <a:avLst/>
          </a:prstGeom>
          <a:solidFill>
            <a:srgbClr val="C5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" y="6601968"/>
            <a:ext cx="96469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0" bIns="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A6A7A"/>
                </a:solidFill>
                <a:latin typeface="WenQuanYi Micro Hei"/>
                <a:ea typeface="WenQuanYi Micro Hei"/>
              </a:rPr>
              <a:t>6G 数据架构 × 数据编织 · 第5–7章决策胶片 · 7.1 具体策略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49840" y="6601968"/>
            <a:ext cx="167335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A6A7A"/>
                </a:solidFill>
                <a:latin typeface="WenQuanYi Micro Hei"/>
                <a:ea typeface="WenQuanYi Micro He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