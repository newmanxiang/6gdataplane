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5EB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256032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256032" cy="73152"/>
          </a:xfrm>
          <a:prstGeom prst="rect">
            <a:avLst/>
          </a:prstGeom>
          <a:solidFill>
            <a:srgbClr val="5EB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1417320"/>
            <a:ext cx="256032" cy="73152"/>
          </a:xfrm>
          <a:prstGeom prst="rect">
            <a:avLst/>
          </a:prstGeom>
          <a:solidFill>
            <a:srgbClr val="CAE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599" y="1417320"/>
            <a:ext cx="256032" cy="73152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EB6E4"/>
                </a:solidFill>
                <a:latin typeface="Microsoft YaHei"/>
                <a:eastAsian typeface="Microsoft YaHei"/>
              </a:rPr>
              <a:t>产业战略研究 · 中兴通讯视角 · 非公司正式立场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  <a:eastAsian typeface="Microsoft YaHei"/>
              </a:rPr>
              <a:t>6G 数据架构 × 数据编织</a:t>
            </a:r>
          </a:p>
          <a:p>
            <a:pPr algn="l">
              <a:spcAft>
                <a:spcPts val="1000"/>
              </a:spcAft>
            </a:pPr>
            <a:r>
              <a:rPr sz="2800" b="1">
                <a:solidFill>
                  <a:srgbClr val="CAE85E"/>
                </a:solidFill>
                <a:latin typeface="Microsoft YaHei"/>
                <a:eastAsian typeface="Microsoft YaHei"/>
              </a:rPr>
              <a:t>行业趋势与中兴战略定位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40480"/>
            <a:ext cx="10515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DCE7F2"/>
                </a:solidFill>
                <a:latin typeface="Microsoft YaHei"/>
                <a:eastAsian typeface="Microsoft YaHei"/>
              </a:rPr>
              <a:t>从「连接如何建立」转向「数据如何生产、理解、治理并驱动可信行动」。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EB6E4"/>
                </a:solidFill>
                <a:latin typeface="Microsoft YaHei"/>
                <a:eastAsian typeface="Microsoft YaHei"/>
              </a:rPr>
              <a:t>对应模板：需求 · 现状 · 趋势 · 3/5年 · 定位 · 机会 · 策略 · 关键 AP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标准锚点：ITU · 3GPP SA2/SA5 · O-RAN · ETSI ZSM　｜　公司锚点：AIR Net · Fault Agent · ZSM 029　｜　截点：2026-08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9436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CAE85E"/>
                </a:solidFill>
                <a:latin typeface="Microsoft YaHei"/>
                <a:eastAsian typeface="Microsoft YaHei"/>
              </a:rPr>
              <a:t>完整论证版胶片 · 24 页 · 与 HTML 报告章节一一对应 · 非信息预览版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00  READING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阅读逻辑：八章不是平行清单，而是一条因果链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先看清「为何需要数据管理层」与「行业抢什么控制点」，再推「趋势不变量」，最后落到中兴「定位—机会—策略—可验收 AP」。跳过前四章会把后四章变成口号。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27889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9F9A"/>
                </a:solidFill>
                <a:latin typeface="Microsoft YaHei"/>
                <a:eastAsian typeface="Microsoft YaHei"/>
              </a:rPr>
              <a:t>01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71F3D"/>
                </a:solidFill>
                <a:latin typeface="Microsoft YaHei"/>
                <a:eastAsian typeface="Microsoft YaHei"/>
              </a:rPr>
              <a:t>需求和目标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定义问题与七个可交付判断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FF8A4C"/>
                </a:solidFill>
                <a:latin typeface="Microsoft YaHei"/>
                <a:eastAsian typeface="Microsoft YaHei"/>
              </a:rPr>
              <a:t>↓ 输出喂给下一章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37360"/>
            <a:ext cx="63500" cy="196596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37560" y="1737360"/>
            <a:ext cx="27889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9F9A"/>
                </a:solidFill>
                <a:latin typeface="Microsoft YaHei"/>
                <a:eastAsian typeface="Microsoft YaHei"/>
              </a:rPr>
              <a:t>02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71F3D"/>
                </a:solidFill>
                <a:latin typeface="Microsoft YaHei"/>
                <a:eastAsian typeface="Microsoft YaHei"/>
              </a:rPr>
              <a:t>行业与竞争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范式、Fabric适配、标准与三强抢位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FF8A4C"/>
                </a:solidFill>
                <a:latin typeface="Microsoft YaHei"/>
                <a:eastAsian typeface="Microsoft YaHei"/>
              </a:rPr>
              <a:t>↓ 输出喂给下一章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737360"/>
            <a:ext cx="63500" cy="196596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27889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9F9A"/>
                </a:solidFill>
                <a:latin typeface="Microsoft YaHei"/>
                <a:eastAsian typeface="Microsoft YaHei"/>
              </a:rPr>
              <a:t>03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71F3D"/>
                </a:solidFill>
                <a:latin typeface="Microsoft YaHei"/>
                <a:eastAsian typeface="Microsoft YaHei"/>
              </a:rPr>
              <a:t>产业趋势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T1–T8 因果链，非平行产品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FF8A4C"/>
                </a:solidFill>
                <a:latin typeface="Microsoft YaHei"/>
                <a:eastAsian typeface="Microsoft YaHei"/>
              </a:rPr>
              <a:t>↓ 输出喂给下一章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37360"/>
            <a:ext cx="63500" cy="196596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89720" y="1737360"/>
            <a:ext cx="27889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9F9A"/>
                </a:solidFill>
                <a:latin typeface="Microsoft YaHei"/>
                <a:eastAsian typeface="Microsoft YaHei"/>
              </a:rPr>
              <a:t>04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71F3D"/>
                </a:solidFill>
                <a:latin typeface="Microsoft YaHei"/>
                <a:eastAsian typeface="Microsoft YaHei"/>
              </a:rPr>
              <a:t>3年/5年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看透不变量，看清控制点复利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FF8A4C"/>
                </a:solidFill>
                <a:latin typeface="Microsoft YaHei"/>
                <a:eastAsian typeface="Microsoft YaHei"/>
              </a:rPr>
              <a:t>↓ 输出喂给下一章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737360"/>
            <a:ext cx="63500" cy="196596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" y="3886200"/>
            <a:ext cx="27889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9F9A"/>
                </a:solidFill>
                <a:latin typeface="Microsoft YaHei"/>
                <a:eastAsian typeface="Microsoft YaHei"/>
              </a:rPr>
              <a:t>05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71F3D"/>
                </a:solidFill>
                <a:latin typeface="Microsoft YaHei"/>
                <a:eastAsian typeface="Microsoft YaHei"/>
              </a:rPr>
              <a:t>中兴定位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证据分层 + C1–C4 控制点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FF8A4C"/>
                </a:solidFill>
                <a:latin typeface="Microsoft YaHei"/>
                <a:eastAsian typeface="Microsoft YaHei"/>
              </a:rPr>
              <a:t>↓ 输出喂给下一章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886200"/>
            <a:ext cx="63500" cy="196596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37560" y="3886200"/>
            <a:ext cx="27889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9F9A"/>
                </a:solidFill>
                <a:latin typeface="Microsoft YaHei"/>
                <a:eastAsian typeface="Microsoft YaHei"/>
              </a:rPr>
              <a:t>06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71F3D"/>
                </a:solidFill>
                <a:latin typeface="Microsoft YaHei"/>
                <a:eastAsian typeface="Microsoft YaHei"/>
              </a:rPr>
              <a:t>机会选择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六维评分 → 主攻/配合/不做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FF8A4C"/>
                </a:solidFill>
                <a:latin typeface="Microsoft YaHei"/>
                <a:eastAsian typeface="Microsoft YaHei"/>
              </a:rPr>
              <a:t>↓ 输出喂给下一章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886200"/>
            <a:ext cx="63500" cy="196596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3886200"/>
            <a:ext cx="27889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9F9A"/>
                </a:solidFill>
                <a:latin typeface="Microsoft YaHei"/>
                <a:eastAsian typeface="Microsoft YaHei"/>
              </a:rPr>
              <a:t>07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71F3D"/>
                </a:solidFill>
                <a:latin typeface="Microsoft YaHei"/>
                <a:eastAsian typeface="Microsoft YaHei"/>
              </a:rPr>
              <a:t>策略建议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Build边界、节奏、阶段门、风险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FF8A4C"/>
                </a:solidFill>
                <a:latin typeface="Microsoft YaHei"/>
                <a:eastAsian typeface="Microsoft YaHei"/>
              </a:rPr>
              <a:t>↓ 输出喂给下一章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886200"/>
            <a:ext cx="63500" cy="196596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9720" y="3886200"/>
            <a:ext cx="278892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9F9A"/>
                </a:solidFill>
                <a:latin typeface="Microsoft YaHei"/>
                <a:eastAsian typeface="Microsoft YaHei"/>
              </a:rPr>
              <a:t>08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71F3D"/>
                </a:solidFill>
                <a:latin typeface="Microsoft YaHei"/>
                <a:eastAsian typeface="Microsoft YaHei"/>
              </a:rPr>
              <a:t>关键 AP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AP0–AP10 与 90 天决策输出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F9F9A"/>
                </a:solidFill>
                <a:latin typeface="Microsoft YaHei"/>
                <a:eastAsian typeface="Microsoft YaHei"/>
              </a:rPr>
              <a:t>→ 可验收行动包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3886200"/>
            <a:ext cx="63500" cy="196596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阅读逻辑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01  REQUIREMENT &amp;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需求和目标：不是再建平台，而是建立可信数据能力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当6G网络同时成为数据生产者、AI载体、感知系统和自治执行体时，真正要解决的是：跨RAN/Core/管理域/边云的可信数据能力，以及哪些能力会成为标准与产业竞争中的控制点。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9164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需求1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71F3D"/>
                </a:solidFill>
                <a:latin typeface="Microsoft YaHei"/>
                <a:eastAsian typeface="Microsoft YaHei"/>
              </a:rPr>
              <a:t>识别架构范式变化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为何不能只沿用「会话连接+中央分析」；数据管理为何上升为AI原生、通感、孪生与自治的共同底座。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91640"/>
            <a:ext cx="63500" cy="18288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60" y="169164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需求2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71F3D"/>
                </a:solidFill>
                <a:latin typeface="Microsoft YaHei"/>
                <a:eastAsian typeface="Microsoft YaHei"/>
              </a:rPr>
              <a:t>建立统一能力地图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用数据编织组织目录/语义/质量/集成/编排/产品/安全；划清快环慢环、控制面与执行面边界。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691640"/>
            <a:ext cx="63500" cy="18288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2440" y="169164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需求3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71F3D"/>
                </a:solidFill>
                <a:latin typeface="Microsoft YaHei"/>
                <a:eastAsian typeface="Microsoft YaHei"/>
              </a:rPr>
              <a:t>看清标准与竞争窗口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区分既定积木、Rel-20研究、Rel-21规范、厂商主张与商用产品，避免误判与错过语义/任务适用性话语权。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691640"/>
            <a:ext cx="63500" cy="18288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3749039"/>
            <a:ext cx="2788920" cy="1024128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1张范式图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连接→数据—智能—行动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3749039"/>
            <a:ext cx="2788920" cy="1024128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1套能力栈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编织与生命周期统一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749039"/>
            <a:ext cx="2788920" cy="1024128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1个竞争矩阵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标准域+爱立信/华为/诺基亚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3749039"/>
            <a:ext cx="2788920" cy="1024128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2个时间窗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3年底座 / 5年控制点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892040"/>
            <a:ext cx="2788920" cy="1024128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1个中兴定位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坐标系中的强弱与主攻位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4892040"/>
            <a:ext cx="2788920" cy="1024128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1组机会选择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主攻·中期·路标分层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892040"/>
            <a:ext cx="2788920" cy="1024128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1张策略表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先做后做与组织抓手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4892040"/>
            <a:ext cx="2788920" cy="1024128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边界声明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公开证据≠正式承诺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01 需求和目标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01  REQUIREMENT · EVIDENCE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研究对象是一条「事实—数据—智能—行动」证据链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目标不是搬运更多原始数据，而是让每次数据使用与网络动作都可解释、可约束、可验证、可回退。核心一句话：把数据从网络运行副产物升级为可发现、可理解、可组合、可约束、可证明的生产要素。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91640"/>
            <a:ext cx="2194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网络与环境事实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RAN·Core·云
终端·感知·业务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63500" cy="141732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194560"/>
            <a:ext cx="274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8A4C"/>
                </a:solidFill>
                <a:latin typeface="Microsoft YaHei"/>
                <a:eastAsia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79" y="1691640"/>
            <a:ext cx="2194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近源处理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过滤·聚合·特征
匿名·时间对齐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79" y="1691640"/>
            <a:ext cx="63500" cy="141732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194560"/>
            <a:ext cx="274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8A4C"/>
                </a:solidFill>
                <a:latin typeface="Microsoft YaHei"/>
                <a:eastAsia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691640"/>
            <a:ext cx="2194560" cy="1417320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AE85E"/>
                </a:solidFill>
                <a:latin typeface="Microsoft YaHei"/>
                <a:eastAsian typeface="Microsoft YaHei"/>
              </a:rPr>
              <a:t>数据编织控制面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  <a:eastAsian typeface="Microsoft YaHei"/>
              </a:rPr>
              <a:t>目录·语义· 任务适用性
血缘·契约·策略·证据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691640"/>
            <a:ext cx="63500" cy="1417320"/>
          </a:xfrm>
          <a:prstGeom prst="rect">
            <a:avLst/>
          </a:prstGeom>
          <a:solidFill>
            <a:srgbClr val="CAE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194560"/>
            <a:ext cx="274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8A4C"/>
                </a:solidFill>
                <a:latin typeface="Microsoft YaHei"/>
                <a:eastAsia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19" y="1691640"/>
            <a:ext cx="2194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智能与孪生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训练·推理·NDT
意图·策略·Agent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19" y="1691640"/>
            <a:ext cx="63500" cy="141732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2194560"/>
            <a:ext cx="274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8A4C"/>
                </a:solidFill>
                <a:latin typeface="Microsoft YaHei"/>
                <a:eastAsia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1691640"/>
            <a:ext cx="219456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行动与反馈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控制·开放·变现
效果·回滚·审计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691640"/>
            <a:ext cx="63500" cy="141732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246120"/>
            <a:ext cx="11338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F9F9A"/>
                </a:solidFill>
                <a:latin typeface="Microsoft YaHei"/>
                <a:eastAsian typeface="Microsoft YaHei"/>
              </a:rPr>
              <a:t>由 AI原生 / 通感 / 边云 / 孪生 / 跨域自治 / 生态开放 六类场景反推：数据管理层八项刚性需求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611880"/>
            <a:ext cx="278892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8A4C"/>
                </a:solidFill>
                <a:latin typeface="Microsoft YaHei"/>
                <a:eastAsian typeface="Microsoft YaHei"/>
              </a:rPr>
              <a:t>R1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统一发现与语义寻址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3611880"/>
            <a:ext cx="278892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8A4C"/>
                </a:solidFill>
                <a:latin typeface="Microsoft YaHei"/>
                <a:eastAsian typeface="Microsoft YaHei"/>
              </a:rPr>
              <a:t>R2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按需采集与近源减量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611880"/>
            <a:ext cx="278892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8A4C"/>
                </a:solidFill>
                <a:latin typeface="Microsoft YaHei"/>
                <a:eastAsian typeface="Microsoft YaHei"/>
              </a:rPr>
              <a:t>R3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跨时标多模式交付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3611880"/>
            <a:ext cx="278892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8A4C"/>
                </a:solidFill>
                <a:latin typeface="Microsoft YaHei"/>
                <a:eastAsian typeface="Microsoft YaHei"/>
              </a:rPr>
              <a:t>R4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通信级任务适用性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4846320"/>
            <a:ext cx="278892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8A4C"/>
                </a:solidFill>
                <a:latin typeface="Microsoft YaHei"/>
                <a:eastAsian typeface="Microsoft YaHei"/>
              </a:rPr>
              <a:t>R5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数据—模型—策略—动作血缘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4846320"/>
            <a:ext cx="278892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8A4C"/>
                </a:solidFill>
                <a:latin typeface="Microsoft YaHei"/>
                <a:eastAsian typeface="Microsoft YaHei"/>
              </a:rPr>
              <a:t>R6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用途、安全与主权强制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846320"/>
            <a:ext cx="278892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8A4C"/>
                </a:solidFill>
                <a:latin typeface="Microsoft YaHei"/>
                <a:eastAsian typeface="Microsoft YaHei"/>
              </a:rPr>
              <a:t>R7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有界智能与冲突治理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846320"/>
            <a:ext cx="278892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8A4C"/>
                </a:solidFill>
                <a:latin typeface="Microsoft YaHei"/>
                <a:eastAsian typeface="Microsoft YaHei"/>
              </a:rPr>
              <a:t>R8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数据产品与跨组织运营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01 需求和目标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02  INDUSTRY · PARADIGM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行业窗口：愿景已定、规范未冻、厂商抢位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6G变化不是「多一个数据湖」，而是几乎每个域都同时生产/消费数据、运行模型并执行动作。竞争焦点从连接中心转向数据理解、策略与证据层。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91640"/>
            <a:ext cx="5486400" cy="429768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71F3D"/>
                </a:solidFill>
                <a:latin typeface="Microsoft YaHei"/>
                <a:eastAsian typeface="Microsoft YaHei"/>
              </a:rPr>
              <a:t>5G / 5G-A 主导范式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· 连接、会话、网络功能与暴露为中心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· 分析集中在 NWDAF / MDA / 湖仓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· RAN/Core 主要上送测量与流量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· 输出多为报表与优化建议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F8A4C"/>
                </a:solidFill>
                <a:latin typeface="Microsoft YaHei"/>
                <a:eastAsian typeface="Microsoft YaHei"/>
              </a:rPr>
              <a:t>局限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0A2744"/>
                </a:solidFill>
                <a:latin typeface="Microsoft YaHei"/>
                <a:eastAsian typeface="Microsoft YaHei"/>
              </a:rPr>
              <a:t>中央分析难覆盖多时标、多主体与动作风险；数据语义与权威源分散。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486400" cy="4297680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AE85E"/>
                </a:solidFill>
                <a:latin typeface="Microsoft YaHei"/>
                <a:eastAsian typeface="Microsoft YaHei"/>
              </a:rPr>
              <a:t>6G 数据—智能原生范式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stAsian typeface="Microsoft YaHei"/>
              </a:rPr>
              <a:t>· RAN：无线事实 / ISAC / 本地AI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stAsian typeface="Microsoft YaHei"/>
              </a:rPr>
              <a:t>· Core：意图 / 会话 / 暴露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stAsian typeface="Microsoft YaHei"/>
              </a:rPr>
              <a:t>· 边云：训练 / 推理 / 孪生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stAsian typeface="Microsoft YaHei"/>
              </a:rPr>
              <a:t>· SMO/RIC：跨时标策略与闭环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AE85E"/>
                </a:solidFill>
                <a:latin typeface="Microsoft YaHei"/>
                <a:eastAsian typeface="Microsoft YaHei"/>
              </a:rPr>
              <a:t>可信数据管理层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DCE7F2"/>
                </a:solidFill>
                <a:latin typeface="Microsoft YaHei"/>
                <a:eastAsian typeface="Microsoft YaHei"/>
              </a:rPr>
              <a:t>语义 · 任务适用性· 契约 · 策略 · 证据
统一理解与约束，不统一所有存储与时延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347472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FF8A4C"/>
                </a:solidFill>
                <a:latin typeface="Microsoft YaHei"/>
                <a:eastAsian typeface="Microsoft YaHe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02 行业环境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02  DATA FABRIC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Data Fabric：总体适配，但必须通信级增强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713232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Data Fabric可做6G数据管理层的设计骨架（尤其Non-RT/跨域供给），但不能原样进入通信网：缺RAN语义、无线数据适用性、时标隔离、动作安全与多Agent治理；绝不能成为毫秒快环的远端在线依赖。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5577840" cy="141732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9F9A"/>
                </a:solidFill>
                <a:latin typeface="Microsoft YaHei"/>
                <a:eastAsian typeface="Microsoft YaHei"/>
              </a:rPr>
              <a:t>结论：架构机制总体适配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0A2744"/>
                </a:solidFill>
                <a:latin typeface="Microsoft YaHei"/>
                <a:eastAsian typeface="Microsoft YaHei"/>
              </a:rPr>
              <a:t>数据分布但元数据统一、控制与执行分离、多模式集成、主动元数据、数据产品和贯穿治理 → 对应 R1/R2/R3、R5、R8、R6。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37360"/>
            <a:ext cx="63500" cy="141732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577840" cy="1417320"/>
          </a:xfrm>
          <a:prstGeom prst="roundRect">
            <a:avLst>
              <a:gd name="adj" fmla="val 12000"/>
            </a:avLst>
          </a:prstGeom>
          <a:solidFill>
            <a:srgbClr val="FF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8A4C"/>
                </a:solidFill>
                <a:latin typeface="Microsoft YaHei"/>
                <a:eastAsian typeface="Microsoft YaHei"/>
              </a:rPr>
              <a:t>必须通信级增强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0A2744"/>
                </a:solidFill>
                <a:latin typeface="Microsoft YaHei"/>
                <a:eastAsian typeface="Microsoft YaHei"/>
              </a:rPr>
              <a:t>补齐 RAN 对象与时空语义、无线数据适用性、亚秒时标隔离、动作安全、NDT 证据门槛、多 Agent 冲突治理；不替代 RAN 协议 / SA2·SA5 / O-RAN。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63500" cy="141732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" y="3383280"/>
            <a:ext cx="184708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L6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A2744"/>
                </a:solidFill>
                <a:latin typeface="Microsoft YaHei"/>
                <a:eastAsian typeface="Microsoft YaHei"/>
              </a:rPr>
              <a:t>业务/生态/行动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受治Agent低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50008" y="3383280"/>
            <a:ext cx="184708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L5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A2744"/>
                </a:solidFill>
                <a:latin typeface="Microsoft YaHei"/>
                <a:eastAsian typeface="Microsoft YaHei"/>
              </a:rPr>
              <a:t>数据产品与契约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跨域语义弱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3383280"/>
            <a:ext cx="184708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L4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A2744"/>
                </a:solidFill>
                <a:latin typeface="Microsoft YaHei"/>
                <a:eastAsian typeface="Microsoft YaHei"/>
              </a:rPr>
              <a:t>主动元数据控制面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主动闭环中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3383280"/>
            <a:ext cx="184708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L3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A2744"/>
                </a:solidFill>
                <a:latin typeface="Microsoft YaHei"/>
                <a:eastAsian typeface="Microsoft YaHei"/>
              </a:rPr>
              <a:t>跨时标集成编排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语义统一不足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65592" y="3383280"/>
            <a:ext cx="184708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L2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A2744"/>
                </a:solidFill>
                <a:latin typeface="Microsoft YaHei"/>
                <a:eastAsian typeface="Microsoft YaHei"/>
              </a:rPr>
              <a:t>近源处理与存储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跨域编排中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04120" y="3383280"/>
            <a:ext cx="184708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L1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A2744"/>
                </a:solidFill>
                <a:latin typeface="Microsoft YaHei"/>
                <a:eastAsian typeface="Microsoft YaHei"/>
              </a:rPr>
              <a:t>分布式权威源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权威语义散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937760"/>
            <a:ext cx="6766560" cy="118872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成熟度：企业Fabric已产品化；6G通信级管理层总体G1—G2、局部G3。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闸门：G0边界语义→G1只读可观察→G2产品契约→G3影子闭环→G4–G5有界自治。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原则：快环本地确定性；Near-RT边缘缓存；Non-RT治理；跨域只供最小必要产品。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937760"/>
            <a:ext cx="43891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6g-ddaa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5010912"/>
            <a:ext cx="1873907" cy="104241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52360" y="5989320"/>
            <a:ext cx="4206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A738A"/>
                </a:solidFill>
                <a:latin typeface="Microsoft YaHei"/>
                <a:eastAsian typeface="Microsoft YaHei"/>
              </a:rPr>
              <a:t>参考：6G DDAA学术架构（非3GPP规范）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02 行业环境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02  STANDARDS &amp; VENDORS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标准与厂商：能力方向趋同，架构形态与控制权未收敛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标准竞争的核心不是出现名为 Data Fabric 的新网元，而是谁定义来源、语义、质量、发现、处理、暴露、安全与行动边界。产品先于6G验证部分能力，但尚无中立证据证明完整跨域 Fabric 广泛部署。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645920"/>
          <a:ext cx="113385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00400"/>
                <a:gridCol w="3017520"/>
                <a:gridCol w="2926080"/>
              </a:tblGrid>
              <a:tr h="35433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标准域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可确认进展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对 Fabric 的贡献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不能扩大化为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ITU IMT-2030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M.2160 已生效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目标与能力边界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未定义编织网元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3GPP Rel-20/21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Rel-20研究；Rel-21首个规范Release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2026–2028收敛窗口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研究文本≠最终规范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SA2 KI#21 / SA5 DMFW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Draft；数据框架研究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发现/处理/暴露与管理侧框架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不预判统一网元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11480" y="320040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F3D"/>
                </a:solidFill>
                <a:latin typeface="Microsoft YaHei"/>
                <a:eastAsian typeface="Microsoft YaHei"/>
              </a:rPr>
              <a:t>Ericsson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联邦数据管理 + EIAP/DataOps + API生态｜底座强、独立网元叙事弱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200400"/>
            <a:ext cx="63500" cy="777240"/>
          </a:xfrm>
          <a:prstGeom prst="rect">
            <a:avLst/>
          </a:prstGeom>
          <a:solidFill>
            <a:srgbClr val="5EB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4069080"/>
            <a:ext cx="36576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ricsson-data-ingestion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60520"/>
            <a:ext cx="3383280" cy="18288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251960" y="320040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F3D"/>
                </a:solidFill>
                <a:latin typeface="Microsoft YaHei"/>
                <a:eastAsian typeface="Microsoft YaHei"/>
              </a:rPr>
              <a:t>Huawei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DO/DA/DCP研究 + AUTINOps商用桥｜研究与商用平面易混读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3200400"/>
            <a:ext cx="63500" cy="777240"/>
          </a:xfrm>
          <a:prstGeom prst="rect">
            <a:avLst/>
          </a:prstGeom>
          <a:solidFill>
            <a:srgbClr val="5EB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60" y="4069080"/>
            <a:ext cx="36576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uawei-6g-data-plane-architec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160520"/>
            <a:ext cx="3383280" cy="18288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092440" y="3200400"/>
            <a:ext cx="36576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F3D"/>
                </a:solidFill>
                <a:latin typeface="Microsoft YaHei"/>
                <a:eastAsian typeface="Microsoft YaHei"/>
              </a:rPr>
              <a:t>Nokia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AN Fabric / Data Suite产品化最清晰｜跨厂商统一仍缺中立证明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3200400"/>
            <a:ext cx="63500" cy="777240"/>
          </a:xfrm>
          <a:prstGeom prst="rect">
            <a:avLst/>
          </a:prstGeom>
          <a:solidFill>
            <a:srgbClr val="5EB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2440" y="4069080"/>
            <a:ext cx="365760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nokia-autonomous-network-fabr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160520"/>
            <a:ext cx="3383280" cy="18288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02 行业环境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02  INDUSTRY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现状小结：确认「需要哪些能力」，仍在竞争「谁控制、如何证明」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最稳健的断言不是「谁已拥有完整6G Data Fabric」，而是：产业已确认能力清单，但仍在竞争架构组合、控制权归属与价值证明方式。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576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71F3D"/>
                </a:solidFill>
                <a:latin typeface="Microsoft YaHei"/>
                <a:eastAsian typeface="Microsoft YaHei"/>
              </a:rPr>
              <a:t>共识已形成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A738A"/>
                </a:solidFill>
                <a:latin typeface="Microsoft YaHei"/>
                <a:eastAsian typeface="Microsoft YaHei"/>
              </a:rPr>
              <a:t>分布式接入、近源处理、统一语义/任务适用性、产品化供给，并与AI/Agent和闭环证据关联。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37360"/>
            <a:ext cx="63500" cy="196596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60" y="1737360"/>
            <a:ext cx="36576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71F3D"/>
                </a:solidFill>
                <a:latin typeface="Microsoft YaHei"/>
                <a:eastAsian typeface="Microsoft YaHei"/>
              </a:rPr>
              <a:t>标准未冻结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A738A"/>
                </a:solidFill>
                <a:latin typeface="Microsoft YaHei"/>
                <a:eastAsian typeface="Microsoft YaHei"/>
              </a:rPr>
              <a:t>SA2/SA5仍是Rel-20研究；独立数据面、新NF、增强既有功能或混合实现均未定型。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737360"/>
            <a:ext cx="63500" cy="196596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2440" y="1737360"/>
            <a:ext cx="36576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71F3D"/>
                </a:solidFill>
                <a:latin typeface="Microsoft YaHei"/>
                <a:eastAsian typeface="Microsoft YaHei"/>
              </a:rPr>
              <a:t>产品先于6G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A738A"/>
                </a:solidFill>
                <a:latin typeface="Microsoft YaHei"/>
                <a:eastAsian typeface="Microsoft YaHei"/>
              </a:rPr>
              <a:t>EIAP/DataOps、AUTINOps、Nokia AN Fabric已用5G-A/OAM验证部分能力，成为前置桥梁。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737360"/>
            <a:ext cx="63500" cy="196596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3886200"/>
            <a:ext cx="36576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71F3D"/>
                </a:solidFill>
                <a:latin typeface="Microsoft YaHei"/>
                <a:eastAsian typeface="Microsoft YaHei"/>
              </a:rPr>
              <a:t>成熟度不均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A738A"/>
                </a:solidFill>
                <a:latin typeface="Microsoft YaHei"/>
                <a:eastAsian typeface="Microsoft YaHei"/>
              </a:rPr>
              <a:t>采集/湖仓/流/目录成熟；跨域主动元数据、任务适用性、Agent治理和高风险闭环仍在G1—G3。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86200"/>
            <a:ext cx="63500" cy="196596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51960" y="3886200"/>
            <a:ext cx="36576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71F3D"/>
                </a:solidFill>
                <a:latin typeface="Microsoft YaHei"/>
                <a:eastAsian typeface="Microsoft YaHei"/>
              </a:rPr>
              <a:t>竞争跨层展开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A738A"/>
                </a:solidFill>
                <a:latin typeface="Microsoft YaHei"/>
                <a:eastAsian typeface="Microsoft YaHei"/>
              </a:rPr>
              <a:t>设备商争语义与执行；云争运行时；聚合商争渠道；运营商争主权与可替换性。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3886200"/>
            <a:ext cx="63500" cy="196596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3886200"/>
            <a:ext cx="365760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71F3D"/>
                </a:solidFill>
                <a:latin typeface="Microsoft YaHei"/>
                <a:eastAsian typeface="Microsoft YaHei"/>
              </a:rPr>
              <a:t>尚无绝对领先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A738A"/>
                </a:solidFill>
                <a:latin typeface="Microsoft YaHei"/>
                <a:eastAsian typeface="Microsoft YaHei"/>
              </a:rPr>
              <a:t>没有运营商中立证据证明任一家已在多运营商、多厂商环境广泛部署完整跨域Fabric。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3886200"/>
            <a:ext cx="63500" cy="1965960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02 行业环境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03  TREND CAUSAL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产业趋势：八条不是平行产品，而是一条因果链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数据越分布，越需要元数据事件；机器消费越多，越需要显式语义与契约；自动化权限越大，越需要策略、证明和可回滚性；跨组织流通越多，越需要数据空间式信任与商业运营。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37360"/>
            <a:ext cx="2194560" cy="1234440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n typeface="Microsoft YaHei"/>
              </a:rPr>
              <a:t>分布式数据生产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CAE85E"/>
                </a:solidFill>
                <a:latin typeface="Microsoft YaHei"/>
                <a:eastAsian typeface="Microsoft YaHei"/>
              </a:rPr>
              <a:t>RAN/Core/Edge/ISAC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48840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8A4C"/>
                </a:solidFill>
                <a:latin typeface="Microsoft YaHei"/>
                <a:eastAsia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1737360"/>
            <a:ext cx="2194560" cy="1234440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n typeface="Microsoft YaHei"/>
              </a:rPr>
              <a:t>元数据事件化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CAE85E"/>
                </a:solidFill>
                <a:latin typeface="Microsoft YaHei"/>
                <a:eastAsian typeface="Microsoft YaHei"/>
              </a:rPr>
              <a:t>发现变化与影响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148840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8A4C"/>
                </a:solidFill>
                <a:latin typeface="Microsoft YaHei"/>
                <a:eastAsia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737360"/>
            <a:ext cx="2194560" cy="1234440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n typeface="Microsoft YaHei"/>
              </a:rPr>
              <a:t>语义与产品契约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CAE85E"/>
                </a:solidFill>
                <a:latin typeface="Microsoft YaHei"/>
                <a:eastAsian typeface="Microsoft YaHei"/>
              </a:rPr>
              <a:t>机器可理解可组合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148840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8A4C"/>
                </a:solidFill>
                <a:latin typeface="Microsoft YaHei"/>
                <a:eastAsia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19" y="1737360"/>
            <a:ext cx="2194560" cy="1234440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n typeface="Microsoft YaHei"/>
              </a:rPr>
              <a:t>智能/Agent行动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CAE85E"/>
                </a:solidFill>
                <a:latin typeface="Microsoft YaHei"/>
                <a:eastAsian typeface="Microsoft YaHei"/>
              </a:rPr>
              <a:t>建议→低风险执行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2148840"/>
            <a:ext cx="274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F8A4C"/>
                </a:solidFill>
                <a:latin typeface="Microsoft YaHei"/>
                <a:eastAsia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737360"/>
            <a:ext cx="2194560" cy="1234440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stAsian typeface="Microsoft YaHei"/>
              </a:rPr>
              <a:t>可信控制与生态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CAE85E"/>
                </a:solidFill>
                <a:latin typeface="Microsoft YaHei"/>
                <a:eastAsian typeface="Microsoft YaHei"/>
              </a:rPr>
              <a:t>策略·证明·回滚·计量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200400"/>
            <a:ext cx="56692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9F9A"/>
                </a:solidFill>
                <a:latin typeface="Microsoft YaHei"/>
                <a:eastAsian typeface="Microsoft YaHei"/>
              </a:rPr>
              <a:t>工程主线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0A2744"/>
                </a:solidFill>
                <a:latin typeface="Microsoft YaHei"/>
                <a:eastAsian typeface="Microsoft YaHei"/>
              </a:rPr>
              <a:t>从管道到事件化控制面：差异化转向元数据激活、跨接口语义、任务适用性、影响分析与策略强制。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200400"/>
            <a:ext cx="56692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9F9A"/>
                </a:solidFill>
                <a:latin typeface="Microsoft YaHei"/>
                <a:eastAsian typeface="Microsoft YaHei"/>
              </a:rPr>
              <a:t>标准主线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0A2744"/>
                </a:solidFill>
                <a:latin typeface="Microsoft YaHei"/>
                <a:eastAsian typeface="Microsoft YaHei"/>
              </a:rPr>
              <a:t>从研究问题到规范能力包：Rel-20验证候选，Rel-21选最小可标准化集合；统一网元概率低于统一语义/接口。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617720"/>
            <a:ext cx="56692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9F9A"/>
                </a:solidFill>
                <a:latin typeface="Microsoft YaHei"/>
                <a:eastAsian typeface="Microsoft YaHei"/>
              </a:rPr>
              <a:t>产品主线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0A2744"/>
                </a:solidFill>
                <a:latin typeface="Microsoft YaHei"/>
                <a:eastAsian typeface="Microsoft YaHei"/>
              </a:rPr>
              <a:t>从平台功能到场景闭环：客户为故障/能耗/移动性/QoE/模型泛化/开放收入的可测结果买单。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617720"/>
            <a:ext cx="566928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9F9A"/>
                </a:solidFill>
                <a:latin typeface="Microsoft YaHei"/>
                <a:eastAsian typeface="Microsoft YaHei"/>
              </a:rPr>
              <a:t>竞争主线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0A2744"/>
                </a:solidFill>
                <a:latin typeface="Microsoft YaHei"/>
                <a:eastAsian typeface="Microsoft YaHei"/>
              </a:rPr>
              <a:t>从设备份额到控制点份额：语义、任务适用性、近源运行时、证据链与API渠道决定软件与生态复利。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03 产业趋势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03  TRENDS T1–T4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前半因果链：产品化 → 事件控制面 → 两级部署 → 有界智能耦合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T1–T4回答「数据如何被消费与控制」：先把输出变成带SLO的产品，再用事件化元数据驱动控制，以边缘子Fabric守住时限，最后与AI/Agent耦合但保持责任边界。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91640"/>
            <a:ext cx="571500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F9F9A"/>
                </a:solidFill>
                <a:latin typeface="Microsoft YaHei"/>
                <a:eastAsian typeface="Microsoft YaHei"/>
              </a:rPr>
              <a:t>T1 · 高确定性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网络数据从采集对象变为可运营产品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A2744"/>
                </a:solidFill>
                <a:latin typeface="Microsoft YaHei"/>
                <a:eastAsian typeface="Microsoft YaHei"/>
              </a:rPr>
              <a:t>价值单位从表/Topic/PB转为满足消费者与SLO的数据产品。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为何：AI/NDT/跨域自动化需要稳定契约；Nokia Data Suite、Ericsson mesh、Open Gateway均要求一致行为。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落地：先做移动性/节能/故障/QoE/模型训练高复用产品；必须带对象范围、事件时间、语义版本、任务适用性、用途、Owner。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FF8A4C"/>
                </a:solidFill>
                <a:latin typeface="Microsoft YaHei"/>
                <a:eastAsian typeface="Microsoft YaHei"/>
              </a:rPr>
              <a:t>反证：只有Marketplace页面、无Owner/SLO/退出；长期无人消费仍重复采集。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71500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F9F9A"/>
                </a:solidFill>
                <a:latin typeface="Microsoft YaHei"/>
                <a:eastAsian typeface="Microsoft YaHei"/>
              </a:rPr>
              <a:t>T2 · 高确定性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元数据事件化成为可信控制面输入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A2744"/>
                </a:solidFill>
                <a:latin typeface="Microsoft YaHei"/>
                <a:eastAsian typeface="Microsoft YaHei"/>
              </a:rPr>
              <a:t>目录从定期盘点升级为感知结构/配置/质量/权限/成本/模型变化的事件网络。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为何：目录延迟数小时意味着错误结构进入生产决策；OpenLineage等已验证工程可行性。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落地：跨O1/E2/A1/R1统一事件标识；高风险阻断/审批；事件总线不得成为快环同步依赖。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FF8A4C"/>
                </a:solidFill>
                <a:latin typeface="Microsoft YaHei"/>
                <a:eastAsian typeface="Microsoft YaHei"/>
              </a:rPr>
              <a:t>反证：目录仍靠人工扫描，变更后靠事故发现。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31920"/>
            <a:ext cx="571500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F9F9A"/>
                </a:solidFill>
                <a:latin typeface="Microsoft YaHei"/>
                <a:eastAsian typeface="Microsoft YaHei"/>
              </a:rPr>
              <a:t>T3 · 高确定性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边缘子Fabric与两级控制成主流形态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A2744"/>
                </a:solidFill>
                <a:latin typeface="Microsoft YaHei"/>
                <a:eastAsian typeface="Microsoft YaHei"/>
              </a:rPr>
              <a:t>全局控制面管语义/策略，本地子Fabric保时限、自治与断链生存。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为何：RAN快环/MEC/专网/NTN无法依赖远端联邦查询；三强部署原则趋同。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落地：明确&lt;10ms/Near-RT/Non-RT/训练依赖清单；支持断链、冲突合并、版本回退。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FF8A4C"/>
                </a:solidFill>
                <a:latin typeface="Microsoft YaHei"/>
                <a:eastAsian typeface="Microsoft YaHei"/>
              </a:rPr>
              <a:t>反证：所有查询必须经中心，或各域无法共享语义。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931920"/>
            <a:ext cx="571500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F9F9A"/>
                </a:solidFill>
                <a:latin typeface="Microsoft YaHei"/>
                <a:eastAsian typeface="Microsoft YaHei"/>
              </a:rPr>
              <a:t>T4 · 中高确定性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Fabric与AI/Agent耦合，但不合并成无边界大脑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0A2744"/>
                </a:solidFill>
                <a:latin typeface="Microsoft YaHei"/>
                <a:eastAsian typeface="Microsoft YaHei"/>
              </a:rPr>
              <a:t>编排对象扩展为数据—模型—算力—动作组合；共同证据图，责任不混。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为何：训练/验证/部署/推理共享可信数据；Agent需工具目录、身份与委托。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落地：IPOE约束；先OAM/Non-RT与低风险动作；快环保留确定性执行。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FF8A4C"/>
                </a:solidFill>
                <a:latin typeface="Microsoft YaHei"/>
                <a:eastAsian typeface="Microsoft YaHei"/>
              </a:rPr>
              <a:t>反证：只有聊天入口，无身份、作用域和动作证据。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03 产业趋势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03  TRENDS T5–T8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后半因果链：证据闸门 → 任务适用性标尺 → 商业分层 → 能力集合化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T5–T8回答「如何证明、计量与标准化」：高风险动作要孪生证据，无线数据要通信级任务适用性，商业走内部产品→API→渠道分层，标准更可能冻结能力集合而非固定新网元。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91640"/>
            <a:ext cx="571500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F9F9A"/>
                </a:solidFill>
                <a:latin typeface="Microsoft YaHei"/>
                <a:eastAsian typeface="Microsoft YaHei"/>
              </a:rPr>
              <a:t>T5 · 中高确定性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NDT由规划工具走向高风险闭环证据闸门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A2744"/>
                </a:solidFill>
                <a:latin typeface="Microsoft YaHei"/>
                <a:eastAsian typeface="Microsoft YaHei"/>
              </a:rPr>
              <a:t>竞争点从可视化/仿真规模，转向为生产动作提供可量化反事实证据。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落地：定义保真度、最大同步滞后、可接受误差；孪生通过须与灰度/风险预算/熔断/接管组合；超误差退回建议模式。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FF8A4C"/>
                </a:solidFill>
                <a:latin typeface="Microsoft YaHei"/>
                <a:eastAsian typeface="Microsoft YaHei"/>
              </a:rPr>
              <a:t>反证：只有可视化模型，无误差门槛与生产反馈。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71500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F9F9A"/>
                </a:solidFill>
                <a:latin typeface="Microsoft YaHei"/>
                <a:eastAsian typeface="Microsoft YaHei"/>
              </a:rPr>
              <a:t>T6 · 中高确定性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任务适用性规则成为6G数据接口与产品竞争核心标尺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A2744"/>
                </a:solidFill>
                <a:latin typeface="Microsoft YaHei"/>
                <a:eastAsian typeface="Microsoft YaHei"/>
              </a:rPr>
              <a:t>可用性由网络状态、采样与误差决定，不能只用完整性与新鲜度。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落地：按数据族建适用性信封；纳入采样覆盖、时空代表性、同步、配置、标签来源、训练—服务偏差；绑定产品SLO与动作风险。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FF8A4C"/>
                </a:solidFill>
                <a:latin typeface="Microsoft YaHei"/>
                <a:eastAsian typeface="Microsoft YaHei"/>
              </a:rPr>
              <a:t>反证：只统计记录量、接口成功率或单一完整性分数。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31920"/>
            <a:ext cx="571500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F9F9A"/>
                </a:solidFill>
                <a:latin typeface="Microsoft YaHei"/>
                <a:eastAsian typeface="Microsoft YaHei"/>
              </a:rPr>
              <a:t>T7 · 中等确定性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内部Fabric、数据空间与网络API形成分层商业链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A2744"/>
                </a:solidFill>
                <a:latin typeface="Microsoft YaHei"/>
                <a:eastAsian typeface="Microsoft YaHei"/>
              </a:rPr>
              <a:t>内部治理=可信生产；网络API=标准消费；Operate API/聚合渠道=规模运营。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落地：先产品化内部服务再映射CAMARA；计价走向交易/会话/结果；数据空间补跨组织信任，但不进RAN快环。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FF8A4C"/>
                </a:solidFill>
                <a:latin typeface="Microsoft YaHei"/>
                <a:eastAsian typeface="Microsoft YaHei"/>
              </a:rPr>
              <a:t>反证：API数量增加但无跨网一致、活跃开发者与收入。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931920"/>
            <a:ext cx="571500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0F9F9A"/>
                </a:solidFill>
                <a:latin typeface="Microsoft YaHei"/>
                <a:eastAsian typeface="Microsoft YaHei"/>
              </a:rPr>
              <a:t>T8 · 低—中确定性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专用数据面可能标准化为「能力集合」而非固定新网元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0A2744"/>
                </a:solidFill>
                <a:latin typeface="Microsoft YaHei"/>
                <a:eastAsian typeface="Microsoft YaHei"/>
              </a:rPr>
              <a:t>需求留下，拓扑与名称未必留下；发现/编排/处理/PubSub/存储/暴露/治理可分布到新旧功能。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落地：跟踪能力语义与接口，不押注厂商网元名；可插拔运行时与多后端；独立平面若增时延/状态重复则退回增强方案。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FF8A4C"/>
                </a:solidFill>
                <a:latin typeface="Microsoft YaHei"/>
                <a:eastAsian typeface="Microsoft YaHei"/>
              </a:rPr>
              <a:t>反证：3GPP明确冻结独立统一数据平面及必选NF。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03 产业趋势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04  3-YEAR / 5-YEAR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3年看透不变量，5年看清控制点复利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「看透」=标准冻结前看清不会改变的底层需求与可验证能力；「看清」=首批6G商用准备期，看清产品控制点、生态分工与商业闭环归属。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91640"/>
            <a:ext cx="5623560" cy="438912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71F3D"/>
                </a:solidFill>
                <a:latin typeface="Microsoft YaHei"/>
                <a:eastAsian typeface="Microsoft YaHei"/>
              </a:rPr>
              <a:t>未来 1–3 年 · 看透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F9F9A"/>
                </a:solidFill>
                <a:latin typeface="Microsoft YaHei"/>
                <a:eastAsian typeface="Microsoft YaHei"/>
              </a:rPr>
              <a:t>标准窗口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Rel-21于2027定包与Stage1，2028完成Stage2/3主要冻结；数据框架向最小规范集合收敛。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F9F9A"/>
                </a:solidFill>
                <a:latin typeface="Microsoft YaHei"/>
                <a:eastAsian typeface="Microsoft YaHei"/>
              </a:rPr>
              <a:t>工程底座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元数据事件、跨O1/E2/A1/R1映射、RAN数据适用性、数据契约、模型/动作血缘成领先试点基线。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F9F9A"/>
                </a:solidFill>
                <a:latin typeface="Microsoft YaHei"/>
                <a:eastAsian typeface="Microsoft YaHei"/>
              </a:rPr>
              <a:t>产品形态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SMO/Non-RT能力、近源运行时、NDT预演、受治RAG/Agent先以外挂/增强落地，不一次性重构全网。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F9F9A"/>
                </a:solidFill>
                <a:latin typeface="Microsoft YaHei"/>
                <a:eastAsian typeface="Microsoft YaHei"/>
              </a:rPr>
              <a:t>竞争与商业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市场用现网闭环收益与多厂商互操作过滤营销；Open Gateway瓶颈转向行业工作流、跨网一致与结果定价。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532120" cy="4389120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CAE85E"/>
                </a:solidFill>
                <a:latin typeface="Microsoft YaHei"/>
                <a:eastAsian typeface="Microsoft YaHei"/>
              </a:rPr>
              <a:t>未来 3–5 年 · 看清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5EB6E4"/>
                </a:solidFill>
                <a:latin typeface="Microsoft YaHei"/>
                <a:eastAsian typeface="Microsoft YaHei"/>
              </a:rPr>
              <a:t>架构落位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DCE7F2"/>
                </a:solidFill>
                <a:latin typeface="Microsoft YaHei"/>
                <a:eastAsian typeface="Microsoft YaHei"/>
              </a:rPr>
              <a:t>控制面集中协调、数据/算力分布执行；独立数据面是否存在不如能力可组合与可证明重要。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5EB6E4"/>
                </a:solidFill>
                <a:latin typeface="Microsoft YaHei"/>
                <a:eastAsian typeface="Microsoft YaHei"/>
              </a:rPr>
              <a:t>智能边界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DCE7F2"/>
                </a:solidFill>
                <a:latin typeface="Microsoft YaHei"/>
                <a:eastAsian typeface="Microsoft YaHei"/>
              </a:rPr>
              <a:t>低风险有界自治；高风险强制「策略—孪生—灰度—回滚—证据」；全面无人治理仍不可信。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5EB6E4"/>
                </a:solidFill>
                <a:latin typeface="Microsoft YaHei"/>
                <a:eastAsian typeface="Microsoft YaHei"/>
              </a:rPr>
              <a:t>产业分层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DCE7F2"/>
                </a:solidFill>
                <a:latin typeface="Microsoft YaHei"/>
                <a:eastAsian typeface="Microsoft YaHei"/>
              </a:rPr>
              <a:t>设备商控语义与近源；云控模型与工具；聚合商控分发；运营商要求主权与可替换性。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5EB6E4"/>
                </a:solidFill>
                <a:latin typeface="Microsoft YaHei"/>
                <a:eastAsian typeface="Microsoft YaHei"/>
              </a:rPr>
              <a:t>胜负手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DCE7F2"/>
                </a:solidFill>
                <a:latin typeface="Microsoft YaHei"/>
                <a:eastAsian typeface="Microsoft YaHei"/>
              </a:rPr>
              <a:t>多厂商语义映射、任务适用性表达与测试规则、Agent可信运行时、NDT证据门槛、跨域产品运营形成长期壁垒。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04 3年/5年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04  TEN JUDGEMENTS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十条趋势判断：第四章对 T1–T8 的决策压缩，不是另起三条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十条判断用于决策筛选：高确定性条目应进入工程与标准基线；中等确定性条目进入时间盒验证；最终验证点是 Rel-21 文本、跨厂商互操作、现网闭环收益与可持续收入。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45920"/>
            <a:ext cx="57150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01  [高确定性]  需要通用数据能力，未必需要独立「数据面」网元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63500" cy="80467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7150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02  [高确定性]  RAN语义与任务适用性比原始数据规模更稀缺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45920"/>
            <a:ext cx="63500" cy="80467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2514600"/>
            <a:ext cx="57150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03  [高确定性]  Fabric价值从集成上移到可信智能控制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63500" cy="80467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2514600"/>
            <a:ext cx="57150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04  [高确定性]  快环不会被中央Fabric接管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514600"/>
            <a:ext cx="63500" cy="80467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3383280"/>
            <a:ext cx="57150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05  [中高确定性]  Agent先辅助、后有界执行，不跨越治理成熟度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83280"/>
            <a:ext cx="63500" cy="804672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3383280"/>
            <a:ext cx="57150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06  [中高确定性]  NDT是重要证据源，不是绝对安全证明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383280"/>
            <a:ext cx="63500" cy="804672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" y="4251959"/>
            <a:ext cx="57150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07  [高确定性]  Mesh/Fabric/Lakehouse组合，而非唯一赢家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51959"/>
            <a:ext cx="63500" cy="80467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4251959"/>
            <a:ext cx="57150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08  [中高确定性]  网络API商业化倒逼内部数据产品化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4251959"/>
            <a:ext cx="63500" cy="804672"/>
          </a:xfrm>
          <a:prstGeom prst="rect">
            <a:avLst/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5760" y="5120640"/>
            <a:ext cx="57150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09  [中确定性]  云与数据平台是关键竞合方，难独代RAN语义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120640"/>
            <a:ext cx="63500" cy="804672"/>
          </a:xfrm>
          <a:prstGeom prst="rect">
            <a:avLst/>
          </a:prstGeom>
          <a:solidFill>
            <a:srgbClr val="5A7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63640" y="5120640"/>
            <a:ext cx="571500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10  [中确定性]  跨企业完全无人治理五年内仍非普遍现实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5120640"/>
            <a:ext cx="63500" cy="804672"/>
          </a:xfrm>
          <a:prstGeom prst="rect">
            <a:avLst/>
          </a:prstGeom>
          <a:solidFill>
            <a:srgbClr val="5A7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04 3年/5年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05  ZTE POSITION · ASSETS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中兴定位：强于网络智能产品化，弱于通用 Fabric 完整产品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731520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正确战略不是再造对标 IBM/Informatica/Nokia Data Suite 的通用编织平台，而是把 AIR Net 数据引擎升级为主航道共用的横向数据控制能力；争夺「语义+任务适用性+近源执行+有界供数」，而非「大一统数据面」品牌。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83080"/>
            <a:ext cx="365760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产品锚点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71F3D"/>
                </a:solidFill>
                <a:latin typeface="Microsoft YaHei"/>
                <a:eastAsian typeface="Microsoft YaHei"/>
              </a:rPr>
              <a:t>AIR Net 三引擎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数据引擎 + 大模型引擎 + 数字孪生引擎，支撑 Copilot/Agent 与跨域闭环；数据引擎提供资产、AI Ready 治理与智能分析。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783080"/>
            <a:ext cx="365760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场景锚点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71F3D"/>
                </a:solidFill>
                <a:latin typeface="Microsoft YaHei"/>
                <a:eastAsian typeface="Microsoft YaHei"/>
              </a:rPr>
              <a:t>Fault Agent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浙江移动：根因识别&gt;90%，诊断约30→&lt;5分钟，工单-20%；中国电信多省试点。案例口径，非独立审计。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783080"/>
            <a:ext cx="365760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标准锚点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71F3D"/>
                </a:solidFill>
                <a:latin typeface="Microsoft YaHei"/>
                <a:eastAsian typeface="Microsoft YaHei"/>
              </a:rPr>
              <a:t>ETSI ZSM 029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Data Management Agent for AN；中兴为 Supporting Organization；覆盖注册/发现/资产/认证/采集/编排——与控制语义高度重合。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1148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E4 API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中国移动Quality on Demand（QoD）：CAMARA+中兴NEF；25家客户、月调用&gt;3400万、收入证据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41148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E4 故障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GSMA浙江移动具名闭环结果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41148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E3 产品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CUDR、AIR Net、Co-Sight、Ready for ODA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12064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E2 试点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中国电信Fault Agent「piloted」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512064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E1 标准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ZSM029席位；SA5 Unified data framework输入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512064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FF8A4C"/>
                </a:solidFill>
                <a:latin typeface="Microsoft YaHei"/>
                <a:eastAsian typeface="Microsoft YaHei"/>
              </a:rPr>
              <a:t>E0 假设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RAN数据适用性/近源Agent/跨接口事件 → 待PoC与付费验证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05 公司定位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05  CONTROL POINTS C1–C4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目标定位：四个必须掌握的控制点，三个开放边界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工作定位（研究命名）：Telecom Trusted Data Control Fabric——统一「理解、质量、契约与证据」，不统一所有存储、模型、协议与毫秒级执行。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37360"/>
            <a:ext cx="2788920" cy="2148840"/>
          </a:xfrm>
          <a:prstGeom prst="roundRect">
            <a:avLst>
              <a:gd name="adj" fmla="val 12000"/>
            </a:avLst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stAsian typeface="Microsoft YaHei"/>
              </a:rPr>
              <a:t>C1 语义与任务适用性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DCE7F2"/>
                </a:solidFill>
                <a:latin typeface="Microsoft YaHei"/>
                <a:eastAsian typeface="Microsoft YaHei"/>
              </a:rPr>
              <a:t>对象映射·适用性信封·配置/时空/采样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CAE85E"/>
                </a:solidFill>
                <a:latin typeface="Microsoft YaHei"/>
                <a:eastAsian typeface="Microsoft YaHei"/>
              </a:rPr>
              <a:t>中兴必须主导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737360"/>
            <a:ext cx="2788920" cy="2148840"/>
          </a:xfrm>
          <a:prstGeom prst="roundRect">
            <a:avLst>
              <a:gd name="adj" fmla="val 12000"/>
            </a:avLst>
          </a:prstGeom>
          <a:solidFill>
            <a:srgbClr val="5EB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stAsian typeface="Microsoft YaHei"/>
              </a:rPr>
              <a:t>C2 产品/契约/主权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DCE7F2"/>
                </a:solidFill>
                <a:latin typeface="Microsoft YaHei"/>
                <a:eastAsian typeface="Microsoft YaHei"/>
              </a:rPr>
              <a:t>Owner·SLO·用途·驻留·保留·删除传播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CAE85E"/>
                </a:solidFill>
                <a:latin typeface="Microsoft YaHei"/>
                <a:eastAsian typeface="Microsoft YaHei"/>
              </a:rPr>
              <a:t>掌握电信模板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2788920" cy="2148840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stAsian typeface="Microsoft YaHei"/>
              </a:rPr>
              <a:t>C3 近源 Data Agent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DCE7F2"/>
                </a:solidFill>
                <a:latin typeface="Microsoft YaHei"/>
                <a:eastAsian typeface="Microsoft YaHei"/>
              </a:rPr>
              <a:t>过滤·特征·缓存·本地策略·断链生存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CAE85E"/>
                </a:solidFill>
                <a:latin typeface="Microsoft YaHei"/>
                <a:eastAsian typeface="Microsoft YaHei"/>
              </a:rPr>
              <a:t>差异化主场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737360"/>
            <a:ext cx="2788920" cy="2148840"/>
          </a:xfrm>
          <a:prstGeom prst="roundRect">
            <a:avLst>
              <a:gd name="adj" fmla="val 12000"/>
            </a:avLst>
          </a:prstGeom>
          <a:solidFill>
            <a:srgbClr val="F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stAsian typeface="Microsoft YaHei"/>
              </a:rPr>
              <a:t>C4 Agent/NDT 证据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DCE7F2"/>
                </a:solidFill>
                <a:latin typeface="Microsoft YaHei"/>
                <a:eastAsian typeface="Microsoft YaHei"/>
              </a:rPr>
              <a:t>身份·策略·仿真·动作·结果·回滚</a:t>
            </a:r>
          </a:p>
          <a:p>
            <a:pPr algn="l">
              <a:spcAft>
                <a:spcPts val="0"/>
              </a:spcAft>
            </a:pPr>
            <a:r>
              <a:rPr sz="1100" b="1">
                <a:solidFill>
                  <a:srgbClr val="CAE85E"/>
                </a:solidFill>
                <a:latin typeface="Microsoft YaHei"/>
                <a:eastAsian typeface="Microsoft YaHei"/>
              </a:rPr>
              <a:t>与生态联合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069080"/>
            <a:ext cx="11338560" cy="64008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71F3D"/>
                </a:solidFill>
                <a:latin typeface="Microsoft YaHei"/>
                <a:eastAsian typeface="Microsoft YaHei"/>
              </a:rPr>
              <a:t>分布式执行载体：RAN/Edge本地代理 · SMO/Non-RT服务 · Core/NWDAF/DCCF · OSS数据引擎 · 云侧数据服务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892040"/>
            <a:ext cx="3657600" cy="1143000"/>
          </a:xfrm>
          <a:prstGeom prst="roundRect">
            <a:avLst>
              <a:gd name="adj" fmla="val 12000"/>
            </a:avLst>
          </a:prstGeom>
          <a:solidFill>
            <a:srgbClr val="FF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F8A4C"/>
                </a:solidFill>
                <a:latin typeface="Microsoft YaHei"/>
                <a:eastAsian typeface="Microsoft YaHei"/>
              </a:rPr>
              <a:t>开放边界 A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F3D"/>
                </a:solidFill>
                <a:latin typeface="Microsoft YaHei"/>
                <a:eastAsian typeface="Microsoft YaHei"/>
              </a:rPr>
              <a:t>湖仓 / Catalog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开放格式、可替换后端，不重建通用栈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4892040"/>
            <a:ext cx="3657600" cy="1143000"/>
          </a:xfrm>
          <a:prstGeom prst="roundRect">
            <a:avLst>
              <a:gd name="adj" fmla="val 12000"/>
            </a:avLst>
          </a:prstGeom>
          <a:solidFill>
            <a:srgbClr val="FF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F8A4C"/>
                </a:solidFill>
                <a:latin typeface="Microsoft YaHei"/>
                <a:eastAsian typeface="Microsoft YaHei"/>
              </a:rPr>
              <a:t>开放边界 B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F3D"/>
                </a:solidFill>
                <a:latin typeface="Microsoft YaHei"/>
                <a:eastAsian typeface="Microsoft YaHei"/>
              </a:rPr>
              <a:t>模型 / Agent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多模型多Agent；统一身份与证据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4892040"/>
            <a:ext cx="3657600" cy="1143000"/>
          </a:xfrm>
          <a:prstGeom prst="roundRect">
            <a:avLst>
              <a:gd name="adj" fmla="val 12000"/>
            </a:avLst>
          </a:prstGeom>
          <a:solidFill>
            <a:srgbClr val="FF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FF8A4C"/>
                </a:solidFill>
                <a:latin typeface="Microsoft YaHei"/>
                <a:eastAsian typeface="Microsoft YaHei"/>
              </a:rPr>
              <a:t>开放边界 C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F3D"/>
                </a:solidFill>
                <a:latin typeface="Microsoft YaHei"/>
                <a:eastAsian typeface="Microsoft YaHei"/>
              </a:rPr>
              <a:t>API / 渠道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对接CAMARA/聚合商，不垄断消费入口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05 公司定位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05  CAPABILITY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能力自评与战略定位结论：成为横向组件，不当通用挑战者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用 AIR Net 数据引擎抢占「电信语义—任务适用性—近源执行—有界供数」四位一体控制点；以 ZSM 029 / SA2·SA5 把接口与语义写成标准事实，以场景闭环证明价值——而不是先宣称拥有完整 6G Data Fabric。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27889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自智/Agent场景</a:t>
            </a:r>
          </a:p>
          <a:p>
            <a:pPr algn="l">
              <a:spcAft>
                <a:spcPts val="200"/>
              </a:spcAft>
            </a:pPr>
            <a:r>
              <a:rPr sz="2200" b="1">
                <a:solidFill>
                  <a:srgbClr val="0F9F9A"/>
                </a:solidFill>
                <a:latin typeface="Microsoft YaHei"/>
                <a:eastAsian typeface="Microsoft YaHei"/>
              </a:rPr>
              <a:t>4.0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AIR Net+Fault Agent有试点与认证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737360"/>
            <a:ext cx="27889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语义/KG生产化</a:t>
            </a:r>
          </a:p>
          <a:p>
            <a:pPr algn="l">
              <a:spcAft>
                <a:spcPts val="200"/>
              </a:spcAft>
            </a:pPr>
            <a:r>
              <a:rPr sz="2200" b="1">
                <a:solidFill>
                  <a:srgbClr val="0F9F9A"/>
                </a:solidFill>
                <a:latin typeface="Microsoft YaHei"/>
                <a:eastAsian typeface="Microsoft YaHei"/>
              </a:rPr>
              <a:t>3.5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故障域强；缺跨RAN/Core标准语义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27889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标准接口话语权</a:t>
            </a:r>
          </a:p>
          <a:p>
            <a:pPr algn="l">
              <a:spcAft>
                <a:spcPts val="200"/>
              </a:spcAft>
            </a:pPr>
            <a:r>
              <a:rPr sz="2200" b="1">
                <a:solidFill>
                  <a:srgbClr val="0F9F9A"/>
                </a:solidFill>
                <a:latin typeface="Microsoft YaHei"/>
                <a:eastAsian typeface="Microsoft YaHei"/>
              </a:rPr>
              <a:t>3.0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ZSM029在手；SA2/SA5需加码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1737360"/>
            <a:ext cx="27889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通用Fabric产品</a:t>
            </a:r>
          </a:p>
          <a:p>
            <a:pPr algn="l">
              <a:spcAft>
                <a:spcPts val="200"/>
              </a:spcAft>
            </a:pPr>
            <a:r>
              <a:rPr sz="2200" b="1">
                <a:solidFill>
                  <a:srgbClr val="0F9F9A"/>
                </a:solidFill>
                <a:latin typeface="Microsoft YaHei"/>
                <a:eastAsian typeface="Microsoft YaHei"/>
              </a:rPr>
              <a:t>1.5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不宜与IT巨头/Nokia正面比完整度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1480" y="3200400"/>
          <a:ext cx="11338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828800"/>
                <a:gridCol w="5577840"/>
              </a:tblGrid>
              <a:tr h="261257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能力议题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位置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映射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含义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数据产品化与契约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邻近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R8·T1/T7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从资产目录升级为Owner/SLO/任务适用性/退出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元数据事件化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探索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R1/R5·T2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优先变更→影响分析与血缘闸门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RAN/边缘子Fabric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有载体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R2/R3·T3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优势×空白重叠，适合时间盒PoC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Agent有界执行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相对亮点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R7·T4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最短延长线：用数Agent→供数工具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</a:tr>
              <a:tr h="26125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RAN数据适用性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关键缺口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R4·T6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差异化必争标尺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26125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主权策略强制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相邻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R6·T4/T7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目录标签→策略即代码与删除传播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11480" y="5212080"/>
            <a:ext cx="5623560" cy="91440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9F9A"/>
                </a:solidFill>
                <a:latin typeface="Microsoft YaHei"/>
                <a:eastAsian typeface="Microsoft YaHei"/>
              </a:rPr>
              <a:t>应成为：主航道共用横向数据能力组件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服务无线/核网/承载/SMO/行业；统一控制语义+分布式执行；数据引擎升级为产品/任务适用性/证据/供数底座。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212080"/>
            <a:ext cx="5532120" cy="914400"/>
          </a:xfrm>
          <a:prstGeom prst="roundRect">
            <a:avLst>
              <a:gd name="adj" fmla="val 12000"/>
            </a:avLst>
          </a:prstGeom>
          <a:solidFill>
            <a:srgbClr val="FF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8A4C"/>
                </a:solidFill>
                <a:latin typeface="Microsoft YaHei"/>
                <a:eastAsian typeface="Microsoft YaHei"/>
              </a:rPr>
              <a:t>不应成为：通用 Data Fabric 平台挑战者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不打IT湖仓目录；不复制华为网元命名/不机械站队mesh；不承诺编织进入亚毫秒快环。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05 公司定位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06  OPPORTUNITY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机会组合：六维加权筛选，避免因技术新颖立项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排序维度：战略契合25% · 存量复用20% · 客户牵引20% · 标准窗口15% · 差异化10% · 执行可控10%。分数表达相对优先级，不表达市场规模；O3必须服务O2/O1/O7/O8，O8是跨域供数合规前提。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69164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4754880"/>
                <a:gridCol w="1097280"/>
                <a:gridCol w="2194560"/>
                <a:gridCol w="1828800"/>
              </a:tblGrid>
              <a:tr h="4775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机会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一句话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加权/5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角色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建议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O2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数据引擎→6G数据能力组件外溢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4.55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P0 主航道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首选主攻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O3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ZSM029 + SA2/SA5 标准双入口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4.30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P0 放大器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首选主攻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O7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NDT+Agent高风险动作证据闸门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4.10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P1 差异化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并行主攻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O1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RAN近源流式元数据/子Fabric PoC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4.05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P1 技术期权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中期押注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O6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国内运营商显式数据产品试点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3.75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P1 商业验证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中期绑定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O8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跨路径数据主权与策略即代码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3.45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P1 合规底座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必备底座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O4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承载SLA与数据策略语义映射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3.35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P2 路标接口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路标建议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O5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终端/行业侧轻量数据代理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2.45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P3 观察期权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低成本观察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06 机会选择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06  MAIN ATTACKS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主攻机会：落到买方任务、最小交付包与止损线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中兴最优解是「数据引擎外溢 + 标准卡位 + RAN近源任务适用性+ 动作/主权双证据」；用跨场景复用、闭环收益、可回滚性与策略持续强制证明「可信供数」，而不是用功能清单证明「拥有Fabric」。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691640"/>
            <a:ext cx="228600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O2 首选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数据引擎外溢为能力组件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买方：无线优化对象对齐；OSS故障/节能/投诉复用；核网/API上游可信供给。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0A2744"/>
                </a:solidFill>
                <a:latin typeface="Microsoft YaHei"/>
                <a:eastAsian typeface="Microsoft YaHei"/>
              </a:rPr>
              <a:t>交付：语义Registry+五类产品模板；目录/血缘/订阅/策略四工具；两后端两产品线可移植。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FF8A4C"/>
                </a:solidFill>
                <a:latin typeface="Microsoft YaHei"/>
                <a:eastAsian typeface="Microsoft YaHei"/>
              </a:rPr>
              <a:t>止损：9个月仍不能跨第二场景复用，或每次接入仍需项目定制→降级为OSS内部能力。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1691640"/>
            <a:ext cx="228600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O3 首选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标准双入口卡位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买方/场景：用参考实现影响ZSM029与SA2/SA5互操作语义，而非预设最终文本。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0A2744"/>
                </a:solidFill>
                <a:latin typeface="Microsoft YaHei"/>
                <a:eastAsian typeface="Microsoft YaHei"/>
              </a:rPr>
              <a:t>交付：语义/任务适用性信息模型；DMA服务与生命周期；DCP类总线/DCCF-NWDAF双栈映射。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FF8A4C"/>
                </a:solidFill>
                <a:latin typeface="Microsoft YaHei"/>
                <a:eastAsian typeface="Microsoft YaHei"/>
              </a:rPr>
              <a:t>止损：连续两会期无运营商联署或工作组讨论→收缩议题。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38344" y="1691640"/>
            <a:ext cx="228600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O1 中期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RAN近源子Fabric PoC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边界：一种高频遥测+一种消费者；不进&lt;10ms同步；不建中心化原始湖。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0A2744"/>
                </a:solidFill>
                <a:latin typeface="Microsoft YaHei"/>
                <a:eastAsian typeface="Microsoft YaHei"/>
              </a:rPr>
              <a:t>验收：标注时延/资源、字节减量、断链可用、任务适用性对模型/闭环改善。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FF8A4C"/>
                </a:solidFill>
                <a:latin typeface="Microsoft YaHei"/>
                <a:eastAsian typeface="Microsoft YaHei"/>
              </a:rPr>
              <a:t>止损：收益不覆盖站点开销，或必须侵入快环→停止产品化。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97496" y="1691640"/>
            <a:ext cx="228600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O7 并行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NDT+Agent证据闸门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买方买的是降低错误变更、缩短审批、可证明回滚，不是「一个孪生」。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0A2744"/>
                </a:solidFill>
                <a:latin typeface="Microsoft YaHei"/>
                <a:eastAsian typeface="Microsoft YaHei"/>
              </a:rPr>
              <a:t>交付：快照/保真度/滞后/误差门槛；身份委托/风险预算/灰度熔断。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FF8A4C"/>
                </a:solidFill>
                <a:latin typeface="Microsoft YaHei"/>
                <a:eastAsian typeface="Microsoft YaHei"/>
              </a:rPr>
              <a:t>止损：误差不可标定或收益不超人工基线→保留分析辅助。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56648" y="1691640"/>
            <a:ext cx="228600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O8 底座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跨路径主权策略即代码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用途/同意/驻留/保留/删除贯穿查询、API、导出、向量与训练。</a:t>
            </a:r>
          </a:p>
          <a:p>
            <a:pPr algn="l">
              <a:spcAft>
                <a:spcPts val="500"/>
              </a:spcAft>
            </a:pPr>
            <a:r>
              <a:rPr sz="900" b="0">
                <a:solidFill>
                  <a:srgbClr val="0A2744"/>
                </a:solidFill>
                <a:latin typeface="Microsoft YaHei"/>
                <a:eastAsian typeface="Microsoft YaHei"/>
              </a:rPr>
              <a:t>交付：策略DSL+四类执行点适配器+决策/例外证据。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FF8A4C"/>
                </a:solidFill>
                <a:latin typeface="Microsoft YaHei"/>
                <a:eastAsian typeface="Microsoft YaHei"/>
              </a:rPr>
              <a:t>止损：无法脱离项目定制或开销超预算→收缩为管理域参考架构。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06 机会选择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06  SUPPORTING &amp;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配合项有触发条件；资源不是八支平行队伍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依赖顺序：O2是共用内核 → O3放大并约束O2 → O1/O7/O8分别提供近源、动作与主权证据 → O6验证客户是否为结果付费；O4/O5只能消费前述成果，不能反向拉出两套新平台。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91640"/>
            <a:ext cx="3657600" cy="3200400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stAsian typeface="Microsoft YaHei"/>
              </a:rPr>
              <a:t>共享核心 55–65%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CAE85E"/>
                </a:solidFill>
                <a:latin typeface="Microsoft YaHei"/>
                <a:eastAsian typeface="Microsoft YaHei"/>
              </a:rPr>
              <a:t>O2 + O3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DCE7F2"/>
                </a:solidFill>
                <a:latin typeface="Microsoft YaHei"/>
                <a:eastAsian typeface="Microsoft YaHei"/>
              </a:rPr>
              <a:t>语义、任务适用性、契约、工具接口与标准参考实现由同一核心团队负责；标准文稿必须来自可运行代码，核心代码必须对齐标准对象。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691640"/>
            <a:ext cx="3657600" cy="320040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71F3D"/>
                </a:solidFill>
                <a:latin typeface="Microsoft YaHei"/>
                <a:eastAsian typeface="Microsoft YaHei"/>
              </a:rPr>
              <a:t>差异验证 25–35%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F9F9A"/>
                </a:solidFill>
                <a:latin typeface="Microsoft YaHei"/>
                <a:eastAsian typeface="Microsoft YaHei"/>
              </a:rPr>
              <a:t>O1 + O7 + O8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分别验证分布式近源执行、高风险动作证据与跨路径主权强制。三者共用O2语义/契约，不另造目录与策略体系。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691640"/>
            <a:ext cx="3657600" cy="3200400"/>
          </a:xfrm>
          <a:prstGeom prst="roundRect">
            <a:avLst>
              <a:gd name="adj" fmla="val 12000"/>
            </a:avLst>
          </a:prstGeom>
          <a:solidFill>
            <a:srgbClr val="FF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71F3D"/>
                </a:solidFill>
                <a:latin typeface="Microsoft YaHei"/>
                <a:eastAsian typeface="Microsoft YaHei"/>
              </a:rPr>
              <a:t>客户与期权 10–15%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F8A4C"/>
                </a:solidFill>
                <a:latin typeface="Microsoft YaHei"/>
                <a:eastAsian typeface="Microsoft YaHei"/>
              </a:rPr>
              <a:t>O6 + O4 + O5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A738A"/>
                </a:solidFill>
                <a:latin typeface="Microsoft YaHei"/>
                <a:eastAsian typeface="Microsoft YaHei"/>
              </a:rPr>
              <a:t>O6负责商业证伪；O4/O5仅保留接口与观察资源。O6升级需业务Owner、多厂商数据、结果计量与联合案例。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074920"/>
            <a:ext cx="56235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F9F9A"/>
                </a:solidFill>
                <a:latin typeface="Microsoft YaHei"/>
                <a:eastAsian typeface="Microsoft YaHei"/>
              </a:rPr>
              <a:t>集中火力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优先保证O2+O3，并行验证O7/O8；O1软件侧时间盒；O6专家组牵线；O4/O5路标观察。先自用验证再产品化。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74920"/>
            <a:ext cx="553212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8A4C"/>
                </a:solidFill>
                <a:latin typeface="Microsoft YaHei"/>
                <a:eastAsian typeface="Microsoft YaHei"/>
              </a:rPr>
              <a:t>明确不选 / 缓选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不自建通用企业Fabric；不押注独立数据面网元胜负手；不为ZB级感知建全量湖；治理成熟前不推无边界Agent改网。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06 机会选择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07  STRATEGY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具体策略：先卡位叙事与标准，再加深原型，后铺开近源与试点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策略总断言：先把数据引擎做成主航道共用的「可信供数控制面」——用标准写下语义与接口，用近源能力守住RAN数据适用性，用动作证据与主权策略约束自治和跨组织流通；其余一律后置。【D】条线可推，【R】需公司决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91640"/>
            <a:ext cx="27889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1【D】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数据引擎战略叙事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90天白皮书对齐R/T/友商/主攻位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91640"/>
            <a:ext cx="27889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2【D】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标准双入口卡位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ZSM029参考实现+SA2/SA5≥2篇有效输入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27889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3【D】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语义层与五类产品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故障/节能/移动性/QoE/模型特征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691640"/>
            <a:ext cx="27889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4【D】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Agentic供数接口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MCP/OpenAPI+IPOE；Reasoner/Actor分离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108960"/>
            <a:ext cx="27889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5【D+R】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RAN近源PoC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12–18月时间盒；不进&lt;10ms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108960"/>
            <a:ext cx="27889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6【R】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跨线虚拟团队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统一对象/任务适用性/北向；禁重复造目录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108960"/>
            <a:ext cx="27889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7【D】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NDT证据链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快照/误差/灰度/回滚成放行条件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3108960"/>
            <a:ext cx="27889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8【R】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运营商试点与路标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独立ROI；承载映射与API写入路标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526280"/>
            <a:ext cx="27889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9【D+R】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Build/Partner/Buy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自研语义/任务适用性近源证据；合作湖仓模型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4526280"/>
            <a:ext cx="27889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10【R】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阶段门与复盘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G0–G4；允许停止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526280"/>
            <a:ext cx="278892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11【D+R】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主权策略即代码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跨查询/API/导出/向量/训练强制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943600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071F3D"/>
                </a:solidFill>
                <a:latin typeface="Microsoft YaHei"/>
                <a:eastAsian typeface="Microsoft YaHei"/>
              </a:rPr>
              <a:t>Build：语义/任务适用性/近源Agent/产品契约与动作证据　｜　Partner：湖仓Catalog流批/模型/隐私计算　｜　Buy：连接器扫描可观察工具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07 策略建议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07  RHYTHM · GATES ·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实施节奏、阶段门与风险：每一步都能加码、转向或停止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全部策略遵循「需求驱动 + 证据分层 + 时间盒」。标准成功≠产品成功；产品演示≠跨厂商互操作。若12个月内仍无法形成至少两类可复用数据产品与一篇有效标准输入，应复盘主攻是否过于分散。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91640"/>
            <a:ext cx="27889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9F9A"/>
                </a:solidFill>
                <a:latin typeface="Microsoft YaHei"/>
                <a:eastAsian typeface="Microsoft YaHei"/>
              </a:rPr>
              <a:t>0–3月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071F3D"/>
                </a:solidFill>
                <a:latin typeface="Microsoft YaHei"/>
                <a:eastAsian typeface="Microsoft YaHei"/>
              </a:rPr>
              <a:t>看齐与卡位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叙事；冻结O2/O3；ZSM029与首批文稿；五类产品Owner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91640"/>
            <a:ext cx="27889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9F9A"/>
                </a:solidFill>
                <a:latin typeface="Microsoft YaHei"/>
                <a:eastAsian typeface="Microsoft YaHei"/>
              </a:rPr>
              <a:t>3–9月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071F3D"/>
                </a:solidFill>
                <a:latin typeface="Microsoft YaHei"/>
                <a:eastAsian typeface="Microsoft YaHei"/>
              </a:rPr>
              <a:t>原型与证据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语义/供数MVP；非故障闭环扩展；任务适用性与主权DSL v0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27889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9F9A"/>
                </a:solidFill>
                <a:latin typeface="Microsoft YaHei"/>
                <a:eastAsian typeface="Microsoft YaHei"/>
              </a:rPr>
              <a:t>9–18月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071F3D"/>
                </a:solidFill>
                <a:latin typeface="Microsoft YaHei"/>
                <a:eastAsian typeface="Microsoft YaHei"/>
              </a:rPr>
              <a:t>近源与试点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RAN PoC；1个运营商显式试点；证据与策略进基线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691640"/>
            <a:ext cx="27889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F9F9A"/>
                </a:solidFill>
                <a:latin typeface="Microsoft YaHei"/>
                <a:eastAsian typeface="Microsoft YaHei"/>
              </a:rPr>
              <a:t>18–36月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071F3D"/>
                </a:solidFill>
                <a:latin typeface="Microsoft YaHei"/>
                <a:eastAsian typeface="Microsoft YaHei"/>
              </a:rPr>
              <a:t>产品化收敛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随Rel-21沉淀进主航道；API只映射已产品化能力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291840"/>
            <a:ext cx="2240280" cy="123444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FF8A4C"/>
                </a:solidFill>
                <a:latin typeface="Microsoft YaHei"/>
                <a:eastAsian typeface="Microsoft YaHei"/>
              </a:rPr>
              <a:t>G0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资产核验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五张清单；无真实资产不进G1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79" y="3291840"/>
            <a:ext cx="2240280" cy="123444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FF8A4C"/>
                </a:solidFill>
                <a:latin typeface="Microsoft YaHei"/>
                <a:eastAsian typeface="Microsoft YaHei"/>
              </a:rPr>
              <a:t>G1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双场景原型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两类场景两种后端；否则降级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291840"/>
            <a:ext cx="2240280" cy="123444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FF8A4C"/>
                </a:solidFill>
                <a:latin typeface="Microsoft YaHei"/>
                <a:eastAsian typeface="Microsoft YaHei"/>
              </a:rPr>
              <a:t>G2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工程基线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性能/权限/证据/升级回退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19" y="3291840"/>
            <a:ext cx="2240280" cy="123444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FF8A4C"/>
                </a:solidFill>
                <a:latin typeface="Microsoft YaHei"/>
                <a:eastAsian typeface="Microsoft YaHei"/>
              </a:rPr>
              <a:t>G3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客户验证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Owner+对照基线；可归因审计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3291840"/>
            <a:ext cx="2240280" cy="123444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FF8A4C"/>
                </a:solidFill>
                <a:latin typeface="Microsoft YaHei"/>
                <a:eastAsian typeface="Microsoft YaHei"/>
              </a:rPr>
              <a:t>G4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产品/标准收敛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两条主航道+互操作+商业模型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709160"/>
            <a:ext cx="1627632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71F3D"/>
                </a:solidFill>
                <a:latin typeface="Microsoft YaHei"/>
                <a:eastAsian typeface="Microsoft YaHei"/>
              </a:rPr>
              <a:t>平台化过度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A738A"/>
                </a:solidFill>
                <a:latin typeface="Microsoft YaHei"/>
                <a:eastAsian typeface="Microsoft YaHei"/>
              </a:rPr>
              <a:t>无新增消费者→冻结通用功能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4709160"/>
            <a:ext cx="1627632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71F3D"/>
                </a:solidFill>
                <a:latin typeface="Microsoft YaHei"/>
                <a:eastAsian typeface="Microsoft YaHei"/>
              </a:rPr>
              <a:t>产品线碎片化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A738A"/>
                </a:solidFill>
                <a:latin typeface="Microsoft YaHei"/>
                <a:eastAsian typeface="Microsoft YaHei"/>
              </a:rPr>
              <a:t>绕过公共schema→架构否决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4709160"/>
            <a:ext cx="1627632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71F3D"/>
                </a:solidFill>
                <a:latin typeface="Microsoft YaHei"/>
                <a:eastAsian typeface="Microsoft YaHei"/>
              </a:rPr>
              <a:t>标准—产品脱节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A738A"/>
                </a:solidFill>
                <a:latin typeface="Microsoft YaHei"/>
                <a:eastAsian typeface="Microsoft YaHei"/>
              </a:rPr>
              <a:t>无实现→停扩写并绑定Owner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4709160"/>
            <a:ext cx="1627632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71F3D"/>
                </a:solidFill>
                <a:latin typeface="Microsoft YaHei"/>
                <a:eastAsian typeface="Microsoft YaHei"/>
              </a:rPr>
              <a:t>近源开销过大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A738A"/>
                </a:solidFill>
                <a:latin typeface="Microsoft YaHei"/>
                <a:eastAsian typeface="Microsoft YaHei"/>
              </a:rPr>
              <a:t>超预算→减代理或终止O1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4709160"/>
            <a:ext cx="1627632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71F3D"/>
                </a:solidFill>
                <a:latin typeface="Microsoft YaHei"/>
                <a:eastAsian typeface="Microsoft YaHei"/>
              </a:rPr>
              <a:t>Agent越权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A738A"/>
                </a:solidFill>
                <a:latin typeface="Microsoft YaHei"/>
                <a:eastAsian typeface="Microsoft YaHei"/>
              </a:rPr>
              <a:t>证据不全→退回建议模式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4709160"/>
            <a:ext cx="1627632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71F3D"/>
                </a:solidFill>
                <a:latin typeface="Microsoft YaHei"/>
                <a:eastAsian typeface="Microsoft YaHei"/>
              </a:rPr>
              <a:t>主权策略失效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A738A"/>
                </a:solidFill>
                <a:latin typeface="Microsoft YaHei"/>
                <a:eastAsian typeface="Microsoft YaHei"/>
              </a:rPr>
              <a:t>跨路径不一致→停新路径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69880" y="4709160"/>
            <a:ext cx="1627632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71F3D"/>
                </a:solidFill>
                <a:latin typeface="Microsoft YaHei"/>
                <a:eastAsian typeface="Microsoft YaHei"/>
              </a:rPr>
              <a:t>ROI无法归因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5A738A"/>
                </a:solidFill>
                <a:latin typeface="Microsoft YaHei"/>
                <a:eastAsian typeface="Microsoft YaHei"/>
              </a:rPr>
              <a:t>无基线→不进试点/不对外宣称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07 策略建议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08  ACTION PROGRAMS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关键 AP：按共同控制点组织，而非按部门各自立项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每个AP必须同时具备业务/产品Owner、技术Owner、标准接口（如适用）、可运行交付物、量化验收和停止条件。没有真实消费者、没有基线、没有退出门的任务，不进入清单。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645920"/>
          <a:ext cx="106527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2377440"/>
                <a:gridCol w="3200400"/>
                <a:gridCol w="3383280"/>
                <a:gridCol w="914400"/>
              </a:tblGrid>
              <a:tr h="37338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AP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内容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关键交付物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验收/决策门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优先级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AP0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存量资产盘点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代码/接口/数据/标准/客户五清单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关键资产有Owner；BPB决策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P0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AP1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可信供数控制面章程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C1–C4边界、对象模型、开放边界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两产品线签字；进G1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P0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AP2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ZSM029+SA2/SA5标准包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DMA参考实现；语义/任务适用性/双栈提案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联署+有效输入+产品同步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P0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AP3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语义包与任务适用性信封v1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核心对象+质量规则+评测集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跨两域；准确率/覆盖门槛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P0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AP4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五类产品+供数工具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契约模板；四类MCP/OpenAPI工具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两类产品两类消费者两后端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P0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AP5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Agent身份策略证据运行时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身份委托租约白名单证据schema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高风险100%过策略；可回放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P0/P1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AP6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NDT高风险动作闸门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快照/误差/灰度/熔断/回滚链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历史回放+影子运行；超差退回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P1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AP7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RAN近源Agent时间盒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流内标注/任务适用性/断链/异步证据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资源P99达标否则停止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P1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AP8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运营商灯塔与独立ROI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业务问题+对照+成本收益模型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持续使用；转版本/合同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P1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AP9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主航道产品化与互操作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版本清单/兼容矩阵/开放SDK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两产品线+异构后端+第三方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P1/P2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AP10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跨路径主权策略即代码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DSL+四路径执行点+例外证据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高敏数据跨路径一致+删除传播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P1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08 关键AP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08  90 DAYS &amp;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前90天六个输出 + 公司层六个待裁决问题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AP总断言：先用90天完成「一个Owner、两类数据产品、一套标准—代码映射、两个带退出门的PoC」；随后只对跨场景可复用、客户价值可归因、风险证据完整的能力加码。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91640"/>
            <a:ext cx="36576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输出1  唯一组合Owner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Sponsor+组合负责人+C1–C4技术Owner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91640"/>
            <a:ext cx="63500" cy="109728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60" y="1691640"/>
            <a:ext cx="36576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输出2  资产事实底稿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AIR Net/引擎/Co-Sight/NDT/NEF/边缘可复用证据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691640"/>
            <a:ext cx="63500" cy="109728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2440" y="1691640"/>
            <a:ext cx="36576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输出3  两类种子数据产品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有Owner、消费者、基线与退出条件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691640"/>
            <a:ext cx="63500" cy="109728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2926080"/>
            <a:ext cx="36576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输出4  标准—代码映射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每个主张对应模块/对象/接口/测试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26080"/>
            <a:ext cx="63500" cy="109728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51960" y="2926080"/>
            <a:ext cx="36576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输出5  PoC资源与红线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O1/O7/O8预算、边界、停止阈值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2926080"/>
            <a:ext cx="63500" cy="109728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2926080"/>
            <a:ext cx="36576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71F3D"/>
                </a:solidFill>
                <a:latin typeface="Microsoft YaHei"/>
                <a:eastAsian typeface="Microsoft YaHei"/>
              </a:rPr>
              <a:t>输出6  首个客户问题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愿提供多厂商数据与业务基线；否则先内部验证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2926080"/>
            <a:ext cx="63500" cy="109728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" y="4297680"/>
            <a:ext cx="5669280" cy="59436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A2744"/>
                </a:solidFill>
                <a:latin typeface="Microsoft YaHei"/>
                <a:eastAsian typeface="Microsoft YaHei"/>
              </a:rPr>
              <a:t>D1  数据引擎是OSS内部能力，还是公司级横向组件？→建议后者，以两产品线复用为条件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297680"/>
            <a:ext cx="5669280" cy="59436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A2744"/>
                </a:solidFill>
                <a:latin typeface="Microsoft YaHei"/>
                <a:eastAsian typeface="Microsoft YaHei"/>
              </a:rPr>
              <a:t>D2  谁拥有电信语义与任务适用性最终定义权？→跨线架构Owner；产品线仅域扩展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937760"/>
            <a:ext cx="566928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A2744"/>
                </a:solidFill>
                <a:latin typeface="Microsoft YaHei"/>
                <a:eastAsian typeface="Microsoft YaHei"/>
              </a:rPr>
              <a:t>D3  标准投入是否绑定参考实现与客户联署？→绑定；无代码与运营商问题不进P0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937760"/>
            <a:ext cx="566928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A2744"/>
                </a:solidFill>
                <a:latin typeface="Microsoft YaHei"/>
                <a:eastAsian typeface="Microsoft YaHei"/>
              </a:rPr>
              <a:t>D4  Agent自动动作允许到哪一级？→低风险有界执行；高风险仿真/灰度/回滚/接管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5577840"/>
            <a:ext cx="5669280" cy="59436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A2744"/>
                </a:solidFill>
                <a:latin typeface="Microsoft YaHei"/>
                <a:eastAsian typeface="Microsoft YaHei"/>
              </a:rPr>
              <a:t>D5  如何与云/数据平台分工？→掌握语义/任务适用性近源证据；湖仓Catalog模型开放合作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5577840"/>
            <a:ext cx="5669280" cy="594360"/>
          </a:xfrm>
          <a:prstGeom prst="roundRect">
            <a:avLst>
              <a:gd name="adj" fmla="val 12000"/>
            </a:avLst>
          </a:prstGeom>
          <a:solidFill>
            <a:srgbClr val="E8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0A2744"/>
                </a:solidFill>
                <a:latin typeface="Microsoft YaHei"/>
                <a:eastAsian typeface="Microsoft YaHei"/>
              </a:rPr>
              <a:t>D6  谁对跨路径数据主权执行负责？→治理与安全共有规则；引擎统一执行框架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08 关键AP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9F9A"/>
                </a:solidFill>
                <a:latin typeface="Microsoft YaHei"/>
                <a:eastAsian typeface="Microsoft YaHei"/>
              </a:rPr>
              <a:t>08  DO / DON'T / 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071F3D"/>
                </a:solidFill>
                <a:latin typeface="Microsoft YaHei"/>
                <a:eastAsian typeface="Microsoft YaHei"/>
              </a:rPr>
              <a:t>行动摘要与边界：把逻辑收束为可执行纪律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841248"/>
            <a:ext cx="11338560" cy="658368"/>
          </a:xfrm>
          <a:prstGeom prst="roundRect">
            <a:avLst>
              <a:gd name="adj" fmla="val 12000"/>
            </a:avLst>
          </a:prstGeom>
          <a:solidFill>
            <a:srgbClr val="07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900" b="1">
                <a:solidFill>
                  <a:srgbClr val="CAE85E"/>
                </a:solidFill>
                <a:latin typeface="Microsoft YaHei"/>
                <a:eastAsian typeface="Microsoft YaHei"/>
              </a:rPr>
              <a:t>本页论点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stAsian typeface="Microsoft YaHei"/>
              </a:rPr>
              <a:t>产业断言：6G Data Fabric不会以「大一统平台」胜出，而以「统一控制语义 + 分布式执行 + 场景化数据产品 + 有界智能」进入网络。中兴用控制点与证据竞争，而不是用平台名竞争。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691640"/>
          <a:ext cx="11338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840480"/>
                <a:gridCol w="3566160"/>
              </a:tblGrid>
              <a:tr h="47548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做什么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不做什么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stAsian typeface="Microsoft YaHei"/>
                        </a:rPr>
                        <a:t>遗留 / 待验证</a:t>
                      </a:r>
                    </a:p>
                  </a:txBody>
                  <a:tcPr anchor="ctr">
                    <a:solidFill>
                      <a:srgbClr val="071F3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升级AIR Net为C1–C4共用控制能力；两类产品验证复用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不另建覆盖所有湖仓/目录/模型/协议的大平台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内部资产范围、代码权属、跨线Owner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ZSM029+SA2/SA5建立语义/任务适用性/接口/测试话语权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不押注独立数据面名称；不以提案数代替采纳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Rel-20/21最终能力包与运营商联署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O1/O7/O8验证近源、可信自治与主权强制并设停止线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Fabric不进快环同步单点；Agent无证据不改网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站点开销、任务适用性增益、NDT误差、策略一致率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O6验证客户是否为场景结果付费；独立ROI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不因「建平台」预算先做重资产集成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0A2744"/>
                          </a:solidFill>
                          <a:latin typeface="Microsoft YaHei"/>
                          <a:eastAsian typeface="Microsoft YaHei"/>
                        </a:rPr>
                        <a:t>灯塔场景、持续使用、转版本/合同</a:t>
                      </a:r>
                    </a:p>
                  </a:txBody>
                  <a:tcPr anchor="t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11480" y="4297680"/>
            <a:ext cx="11338560" cy="1737360"/>
          </a:xfrm>
          <a:prstGeom prst="roundRect">
            <a:avLst>
              <a:gd name="adj" fmla="val 12000"/>
            </a:avLst>
          </a:prstGeom>
          <a:solidFill>
            <a:srgbClr val="FF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 bIns="54864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8A4C"/>
                </a:solidFill>
                <a:latin typeface="Microsoft YaHei"/>
                <a:eastAsian typeface="Microsoft YaHei"/>
              </a:rPr>
              <a:t>最终边界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A2744"/>
                </a:solidFill>
                <a:latin typeface="Microsoft YaHei"/>
                <a:eastAsian typeface="Microsoft YaHei"/>
              </a:rPr>
              <a:t>本胶片基于截至2026年8月的标准进度、公开产品与研究主张推演，不等于3GPP已采纳方案，也不构成中兴正式技术路线或市场承诺。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71F3D"/>
                </a:solidFill>
                <a:latin typeface="Microsoft YaHei"/>
                <a:eastAsian typeface="Microsoft YaHei"/>
              </a:rPr>
              <a:t>真正的趋势验证点：Rel-21规范文本 · 跨厂商互操作 · 现网闭环收益 · 可持续商业收入。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A738A"/>
                </a:solidFill>
                <a:latin typeface="Microsoft YaHei"/>
                <a:eastAsian typeface="Microsoft YaHei"/>
              </a:rPr>
              <a:t>完整论证与引用见：reports/6g-data-fabric-industry-trends-first-four-sections.html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510528"/>
            <a:ext cx="11338560" cy="12700"/>
          </a:xfrm>
          <a:prstGeom prst="rect">
            <a:avLst/>
          </a:prstGeom>
          <a:solidFill>
            <a:srgbClr val="DC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565392"/>
            <a:ext cx="8686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5A738A"/>
                </a:solidFill>
                <a:latin typeface="Microsoft YaHei"/>
                <a:eastAsian typeface="Microsoft YaHei"/>
              </a:rPr>
              <a:t>6G 数据架构 × 数据编织 · 结语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6565392"/>
            <a:ext cx="23774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071F3D"/>
                </a:solidFill>
                <a:latin typeface="Microsoft YaHei"/>
                <a:eastAsian typeface="Microsoft YaHei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