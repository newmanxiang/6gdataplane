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219456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49808" y="1234440"/>
            <a:ext cx="219456" cy="64008"/>
          </a:xfrm>
          <a:prstGeom prst="rect">
            <a:avLst/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2416" y="1234440"/>
            <a:ext cx="219456" cy="64008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35024" y="1234440"/>
            <a:ext cx="219456" cy="64008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09728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EB6E4"/>
                </a:solidFill>
                <a:latin typeface="Microsoft YaHei"/>
                <a:eastAsian typeface="Microsoft YaHei"/>
              </a:rPr>
              <a:t>产业战略研究 · 中兴通讯视角 · 非公司正式立场 · 研究截点 2026-08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15568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stAsian typeface="Microsoft YaHei"/>
              </a:rPr>
              <a:t>6G 数据架构 × 数据编织</a:t>
            </a:r>
          </a:p>
          <a:p>
            <a:pPr algn="l">
              <a:spcAft>
                <a:spcPts val="0"/>
              </a:spcAft>
            </a:pPr>
            <a:r>
              <a:rPr sz="2400" b="1">
                <a:solidFill>
                  <a:srgbClr val="CAE85E"/>
                </a:solidFill>
                <a:latin typeface="Microsoft YaHei"/>
                <a:eastAsian typeface="Microsoft YaHei"/>
              </a:rPr>
              <a:t>行业趋势与中兴战略定位 · 完整论证胶片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20440"/>
            <a:ext cx="1097280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DCE7F2"/>
                </a:solidFill>
                <a:latin typeface="Microsoft YaHei"/>
                <a:eastAsian typeface="Microsoft YaHei"/>
              </a:rPr>
              <a:t>核心问题：当6G同时成为数据生产者、AI载体、感知系统与自治执行体时，如何建立跨RAN/Core/管理域/边云的可信数据能力，并判断哪些能力将成为真正控制点。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EB6E4"/>
                </a:solidFill>
                <a:latin typeface="Microsoft YaHei"/>
                <a:eastAsian typeface="Microsoft YaHei"/>
              </a:rPr>
              <a:t>章节对齐 HTML：01需求 → 02行业竞争 → 03趋势T1–T8 → 04三/五年 → 05中兴定位 → 06机会 → 07策略 → 08关键AP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CAE85E"/>
                </a:solidFill>
                <a:latin typeface="Microsoft YaHei"/>
                <a:eastAsian typeface="Microsoft YaHei"/>
              </a:rPr>
              <a:t>本胶片为完整论证加深版（非预览摘要）：保留反证条件、证据分层、准入止损、阶段门、厂商深论证与验收指标。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852160"/>
            <a:ext cx="10972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锚点：ITU · 3GPP SA2/SA5 · O-RAN · ETSI ZSM 029　｜　公司：AIR Net · Fault Agent · CUDR · Co-Sight · Open Gateway QoD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309360"/>
            <a:ext cx="12801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AE85E"/>
                </a:solidFill>
                <a:latin typeface="Microsoft YaHei"/>
                <a:eastAsian typeface="Microsoft YaHei"/>
              </a:rPr>
              <a:t>01 / 34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00  READING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阅读逻辑：八章是一条因果链，不是八个平行清单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先回答「为何需要数据管理层、行业在抢什么」，再推出「趋势不变量与时间窗」，最后才落到中兴「定位—机会—策略—可验收AP」。跳过前四章，后四章会变成口号。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08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01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定义问题：可信供数与控制点；输出七个可交付判断与 R1–R8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0800" cy="2103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91840" y="1508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02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行业与竞争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范式转变、Fabric适配、成熟度、标准职责与 Ericsson/Huawei/Nokia 抢位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508760"/>
            <a:ext cx="50800" cy="2103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03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T1–T8 因果链：产品化→事件→两级部署→有界智能→证据→QoD→商业→能力集合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508760"/>
            <a:ext cx="50800" cy="2103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144000" y="1508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04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3年/5年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看透不变量；看清控制点复利；十条决策压缩判断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508760"/>
            <a:ext cx="50800" cy="2103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3794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05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证据 E0–E4 分层；C1–C4 控制点与开放边界；做/不做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94760"/>
            <a:ext cx="50800" cy="21031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3794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06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机会选择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六维加权；主攻 O2/O3/O1/O7/O8；配合项触发与资源配比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1840" y="3794760"/>
            <a:ext cx="50800" cy="21031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17920" y="3794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07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策略建议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策略1–11；Build/Partner/Buy；节奏、G0–G4、度量与风险台账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↓ 输出喂给下一章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794760"/>
            <a:ext cx="50800" cy="21031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44000" y="3794760"/>
            <a:ext cx="2788920" cy="2103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9F9A"/>
                </a:solidFill>
                <a:latin typeface="Microsoft YaHei"/>
                <a:eastAsian typeface="Microsoft YaHei"/>
              </a:rPr>
              <a:t>08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关键 AP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AP0–AP10；90天六输出；治理层级；D1–D6 公司裁决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→ 形成可验收行动包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0" y="3794760"/>
            <a:ext cx="50800" cy="210312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阅读逻辑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01  REQUIREMENT &amp; OBJECTIVE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需求和目标：不是再建平台，而是建立可信数据能力与控制点判断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本报告要解决的不是「是否再建一个数据平台」，而是：跨域可信数据能力如何建立，以及哪些能力会在标准与产业竞争中成为真正控制点。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08760"/>
            <a:ext cx="37033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需求1 · 识别架构范式变化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回答6G为何不能只沿用「会话连接 + 中央分析」；数据管理为何从后台支撑上升为 AI 原生、通感一体、数字孪生与自治闭环的共同底座。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0800" cy="20116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508760"/>
            <a:ext cx="37033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需求2 · 建立统一能力地图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用数据编织把目录、语义、质量、集成、编排、数据产品、安全和可观察组织成同一逻辑控制面；明确快环/慢环、控制面/执行面边界。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50800" cy="20116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703320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需求3 · 看清标准与竞争窗口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区分3GPP/O-RAN既定积木、Rel-20研究、Rel-21规范窗口、厂商候选架构与商业产品；避免把研究主张误判为标准结论，也避免错过语义与QoD话语权。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508760"/>
            <a:ext cx="50800" cy="20116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3657600"/>
            <a:ext cx="1143000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报告目标：形成八个可交付判断（七项产出 + 边界声明）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977639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1张范式图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解释连接架构如何演进为数据—智能—行动架构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3977639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1套能力栈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统一数据编织与6G数据生命周期，不重复造体系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977639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1个竞争矩阵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比较标准域与 Ericsson/Huawei/Nokia 等主张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977639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2个时间窗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3年看标准收敛与工程底座；5年看控制点与生态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07492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1个中兴定位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在「编织×6G」坐标系明确强弱与主攻位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507492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1组机会选择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按可达性×契合度筛主攻、中期押注与路标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7492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1张策略表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先做什么、后做什么、不做风险与组织抓手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5074920"/>
            <a:ext cx="2788920" cy="10058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边界声明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公开证据与内部路标建议分层；非正式产品承诺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01 需求和目标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01  EVIDENCE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研究对象是一条「事实—数据—智能—行动」证据链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目标不是搬运更多原始数据，而是让每次数据使用与网络动作都可解释、可约束、可验证、可回退。核心需求一句话：把数据从「网络运行副产物」升级为「可发现、可理解、可组合、可约束、可证明的生产要素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08760"/>
            <a:ext cx="22402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① 网络与环境事实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RAN · Core · 云
终端 · 感知 · 业务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508760"/>
            <a:ext cx="50800" cy="155448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057400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79192" y="1508760"/>
            <a:ext cx="22402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② 近源处理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过滤 · 聚合 · 特征
匿名 · 时间对齐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508760"/>
            <a:ext cx="50800" cy="155448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28032" y="2057400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8344" y="1508760"/>
            <a:ext cx="2240280" cy="15544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③ 数据编织逻辑控制面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目录·语义·QoD·血缘
契约·策略·版本·证据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38344" y="1508760"/>
            <a:ext cx="50800" cy="1554480"/>
          </a:xfrm>
          <a:prstGeom prst="rect">
            <a:avLst/>
          </a:prstGeom>
          <a:solidFill>
            <a:srgbClr val="CAE8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87184" y="2057400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7496" y="1508760"/>
            <a:ext cx="22402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④ 智能与孪生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训练 · 推理 · NDT
意图 · 策略 · 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97496" y="1508760"/>
            <a:ext cx="50800" cy="155448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46336" y="2057400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56648" y="1508760"/>
            <a:ext cx="2240280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⑤ 行动与反馈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控制 · 开放 · 变现
效果 · 回滚 · 审计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56648" y="1508760"/>
            <a:ext cx="50800" cy="155448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11430000" cy="64008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071F3D"/>
                </a:solidFill>
                <a:latin typeface="Microsoft YaHei"/>
                <a:eastAsian typeface="Microsoft YaHei"/>
              </a:rPr>
              <a:t>控制面统一的是理解与约束，不是所有存储与时延。近源执行与快环保持分布式；否则 AI 原生只会把数据孤岛与错误动作自动化。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406908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AI原生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训练/验证/部署/监控/回滚依赖版本一致；AI错误升级为网络动作风险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06240" y="406908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通感一体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ISAC产生高敏感数据；近源最小化、用途绑定、置信度成产品属性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406908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边云一体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算力与数据位置共同决定架构；快环不能依赖远端目录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" y="516636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数字孪生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NDT需关联拓扑/配置/遥测/模型；无事件时间与血缘则不可作证据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06240" y="516636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跨域自治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多Agent目标冲突；需意图分解、风险预算、租约、熔断与接管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5166360"/>
            <a:ext cx="370332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生态开放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Open Gateway推动API；变现取决于跨网一致语义、计量与工作流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01 需求和目标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01  R1–R8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六类场景反推：数据管理层八项刚性需求（含验收口径）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数据管理层目标由此明确：不是建更大的数据池，而是建立跨域、跨时标的「数据供应与行动证据控制系统」——允许执行分布在RAN/Core/边云，同时统一语义、质量、策略与责任。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463040"/>
          <a:ext cx="1152144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400800"/>
                <a:gridCol w="2743200"/>
              </a:tblGrid>
              <a:tr h="528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需求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刚性内容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验收口径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R1 统一发现与语义寻址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消费者要知道对象、时间、空间、配置版本、业务含义与权威源；RAN小区/E2/O1 DN/Core会话/云资源可关联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跨域对象映射率、语义版本覆盖率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R2 按需采集与近源减量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ISAC/UE测量/高频遥测不能默认全量上送；按SLO编排采样、过滤、聚合、特征、匿名；决定数据移动或模型下沉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重复采集下降率、跨域字节/有效任务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R3 跨时标多模式交付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亚10ms内环、Near-RT、Non-RT/OAM与月度训练不能共享同一在线依赖；支持本地状态/流/CDC/批/联邦/缓存/异步制品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分时标P99、新鲜度与截止期达标率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R4 通信级数据质量QoD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除完整性与新鲜度外：采样代表性、对象/频段/波束覆盖、时间同步误差、配置一致性、测量置信度、训练—服务偏差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质量信封覆盖、suspect/incomplete比例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R5 数据—模型—策略—动作血缘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每个结论与动作可追溯到输入、特征、模型版本、策略、作用域与结果；反馈反向修正采集/质量/模型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端到端证据链覆盖率、回放成功率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R6 用途、安全与主权强制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身份、同意、目的限制、驻留、保留、删除贯穿查询/API/导出/特征库/向量索引/模型训练，而非只在目录挂标签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跨路径策略一致率、删除传播时长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R7 有界智能与冲突治理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多Agent/模型/闭环可能争夺资源；提供身份、委托、风险预算、动作租约、冲突仲裁、仿真、熔断与人工接管证据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越权拦截、无效动作率、回滚耗时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 数据产品与跨组织运营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输出需Owner、契约、QoD、用途、SLO、成本与退出；衔接CAMARA/Operate API、数据空间合同与计量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复用消费者数、契约合规与单位收入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01 需求和目标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INDUSTRY WINDOW · PARADIGM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行业窗口：愿景已定、研究展开、规范未冻、厂商抢位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ITU已给IMT-2030框架；Rel-20推进6G研究，Rel-21将成为首个规范性6G Release。6G变化不是「多一个数据湖」，而是几乎每个域同时生产/消费数据、运行模型并执行动作——从连接中心转向数据理解、策略与证据层。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08760"/>
            <a:ext cx="5577840" cy="457200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5G / 5G-A 主导范式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中心叙事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连接、会话、网络功能与暴露；分析集中在 NWDAF / MDA / 湖仓。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数据角色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RAN/Core 主要上送测量与流量；管理域做报表与优化建议。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局限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中央分析难覆盖多时标、多主体与动作风险；权威对象与语义分散；数据多为运行副产物，而非可运营产品。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范式变化不是取消网络功能，而是给分布式网络增加统一的数据理解、策略与证据层。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577840" cy="457200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AE85E"/>
                </a:solidFill>
                <a:latin typeface="Microsoft YaHei"/>
                <a:eastAsian typeface="Microsoft YaHei"/>
              </a:rPr>
              <a:t>6G 数据—智能原生范式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域角色升级为 prosumer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RAN：无线事实/ISAC/本地AI　｜　Core：意图/会话/暴露
边云：训练/推理/孪生　｜　SMO/RIC：跨时标策略与闭环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CAE85E"/>
                </a:solidFill>
                <a:latin typeface="Microsoft YaHei"/>
                <a:eastAsian typeface="Microsoft YaHei"/>
              </a:rPr>
              <a:t>可信数据管理层</a:t>
            </a:r>
          </a:p>
          <a:p>
            <a:pPr algn="l">
              <a:spcAft>
                <a:spcPts val="80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语义 · QoD · 契约 · 策略 · 证据
统一理解与约束，不统一所有存储与时延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Nokia 亦把 data prosumer、目录、抽象、产品与生命周期列为 AI-native 6G 使能能力。右侧为本文综合，不是 3GPP 既定统一架构。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DATA FABRIC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Data Fabric 能否满足 R1–R8？总体适配，必须通信级增强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数据编织不是6G新增网元，而是跨异构分布式环境的数据管理与集成设计：以主动元数据、语义、质量、策略和编排构成逻辑控制面。它可做6G数据管理层设计骨架，但不能原样进入通信网，更不能成为毫秒快环的远端在线依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623560" cy="12344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结论：架构机制总体适配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数据分布但元数据统一、控制与执行分离、多模式集成、主动元数据、数据产品与贯穿治理 → 对应 R1/R2/R3、R5、R8、R6；尤其适合 Non-RT/管理域、跨域供给及快环的环外支撑。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800" cy="123444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463040"/>
            <a:ext cx="5623560" cy="123444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但必须通信级增强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通用Fabric缺RAN对象与时空语义、无线QoD、亚秒时标隔离、动作安全、NDT证据门槛和多Agent冲突治理；不能替代RAN协议、SA2/SA5功能或O-RAN接口。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463040"/>
            <a:ext cx="50800" cy="1234440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880360"/>
          <a:ext cx="1152144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017520"/>
                <a:gridCol w="914400"/>
                <a:gridCol w="5577840"/>
              </a:tblGrid>
              <a:tr h="37084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6G需求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Fabric原生机制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适配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必须补齐的通信扩展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R1 发现与语义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目录、KG、血缘、主动元数据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O1/E2/Core/云对象统一、事件时间、配置版本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R2 近源减量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联邦查询、策略编排、计算下推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DU/CU/MEC可移植算子、实时资源预算、断链策略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R3 跨时标交付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批/流/CDC/API/缓存多模式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按闭环时标隔离；本地确定性路径不依赖远端控制面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R4 通信QoD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质量规则、Profiling、SLO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部分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时空代表性、无线误差、同步/配置/采样质量信封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R5 证据链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数据/模型血缘、元数据事件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模型—策略—动作—网络效果闭环血缘与回放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R6 安全主权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身份、策略即代码、用途审计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中高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跨路径强制、ISAC隐私、撤销/删除到缓存与模型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R7 有界智能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策略、工作流、推荐与自动化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不足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Agent身份、动作租约、冲突仲裁、NDT预演、熔断回滚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708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 产品运营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数据产品、契约、Marketplace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网络QoD计量、CAMARA/TMF运营接口、结果定价与责任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CAPABILITY STACK &amp; MATURITY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能力栈与成熟度：基础组件成熟，通信级控制闭环未成熟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不能因为目录、湖仓或流平台已商用，就宣称「6G Data Fabric成熟」。L1–L3大多可买可建；真正决定Fabric是否成立的L4主动元数据、L5产品化、R7有界智能和跨路径横切治理仍处试点或研究阶段——总体 G1—G2、局部 G3。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17320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L6  业务、生态与网络行动　｜　网络API·行业数据空间·RAG/Agent·运营闭环·自动控制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传统消费高；受治Agent低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5760" y="2075688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L5  数据产品与可信自助　｜　产品目录·契约·语义指标·QoD/SLO·计量与价值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试点增多；跨域语义偏弱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075688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2734056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L4  主动元数据与智能控制面　｜　目录·血缘·RAN/Core语义·策略·推荐·影响分析·自动化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被动目录成熟；主动闭环中等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34056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392424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L3  集成编排与跨时标平面　｜　批/CDC/流·联邦·O1/E2/A1/R1适配·缓存·工作流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中高；多接口统一语义不足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92424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4050791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L2  近源处理、运行时与存储　｜　DU/CU/MEC·SMO/Non-RT·湖仓·特征/向量/图·NDT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组件高；跨域编排中等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050791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709159"/>
            <a:ext cx="7589520" cy="62179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L1  分布式权威数据源　｜　UE·RU/DU/CU·RIC·Core NF·O-Cloud·OSS/BSS·ISAC/NTN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数据存在；权威语义分散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709159"/>
            <a:ext cx="50800" cy="621792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38160" y="1417320"/>
            <a:ext cx="3657600" cy="4617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71F3D"/>
                </a:solidFill>
                <a:latin typeface="Microsoft YaHei"/>
                <a:eastAsian typeface="Microsoft YaHei"/>
              </a:rPr>
              <a:t>组织落地闸门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G0 边界与语义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场景、Owner、对象、时间、配置、权威源与用途明确；否则自动化只传播歧义。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G1 只读可观察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目录/Schema/QoD/血缘可查询，先证明能回答「哪份数据对应哪个网络状态」。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G2 产品与契约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高频输出产品化；契约进CI；消费者、成本、复用与退出可度量。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G3 影子闭环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只给建议，对照人工与真实结果；高风险先在孪生/沙箱演练。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G4–G5 有界自治与跨域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白名单低风险自动执行；内部证据稳定后再向Core/行业/伙伴供给。</a:t>
            </a:r>
          </a:p>
          <a:p>
            <a:pPr algn="l">
              <a:spcAft>
                <a:spcPts val="0"/>
              </a:spcAft>
            </a:pPr>
            <a:r>
              <a:rPr sz="1000" b="1">
                <a:solidFill>
                  <a:srgbClr val="FF8A4C"/>
                </a:solidFill>
                <a:latin typeface="Microsoft YaHei"/>
                <a:eastAsian typeface="Microsoft YaHei"/>
              </a:rPr>
              <a:t>结合原则：Fabric不应进入所有实时关键路径。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KEY CHALLENGES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适配性论证后的剩余挑战：从通用架构走向通信级控制系统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挑战不是对 Data Fabric 适配性的否定，而是通信级控制系统必须补齐的工程与治理门槛。能力演进不是「平台越大越先进」，而是控制面逐步主动化：被动采集→可观察→可产品化→影子闭环→有界自治。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63040"/>
          <a:ext cx="11612880" cy="4709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291840"/>
                <a:gridCol w="3383280"/>
                <a:gridCol w="2834640"/>
              </a:tblGrid>
              <a:tr h="52324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关键技术挑战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为何在6G更难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关键突破点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错误路线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跨域语义与身份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 DN、E2、Core会话、切片、云与业务实体标识体系不同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版本化对象模型、Correlation ID、语义映射与权威源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把接口互通等同语义统一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RAN数据QoD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采样代表性、时空粒度、配置版本直接影响模型与闭环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质量信封：覆盖、时效、同步误差、suspect、配置一致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只统计记录数或PB规模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快环/慢环协同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从亚10ms到月度训练跨越多个数量级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本地快环、异步元数据、分层缓存、模型/策略制品同步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让远端目录成为在线依赖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模型—数据—动作证据链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模型输出可直接改网；训练服务偏差扩大故障半径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版本绑定、NDT预演与效果回流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只管模型仓库，不管数据与动作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Agent治理与冲突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多域Agent目标、权限与时限不同，局部最优伤害全局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IPOE、租约、冲突仲裁、人工接管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把自然语言界面当作自治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数据主权与隐私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ISAC/位置/终端/行业数据敏感；跨组织用途难持续强制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近源最小化、用途策略、可信执行、删除传播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以接口加密替代全生命周期治理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多厂商互操作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接口可标准化，目录/QoD/策略/模型/Agent语义仍可能锁定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开放元数据事件、数据契约、可移植运行时、一致性测试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把单厂商端到端等同开放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324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单位经济性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高频遥测、跨云传输、训练与孪生能耗可能吞噬收益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近源减量、按消费者SLO采集、成本/能耗纳入编排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默认采集越多越好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09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STANDARDS LANDSCAPE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标准竞争：谁定义来源、语义、质量、发现、处理、暴露、安全与行动边界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当前职责分散且互补：RAN定义无线事实与接口；SA5管理数据与AI/NDT生命周期；SA2研究系统级6G数据框架；O-RAN开放RAN管理与智能控制；TM Forum/GSMA/CAMARA连接自治运营与商业暴露。竞争本质不在新网元名称，而在跨域语义、QoD、可信执行和生态分发能否形成复利。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63040"/>
          <a:ext cx="116128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657600"/>
                <a:gridCol w="3200400"/>
                <a:gridCol w="2743200"/>
              </a:tblGrid>
              <a:tr h="522514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标准域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当前可确认进展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对6G Data Fabric贡献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不能扩大化为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ITU-R IMT-2030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M.2160已生效；六类场景及泛在智能/通感/孪生趋势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给出6G目标与能力边界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未定义「6G数据编织」网元或接口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3GPP Rel-20 / Rel-21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Rel-20以研究为主；Rel-21首个规范性6G Release，Stage2计划2028-06冻结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2026–2028是架构收敛与标准输入窗口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Rel-20研究文本不是最终规范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3GPP SA2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TR 23.801-01仍为Draft；KI#21=6G data framework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研究系统级发现、采集、处理、存储、暴露等候选能力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不预判统一框架/网元，不主导RAN内部协议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3GPP RAN / SA5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SA5已有PM/CM/FM/Trace、MDA、AI/ML、NDT管理；Rel-20 Draft TR研究DMFW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无线事实、管理数据、模型/孪生生命周期主锚点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Draft≠规范性TS；SA5不是毫秒级RAN总线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O-RAN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WG2 Non-RT/A1/R1；WG3 Near-RT/E2；WG10 O1/OAM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按时标提供RAN数据、策略、模型与动作通道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不是跨O1/O2/A1/E2/R1统一语义总线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TMF / GSMA / CAMARA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AN等级、AI/数据治理、Open Gateway与Operate API认证推进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把受治理网络能力包装为可运营、可计量、可聚合产品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不定义无线快环或内部数据处理实现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65760" y="5303520"/>
            <a:ext cx="11430000" cy="86868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证据分层纪律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「已有运营商部署」≠「已形成跨域统一Fabric」；「厂商已发布产品」≠「已广泛商用」；「标准贡献进Draft TR」≠「形成规范性TS」。产品、参考架构、标准输入、原型与愿景必须分别判断。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VENDOR · ERICSSON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Ericsson：以联邦数据管理连接网络自动化与 API 生态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路线特征是演进式、平台组合式：从「采集一次、授权复用」扩展到 AI-ready data mesh 与 6G common data plane。不会押注单一新网元，更可能用平台组合占据数据—自动化—API链路；但尚无中立证据证明已组合成跨域统一 Fabric。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6858000" cy="3383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架构主线：数据摄取 → 联邦网格 → 智能平台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2021：源数据进EDCA；DRG跨边界中继；DDC与Global Data Catalog协同形成联邦数据湖，解决重复采集。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2026 AI-ready data mesh：数据源→摄取→refinement &amp; governance→consumer support；强调计算靠近数据、按产品与授权复用。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6G愿景 common data plane：采集/传输/潜在存储与治理；模型编排器选择「数据到智能」或「智能到数据」——是厂商愿景，不是3GPP标准。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成熟度分层（关键）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Swisscom等合同证明EIAP进入运营网络；Mediation/Telco DataOps有成熟采集加工（如Grameenphone日超60亿条记录）。这些数字不证明 mesh/EFDL/common data plane 已同规模统一产品化。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389120" cy="338328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锚点与判断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商用：NWDAF、EIAP/rApps、CCES、2025 Telco DataOps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架构：AI-ready mesh、EFDL、摄取架构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愿景：Common Data Plane / intelligent fabric</a:t>
            </a:r>
          </a:p>
          <a:p>
            <a:pPr algn="l">
              <a:spcAft>
                <a:spcPts val="8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生态：Aduna聚合CAMARA（独立合资）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优势控制点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运营商关系 + SMO/RIC应用 + Core/API + 集成平台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关键短板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名称多；缺跨域统一Fabric中立证据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983480"/>
            <a:ext cx="11430000" cy="11887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ricsson-data-ingestion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74920"/>
            <a:ext cx="1589227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5212080"/>
            <a:ext cx="521208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图｜Ericsson Data Ingestion Architecture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EDCA汇集源数据，经DRG跨域转发；DDC与Global Data Catalog支持外部应用与联邦湖。研究引用图，版权归Ericsson。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VENDOR · HUAWEI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Huawei：以专用数据面研究连接全栈智能与 Agent 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路线特征是研究架构激进、产品桥梁广：DO/DA/DCP提出独立数据协作逻辑，AUTINOps提供当前部署证据。不宜复制命名，应识别其背后的可组合算子、数据QoD与异步分发需求；研究架构≠现网产品≠标准共识。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6858000" cy="3246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架构主线：服务需求 → 数据拓扑 → 近源执行 → 异步分发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DO将服务需求拆成采集/过滤/聚合/转换/分析，依据DA/DPF能力形成任意拓扑；DA既可作源也可承载模型处理；DCP以消息代理/队列/PubSub分发非连接类数据。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直接回应AI/ISAC多输入多处理多输出；含与RocketMQ的原型比较。技术价值与标准状态必须分开：不证明必须引入独立Data Plane或名称会进3GPP。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· DCP实验：单机转发约2ms、相对RocketMQ平均降&gt;65%；但移除持久化而对照开启持久化，非同功能公平比较；顺序/容灾/多租户等未达运营商级证据→成熟度=研究原型。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商用桥梁 AUTINOps / IOH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跨无线/微波/IP/传输/能源；故障一次闭环率80%、MTTR-15%、年Agent调用&gt;200万——证明部署，不证明6G专用Data Plane商用。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463040"/>
            <a:ext cx="4389120" cy="324612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分层锚点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部署：AUTINOps/IOH跨域案例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产品桥：AI Core/AgenticCore、Digital Map、Open Gateway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研究：DO/DA/DCP、NET4AI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标准输入：DMFW、Data QoS、Agent Fabric、NDT sandbox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优势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全栈覆盖：RAN—Core—IP—Cloud—AI—终端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短板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联合披露 vs 独立审计；研究/产品/标准仍有距离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892040"/>
            <a:ext cx="11430000" cy="12801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huawei-6g-data-plane-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983480"/>
            <a:ext cx="2042809" cy="10972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60720" y="5074920"/>
            <a:ext cx="5760720" cy="9601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图｜Huawei提出的6G Data Plane（厂商研究架构，非3GPP既定方案）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DO编排数据拓扑；DA/DPF近源执行；DCP/Data Spine以Pub/Sub解耦生产者与消费者。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12 / 34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VENDOR · NOKIA &amp; ADJACENT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Nokia 产品化最清晰；云/湖仓/API 控制外层入口；尚无绝对领先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Nokia证明 Data Fabric 已从白皮书进入可售产品，不能再仅作旁注；但命名客户与广泛跨域生产闭环证据仍有限。云与数据平台争夺Catalog/模型/工具，难独代RAN语义与动作安全。现阶段最稳健断言：产业确认「需要哪些能力」，仍在竞争「以什么架构组合、由谁控制、怎样证明价值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17320"/>
            <a:ext cx="4023360" cy="2880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Nokia：域自治 → 公共Fabric → 数据产品 → 解释性自动化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AN Fabric + Data Suite：统一数据管理、可观察、telco AI、安全与自动化；TM Forum语义与多厂商适配。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域证据：KDDI/stc/Indosat证明域应用，不能替代跨域统一生产闭环证据。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规模信号为匿名厂商数据，非独立审计。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417320"/>
            <a:ext cx="3200400" cy="2880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okia-autonomous-network-fab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554480"/>
            <a:ext cx="3017520" cy="26060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863840" y="1417320"/>
            <a:ext cx="3931920" cy="28803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相邻竞合者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云：控制运行时/模型/开发者；Telecom Data Fabric多为Private Preview。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湖仓：可替换后端，缺RAN快环与动作安全。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API渠道：聚合/计费倒逼内部产品化与行为一致。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共识已形成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分布式接入、近源、统一语义/QoD、产品化，并与AI/Agent和闭环证据关联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标准未冻结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独立数据面/新NF/增强既有/混合均未定型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51959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产品先于6G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EIAP/AUTINOps/AN Fabric用5G-A/OAM验证部分能力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51959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19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成熟度不均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采集湖仓流目录成熟；主动元数据/QoD/Agent/高风险闭环仍G1—G3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19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83879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竞争跨层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设备商争语义执行；云争运行时；聚合商争渠道；运营商争主权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83879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149840" y="4572000"/>
            <a:ext cx="1901952" cy="1554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尚无绝对领先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无中立证据证明任一家多运营商多厂商广泛部署完整跨域Fabric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49840" y="4572000"/>
            <a:ext cx="50800" cy="155448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02 行业环境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TREND CAUSAL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产业趋势：T1–T8 是因果链，不是八个平行产品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数据越分布，越需要元数据事件；机器消费越多，越需要显式语义与契约；自动化权限越大，越需要策略、证明和可回滚性；跨组织流通越多，越需要数据空间式信任与商业运营。产业断言：不会以大一统平台胜出，而以「统一控制语义 + 分布式执行 + 场景化数据产品 + 有界智能」进入网络。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508760"/>
            <a:ext cx="2240280" cy="10972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分布式数据生产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RAN/Core/Edge/ISAC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874519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79192" y="1508760"/>
            <a:ext cx="2240280" cy="10972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元数据事件化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发现变化与影响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28032" y="1874519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8344" y="1508760"/>
            <a:ext cx="2240280" cy="10972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语义与产品契约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机器可理解可组合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7184" y="1874519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97496" y="1508760"/>
            <a:ext cx="2240280" cy="10972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智能/Agent行动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建议→低风险执行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46336" y="1874519"/>
            <a:ext cx="256032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FF8A4C"/>
                </a:solidFill>
                <a:latin typeface="Microsoft YaHei"/>
                <a:eastAsian typeface="Microsoft YaHe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756648" y="1508760"/>
            <a:ext cx="2240280" cy="10972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可信控制与生态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CAE85E"/>
                </a:solidFill>
                <a:latin typeface="Microsoft YaHei"/>
                <a:eastAsian typeface="Microsoft YaHei"/>
              </a:rPr>
              <a:t>策略·证明·回滚·计量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2834640"/>
            <a:ext cx="57150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工程主线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从管道到事件化控制面：批/流/虚拟化继续存在，差异化转向元数据激活、跨接口语义、QoD、影响分析与策略强制。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834640"/>
            <a:ext cx="57150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标准主线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从研究问题到规范能力包：Rel-20验证候选，Rel-21选最小可标准化集合；统一网元概率低于统一语义/接口/流程概率。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434840"/>
            <a:ext cx="57150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产品主线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从平台功能到场景闭环：客户不为「数据湖规模」买单，而为故障定位、能耗、移动性、QoE、模型泛化与开放收入的可测结果买单。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434840"/>
            <a:ext cx="5715000" cy="14630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F9F9A"/>
                </a:solidFill>
                <a:latin typeface="Microsoft YaHei"/>
                <a:eastAsian typeface="Microsoft YaHei"/>
              </a:rPr>
              <a:t>竞争主线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从设备份额到控制点份额：谁掌握数据语义、QoD、近源运行时、模型/策略证据链和API渠道，谁更可能获得软件与生态复利。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03 产业趋势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T1–T2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产品化与事件化控制面：数据如何被消费与感知变化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T1把输出从原始流升级为带消费者与SLO的数据产品；T2把目录从定期盘点升级为驱动影响分析、契约测试与策略复核的事件网络。二者共同构成可信控制面的输入侧。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T1 · 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网络数据从「采集对象」变为「可运营产品」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价值计量单位将从表、Topic和PB，转为满足明确消费者与SLO的数据产品。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为何成立：AI、NDT和跨域自动化需要稳定契约，而非一次性取数。Nokia Data Suite已把电信语义、血缘、质量和多厂商数据包装为可复用产品；Ericsson AI-ready mesh强调按产品与授权复用；Open Gateway从消费侧要求跨运营商一致行为。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因此：跨域默认输出将转向事件、聚合指标、特征、模型输入与分析服务；每个产品必须携带对象范围、事件时间、语义版本、QoD、用途、保留期、成本和Owner。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落地：先在移动性、节能、故障、QoE和模型训练形成少量高复用产品；用消费者数、契约合规、重复采集减少和单位有效任务成本评价。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领先信号：厂商Data Suite、开放契约、产品目录进入平台基线　｜　反证：只有Marketplace页面无Owner/SLO/退出；长期无人消费仍重复采集。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T2 · 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元数据事件化成为可信控制面的输入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目录将从「定期盘点」升级为感知结构、配置、质量、权限、成本和模型变化的事件网络。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成立：模型与Agent直接消费网络数据时，目录延迟数小时意味着错误结构、过期配置或权限变化进入生产决策。只有把Schema、拓扑、配置、QoD、血缘和使用行为形成事件，才能触发影响分析、契约测试、策略复核和发布闸门。OpenLineage等已验证工程可行性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6G特殊性：元数据事件还需包含小区/波束/频段、配置版本、事件时间与模型/动作作用域——比企业IT表字段血缘更接近「网络状态证据」。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落地：跨O1/E2/A1/R1和Core统一事件标识与Correlation ID；高风险事件先阻断/审批，低风险自动生成测试或建议；事件总线不能成为快环同步依赖。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领先信号：血缘/配置/QoD变更自动触发CI与策略检查　｜　反证：目录更新仍靠人工扫描，变更后才由事故发现。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03 产业趋势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T3–T4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两级部署与有界智能：如何执行、如何与 Agent 耦合而不失控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T3回答部署形态：集中协调与分布执行并存。T4回答智能边界：数据/特征/模型/工具/Agent/策略目录互相引用，但责任不混成无边界「大脑」；快环保留确定性执行。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T3 · 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边缘子Fabric与两级控制将成为主流部署形态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全局控制面管理语义和策略，本地子Fabric保证时限、自治和断链生存。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为何：RAN快环、MEC、专网和NTN无法依赖远端联邦查询；跨域训练、策略与治理又需全局一致。Ericsson动态放置、Nokia域湖仓+公共Fabric、Huawei近源算子——三条路线部署原则趋同。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形态：更可能是「SMO/Non-RT全局控制 + RAN/Edge局部执行」：全局下发版本化模型、策略和数据产品定义，本地执行过滤、特征、推理与受限动作，并异步回传证据。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落地：明确&lt;10ms、Near-RT、Non-RT和训练时标的在线依赖清单；子Fabric支持断链运行、缓存保留、冲突合并和版本回退。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风险：过度中央化→时延/单点；过度分散→语义与策略漂移。反证：所有查询/审批必须经中心，或各域无法共享语义。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T4 · 中高确定性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Data Fabric与AI/Agent Fabric耦合，但不合并成无边界大脑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编排对象从数据管道扩展为数据—模型—算力—动作组合；耦合核心是共同证据图。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为何：AI原生要求训练/验证/部署/推理共同访问可信数据；Agent执行还需工具目录、身份和委托权限。3GPP分别研究Network for AI、AI for Network、数据框架与计算支持。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责任边界：数据有用途/保留责任，模型有性能/漂移责任，Agent有身份/权限/动作责任——不能混成一个系统。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落地：关联数据产品、特征、模型、提示、工具、策略、动作与结果版本；采用IPOE约束Agent运行时；先在OAM/Non-RT辅助与低风险动作落地。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领先信号：数据/模型/Agent目录可关联，权限与审计跨工具传播。反证：只有聊天入口，无身份、作用域和动作证据。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03 产业趋势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T5–T6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证据闸门与 QoD：如何证明动作安全、如何计量无线数据可用性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T5把NDT从规划可视化推向高风险闭环的强制证据；T6把竞争从连接器数量转向通信级数据可信度。二者决定自动化能否扩大权限、模型与闭环能否被验收。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T5 · 中高确定性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NDT由规划工具走向高风险闭环的证据闸门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竞争点从可视化与仿真规模，转向能否为生产动作提供可量化的反事实证据。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为何：网络自治提高后，直接在现网试错不可接受。NDT可在动作前复现拓扑、配置、流量、故障与策略，验证候选动作收益、冲突和副作用。SA5已有NDT管理规范与Rel-20增强研究。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关键边界：孪生不是数学意义上的安全证明。只有输入快照、模型版本、同步滞后、覆盖场景、预测误差和生产回放都可量化，孪生结果才可成为放行动作的证据。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落地：为每类闭环定义保真度、最大同步滞后和可接受误差；「孪生通过」须与灰度、风险预算、熔断和人工接管组合；超过误差门槛退回建议模式。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验证指标：同步滞后、预测误差、场景覆盖、生产回放一致。反证：只有可视化模型，无误差门槛与生产反馈。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T6 · 中高确定性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QoD将成为6G数据标准与产品竞争的核心标尺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无线数据可用性由「在哪个网络状态、以何种采样和误差产生」决定，不能只用完整性和新鲜度描述。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为何：同一KPI在不同小区、频段、波束、UE群、配置版本和采样窗口下不可直接比较；训练数据量很大也可能因覆盖偏差导致模型失效。Huawei提出Data QoS，Nokia强调有效性与电信语义，Ericsson强调质量与生命周期。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演进预期：QoD会先以厂商契约和场景指标出现，再逐步收敛公共属性；短期难形成覆盖所有数据族的单一评分。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落地：按数据族定义质量信封而非一个总分；把采样覆盖、时空代表性、同步、配置、标签来源和训练—服务偏差纳入；与产品SLO、模型验收和动作风险绑定。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反证：只统计记录量、接口成功率或单一完整性分数。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03 产业趋势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T7–T8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商业分层与标准化形态：如何变现、标准会冻结什么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T7说明外部API成功取决于内部产品化；T8说明需求会留下，但拓扑与网元名称未必留下——应跟踪能力语义与接口，不押注厂商网元命名。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T7 · 中等确定性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内部Data Fabric、数据空间与网络API将形成分层商业链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内部数据治理解决「可信生产」，网络API解决「标准消费」，Operate API和聚合渠道解决「规模运营」。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为何：CAMARA把QoD/位置验证等包装为开发者API；TM Forum Operate API支持伙伴入驻、目录和用量；Aduna/CPaaS/云市场负责跨运营商分发。外部一致性最终依赖内部对象语义、QoD、权限、血缘和计量。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数据空间提供可验证身份、合同协商和用途控制，可补上跨组织交换信任层，但不适合直接进入RAN快环。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落地：先产品化内部数据/分析服务，再映射CAMARA或行业API；计价从每次调用走向交易、会话或业务结果；成功取决于多运营商覆盖、行为一致、责任与撤销机制。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反证：API数量增加但无跨网一致、活跃开发者和收入。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T8 · 低—中确定性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专用数据面概念可能被标准化为「能力集合」，而非固定新网元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需求留下，拓扑和名称未必留下：发现、编排、处理、Pub/Sub、存储、暴露与治理可能分布到新旧功能中。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为何：SA2 KI#21明确研究数据发现/采集/处理/存储/暴露，但不要求所有用例共享同一组NF/服务/流程；SA5研究管理侧框架；Huawei DO/DA/DCP只是候选原型。3GPP通常在复用既有能力、引入新功能与复杂度之间折中。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因此：更可能收敛的是能力、信息模型、生命周期和接口行为；部署上可由增强DCCF/ADRF/NWDAF/MDA、SMO服务、边缘Agent或新NF组合实现。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落地：标准跟踪聚焦能力语义与接口，不押注某个厂商网元名称；产品采用可插拔运行时与多后端；若独立平面增加时延、状态和治理重复，应退回能力增强方案。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反证：3GPP明确冻结独立统一数据平面及必选NF。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03 产业趋势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04  3-YEAR / 5-YEAR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3年看透不变量，5年看清控制点复利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「看透」指在标准冻结前看透不会改变的底层需求与可验证能力；「看清」指到首批6G商用准备期，看清真正形成产品控制点、生态分工和商业闭环的路线。最终验证点：Rel-21文本、跨厂商互操作、现网闭环收益与可持续收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669280" cy="46634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71F3D"/>
                </a:solidFill>
                <a:latin typeface="Microsoft YaHei"/>
                <a:eastAsian typeface="Microsoft YaHei"/>
              </a:rPr>
              <a:t>未来 1–3 年 · 看透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标准窗口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Rel-21于2027确定包与Stage 1，2028完成Stage 2/3主要冻结；数据框架从候选功能向最小规范集合收敛。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工程底座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元数据事件、跨O1/E2/A1/R1对象映射、RAN QoD、数据契约和模型/动作血缘成为领先试点基线。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产品形态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SMO/Non-RT数据能力、近源处理运行时、NDT预演、受治理RAG/Agent先以外挂或增强组件落地，不会一次性重构全网。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竞争焦点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厂商继续提交统一框架/数据面/Agent Fabric主张，但市场将用现网闭环收益和多厂商互操作过滤营销。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F9F9A"/>
                </a:solidFill>
                <a:latin typeface="Microsoft YaHei"/>
                <a:eastAsian typeface="Microsoft YaHei"/>
              </a:rPr>
              <a:t>商业现实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Open Gateway供给侧与认证趋于成熟，瓶颈转向行业工作流、跨运营商行为一致和结果定价。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577840" cy="466344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CAE85E"/>
                </a:solidFill>
                <a:latin typeface="Microsoft YaHei"/>
                <a:eastAsian typeface="Microsoft YaHei"/>
              </a:rPr>
              <a:t>未来 3–5 年 · 看清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架构落位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控制面集中协调、数据/算力分布执行成为主形态；独立数据面是否存在不再重要，能力是否可组合和可证明更重要。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智能边界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低风险网络动作进入有界自治；高风险动作形成「策略—孪生—灰度—回滚—证据」强制路径；全面无人治理仍不可信。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产业分层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设备商控制网络语义与近源执行；云/数据平台控制模型与开发工具；聚合商控制API分发；运营商要求数据主权和可替换性。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价值产品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移动性、节能、故障、QoE、模型生命周期及ISAC行业数据形成可计量产品；原始数据出售不成为主模式。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5EB6E4"/>
                </a:solidFill>
                <a:latin typeface="Microsoft YaHei"/>
                <a:eastAsian typeface="Microsoft YaHei"/>
              </a:rPr>
              <a:t>胜负手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多厂商语义映射、QoD标准、Agent可信运行时、NDT证据门槛和跨域产品运营能力形成长期壁垒。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04 3年/5年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19 / 34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04  TEN JUDGEMENTS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十条趋势判断：对 T1–T8 的决策压缩（不是另起三条）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十条用于决策筛选：高确定性应进入工程与标准基线；中高/中等确定性进入时间盒验证。它们与第三章八条趋势是「展开论证→压缩决策」关系，不是数量矛盾。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173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01  [高确定性]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6G一定需要通用数据能力，但未必需要一个独立「数据面」网元——采集/处理/发现/暴露/治理明确；实现可能增强既有NF、引入新功能或混合。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0800" cy="84124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4173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02  [高确定性]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RAN数据语义与QoD将比原始数据规模更稀缺——可用性取决于时空粒度、采样代表性、配置版本和测量误差。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50800" cy="84124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0040" y="23317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03  [高确定性]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Data Fabric价值重心从「集成」上移到「可信智能控制」——管道和存储商品化，元数据激活、策略、契约、证据与回滚形成差异。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2331720"/>
            <a:ext cx="50800" cy="84124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0" y="23317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04  [高确定性]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快环不会被中央Fabric接管——亚秒与毫秒路径继续本地执行；Fabric异步供应模型/策略/摘要并回收证据。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2331720"/>
            <a:ext cx="50800" cy="84124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20040" y="32461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8A4C"/>
                </a:solidFill>
                <a:latin typeface="Microsoft YaHei"/>
                <a:eastAsian typeface="Microsoft YaHei"/>
              </a:rPr>
              <a:t>05  [中高确定性]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Agent将先辅助、后有界执行，不会直接跨越治理成熟度——生产动作必须绑定身份、授权、作用域、租约与回滚。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246120"/>
            <a:ext cx="50800" cy="841248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0" y="32461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8A4C"/>
                </a:solidFill>
                <a:latin typeface="Microsoft YaHei"/>
                <a:eastAsian typeface="Microsoft YaHei"/>
              </a:rPr>
              <a:t>06  [中高确定性]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NDT会成为高风险闭环重要证据源，但不是绝对安全证明——保真度、同步滞后与场景覆盖必须量化。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246120"/>
            <a:ext cx="50800" cy="841248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0040" y="41605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07  [高确定性]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Mesh、Fabric、Lakehouse将组合而非决出唯一赢家——Mesh管领域责任，Fabric管跨域控制，Lakehouse承载存储计算，Data Space管组织间信任。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160520"/>
            <a:ext cx="50800" cy="84124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0" y="41605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FF8A4C"/>
                </a:solidFill>
                <a:latin typeface="Microsoft YaHei"/>
                <a:eastAsian typeface="Microsoft YaHei"/>
              </a:rPr>
              <a:t>08  [中高确定性]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网络API商业化将倒逼内部数据产品化——外部一致性、安全与计量无法建立在内部语义/QoD/血缘不稳定之上。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4160520"/>
            <a:ext cx="50800" cy="841248"/>
          </a:xfrm>
          <a:prstGeom prst="rect">
            <a:avLst/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20040" y="50749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5A738A"/>
                </a:solidFill>
                <a:latin typeface="Microsoft YaHei"/>
                <a:eastAsian typeface="Microsoft YaHei"/>
              </a:rPr>
              <a:t>09  [中确定性]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云与数据平台将成为设备商之外的关键竞合方——控制Catalog/模型/Agent工具链，但难独自替代通信实时性与RAN语义资产。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074920"/>
            <a:ext cx="50800" cy="841248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0" y="5074920"/>
            <a:ext cx="5760720" cy="84124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5A738A"/>
                </a:solidFill>
                <a:latin typeface="Microsoft YaHei"/>
                <a:eastAsian typeface="Microsoft YaHei"/>
              </a:rPr>
              <a:t>10  [中确定性]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跨企业自主签约与完全无人治理五年内仍不会成为普遍现实——法律责任、语义协商、用途强制和异常接管仍要求组织承担责任。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5074920"/>
            <a:ext cx="50800" cy="841248"/>
          </a:xfrm>
          <a:prstGeom prst="rect">
            <a:avLst/>
          </a:prstGeom>
          <a:solidFill>
            <a:srgbClr val="5A73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04 3年/5年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05  ZTE POSITION · ASSETS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中兴定位起点：强于网络智能产品化，弱于通用 Fabric 完整产品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58368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正确战略不是再造对标IBM/Informatica/Nokia Data Suite的通用编织平台，而是把AIR Net数据引擎升级为主航道共用的横向数据控制能力。争夺「RAN/跨域语义 + QoD + 近源执行 + 有界Agent供数」，而非独立「大一统数据面」品牌。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50876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产品锚点 · AIR Net三引擎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数据引擎、大模型引擎与数字孪生引擎协同，支撑Copilot/Agent与跨域闭环；数据引擎被描述为提供数据资产、AI Ready治理与智能分析。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08760"/>
            <a:ext cx="50800" cy="214884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50876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场景锚点 · Fault Agent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GSMA浙江移动：大/小模型+数字孪生+中兴方案；根因识别&gt;90%，诊断约30→&lt;5分钟，工单-20%。TM Forum披露中国电信多省试点。案例口径，非独立审计。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508760"/>
            <a:ext cx="50800" cy="214884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508760"/>
            <a:ext cx="3703320" cy="2148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标准锚点 · ETSI ZSM 029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GS ZSM 029《Data Management Agent for AN》由中国电信、中兴、CAICT、亚信等支持；2026-04工作项采纳；覆盖注册/发现/资产/认证/采集传输/工作流编排——与控制语义高度重合。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508760"/>
            <a:ext cx="50800" cy="214884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3840480"/>
            <a:ext cx="57150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5G数据底座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ZXUN CUDR正式产品，统一UDR/UDSF及多代网络/IMS数据；前代vSDM有Banglalink具名商用——证明电信数据管理基础，不是通用Fabric。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840480"/>
            <a:ext cx="57150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开放与互操作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TM Forum目录将AIR Net/U-Smart-Net列为Ready for ODA——证明架构对齐，不等于所有组件均完成互操作认证。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983480"/>
            <a:ext cx="57150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Agent框架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Co-Sight公开发布低代码、模块化、多Agent协同及第三方插件；Reasoner/Actor分离与MCP/A2A主张对齐有界智能。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983480"/>
            <a:ext cx="5715000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生态与变现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GSMA中国移动QoD：CAMARA+中兴NEF；截至2024-10有25家企业客户、月调用超3400万次及收入——最强商业锚点。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05 公司定位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05  EVIDENCE MATURITY E0–E4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证据纪律：把「有什么」与「证明了什么」分开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后续路线图只把E3/E4视为可复用资产，把E1/E2视为放大器，把E0视为待验证假设。任何对外材料都不应把「AIR Net有数据引擎」直接等价为「中兴已有完整6G Data Fabric」。能力连续 ≠ 已商用完整产品。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2286000"/>
                <a:gridCol w="2468880"/>
                <a:gridCol w="2377440"/>
              </a:tblGrid>
              <a:tr h="679268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证据层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中兴公开锚点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可以支持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不能外推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下一步补证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E4 API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中国移动QoD：CAMARA+中兴NEF；25客户、月调用&gt;3400万、收入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API产品化与高频商业运营有强证据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不能归因中兴独占；不证明内部Fabric统一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跨网一致、上游契约、成本利润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E4 故障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浙江移动：根因&gt;90%、诊断30→&lt;5分钟、工单-20%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具名生产场景可量化价值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单场景≠全网L4或完整Fabric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动作证据、回滚、独立审计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E3 产品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CUDR、AIR Net、Co-Sight、Ready for ODA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有产品载体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不证明同一控制语义/跨厂商数据面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边界、兼容矩阵、互操作报告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E2 试点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中国电信多省Fault Agent（piloted）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故障域方法可跨区域验证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试点≠规模商用，难迁RAN快环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持续使用、复用、单位成本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67926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E1 标准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 Supporting Org；SA5 Unified data framework输入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具备正式标准入口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工作项/提案≠最终规范或主导权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参考实现、联署、进工作文本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679272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E0 假设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 QoD、近源Data Agent、跨接口元数据事件、可信供数控制面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由R1–R8与T1–T8推导的合理主攻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无足够公开证据称现有产品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内部盘点、PoC、付费意愿三重验证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05 公司定位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05  CONTROL POINTS C1–C4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相对坐标与目标定位：四个必须掌握的控制点，三个开放边界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不站队Mesh，也不复制Data Plane命名。工作定位（研究命名）：Telecom Trusted Data Control Fabric——统一理解、质量、契约与证据，不统一所有存储、模型、协议与毫秒级执行。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377440"/>
                <a:gridCol w="2377440"/>
                <a:gridCol w="2560320"/>
                <a:gridCol w="3291840"/>
              </a:tblGrid>
              <a:tr h="51816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Ericsson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Huawei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Nokia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对中兴含义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叙事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联邦+EIAP/DataOps+API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DO/DA/DCP+AUTINOps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AN Fabric/Data Suite最清晰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讲「数据引擎外溢」，避网元命名战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短板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独立网元弱；组合复杂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研究与商用易混读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跨厂商统一缺中立证明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短板：通用编织完整度、6G框架话语权、RAN QoD benchmark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3154680"/>
            <a:ext cx="2788920" cy="1554480"/>
          </a:xfrm>
          <a:prstGeom prst="roundRect">
            <a:avLst>
              <a:gd name="adj" fmla="val 10000"/>
            </a:avLst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C1 语义与QoD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对象映射·质量信封·配置/时空/采样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必须主导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154680"/>
            <a:ext cx="2788920" cy="1554480"/>
          </a:xfrm>
          <a:prstGeom prst="roundRect">
            <a:avLst>
              <a:gd name="adj" fmla="val 10000"/>
            </a:avLst>
          </a:prstGeom>
          <a:solidFill>
            <a:srgbClr val="5EB6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C2 产品/契约/主权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Owner·SLO·用途·驻留·保留·删除传播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电信模板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154680"/>
            <a:ext cx="2788920" cy="155448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C3 近源Data Agent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过滤·特征·缓存·本地策略·断链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差异化主场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3154680"/>
            <a:ext cx="2788920" cy="1554480"/>
          </a:xfrm>
          <a:prstGeom prst="roundRect">
            <a:avLst>
              <a:gd name="adj" fmla="val 10000"/>
            </a:avLst>
          </a:prstGeom>
          <a:solidFill>
            <a:srgbClr val="FF8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stAsian typeface="Microsoft YaHei"/>
              </a:rPr>
              <a:t>C4 Agent/NDT证据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DCE7F2"/>
                </a:solidFill>
                <a:latin typeface="Microsoft YaHei"/>
                <a:eastAsian typeface="Microsoft YaHei"/>
              </a:rPr>
              <a:t>身份·策略·仿真·动作·回滚</a:t>
            </a:r>
          </a:p>
          <a:p>
            <a:pPr algn="l">
              <a:spcAft>
                <a:spcPts val="0"/>
              </a:spcAft>
            </a:pPr>
            <a:r>
              <a:rPr sz="1100" b="1">
                <a:solidFill>
                  <a:srgbClr val="CAE85E"/>
                </a:solidFill>
                <a:latin typeface="Microsoft YaHei"/>
                <a:eastAsian typeface="Microsoft YaHei"/>
              </a:rPr>
              <a:t>与生态联合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4892040"/>
            <a:ext cx="3703320" cy="118872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开放A 湖仓/Catalog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开放格式、可替换后端，不重建通用栈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4892040"/>
            <a:ext cx="3703320" cy="118872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开放B 模型/Agent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多模型多Agent；统一身份与证据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4892040"/>
            <a:ext cx="3703320" cy="118872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开放C API/渠道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对接CAMARA/聚合商，不垄断消费入口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05 公司定位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05  CAPABILITY &amp; 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能力自评与定位结论：成为横向组件，不当通用挑战者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用AIR Net数据引擎抢占「电信语义—QoD—近源执行—有界供数」四位一体控制点；以ZSM029/SA2·SA5把接口与语义写成标准事实，以场景闭环证明价值——而不是先宣称拥有完整6G Data Fabric。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自智/Agent场景</a:t>
            </a:r>
          </a:p>
          <a:p>
            <a:pPr algn="l">
              <a:spcAft>
                <a:spcPts val="100"/>
              </a:spcAft>
            </a:pPr>
            <a:r>
              <a:rPr sz="2000" b="1">
                <a:solidFill>
                  <a:srgbClr val="0F9F9A"/>
                </a:solidFill>
                <a:latin typeface="Microsoft YaHei"/>
                <a:eastAsian typeface="Microsoft YaHei"/>
              </a:rPr>
              <a:t>4.0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AIR Net+Fault Agent有试点与认证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46304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语义/KG生产化</a:t>
            </a:r>
          </a:p>
          <a:p>
            <a:pPr algn="l">
              <a:spcAft>
                <a:spcPts val="100"/>
              </a:spcAft>
            </a:pPr>
            <a:r>
              <a:rPr sz="2000" b="1">
                <a:solidFill>
                  <a:srgbClr val="0F9F9A"/>
                </a:solidFill>
                <a:latin typeface="Microsoft YaHei"/>
                <a:eastAsian typeface="Microsoft YaHei"/>
              </a:rPr>
              <a:t>3.5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故障域强；缺跨RAN/Core标准语义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标准接口话语权</a:t>
            </a:r>
          </a:p>
          <a:p>
            <a:pPr algn="l">
              <a:spcAft>
                <a:spcPts val="100"/>
              </a:spcAft>
            </a:pPr>
            <a:r>
              <a:rPr sz="2000" b="1">
                <a:solidFill>
                  <a:srgbClr val="0F9F9A"/>
                </a:solidFill>
                <a:latin typeface="Microsoft YaHei"/>
                <a:eastAsian typeface="Microsoft YaHei"/>
              </a:rPr>
              <a:t>3.0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ZSM029在手；SA2/SA5需加码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0" y="146304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通用Fabric产品</a:t>
            </a:r>
          </a:p>
          <a:p>
            <a:pPr algn="l">
              <a:spcAft>
                <a:spcPts val="100"/>
              </a:spcAft>
            </a:pPr>
            <a:r>
              <a:rPr sz="2000" b="1">
                <a:solidFill>
                  <a:srgbClr val="0F9F9A"/>
                </a:solidFill>
                <a:latin typeface="Microsoft YaHei"/>
                <a:eastAsian typeface="Microsoft YaHei"/>
              </a:rPr>
              <a:t>1.5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不宜与IT巨头/Nokia比完整度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274320" y="274320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645920"/>
                <a:gridCol w="6309360"/>
              </a:tblGrid>
              <a:tr h="2540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能力议题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位置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映射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含义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数据产品化与契约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邻近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R8·T1/T7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从资产目录升级为Owner/SLO/QoD/退出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元数据事件化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探索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R1/R5·T2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优先变更→影响分析与血缘闸门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RAN/边缘子Fabric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有载体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R2/R3·T3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优势×空白重叠，适合时间盒PoC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Agent有界执行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相对亮点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R7·T4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最短延长线：用数Agent→供数工具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NDT证据闸门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邻近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R5/R7·T5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与高风险变更/节能/故障闭环绑定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 QoD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关键缺口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R4·T6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差异化必争标尺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用途主权强制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相邻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R6·T4/T7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目录标签→策略即代码与删除传播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5400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API/数据空间商业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入口在手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R8·T7/T8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外部API成功取决于内部语义/QoD/计量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365760" y="5212080"/>
            <a:ext cx="5669280" cy="96012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F9F9A"/>
                </a:solidFill>
                <a:latin typeface="Microsoft YaHei"/>
                <a:eastAsian typeface="Microsoft YaHei"/>
              </a:rPr>
              <a:t>应成为：主航道共用横向数据能力组件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服务无线/核网/承载/SMO/行业；统一控制语义+分布式执行；数据引擎升级为产品/QoD/证据/供数底座。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5212080"/>
            <a:ext cx="5577840" cy="96012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8A4C"/>
                </a:solidFill>
                <a:latin typeface="Microsoft YaHei"/>
                <a:eastAsian typeface="Microsoft YaHei"/>
              </a:rPr>
              <a:t>不应成为：通用Data Fabric平台挑战者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不打IT湖仓目录；不复制华为网元命名/不机械站队mesh；不承诺编织进入亚毫秒快环。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05 公司定位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06  OPPORTUNITY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机会组合：六维加权筛选，避免因技术新颖立项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排序维度：战略契合25%·存量复用20%·客户牵引20%·标准窗口15%·差异化10%·执行可控10%。分数表达相对优先级，不表达市场规模；O3必须服务O2/O1/O7/O8，O8是跨域供数合规前提，O6是验证场而非先建平台的理由。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069848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657600"/>
                <a:gridCol w="640080"/>
                <a:gridCol w="640080"/>
                <a:gridCol w="640080"/>
                <a:gridCol w="640080"/>
                <a:gridCol w="640080"/>
                <a:gridCol w="640080"/>
                <a:gridCol w="822960"/>
                <a:gridCol w="1737360"/>
              </a:tblGrid>
              <a:tr h="528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机会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一句话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契合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复用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牵引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标准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差异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可控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加权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角色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数据引擎→6G数据能力组件外溢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4.55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P0主航道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ZSM029+SA2/SA5标准双入口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4.30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P0放大器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NDT+Agent高风险动作证据闸门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P1差异化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RAN近源流式元数据/子Fabric PoC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4.05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P1技术期权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国内运营商显式数据产品试点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3.75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P1商业验证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O8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跨路径数据主权与策略即代码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P1合规底座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承载SLA与数据策略语义映射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3.35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P2路标接口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8320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终端/行业侧轻量数据代理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2.45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P3观察期权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06 机会选择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06  MAIN · O2 / O3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首选主攻：数据引擎外溢 + 标准双入口（共享核心）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O2是增量成本最低、技术连续性最好的主攻；O3是增量投入中杠杆最高的一类。二者必须由同一核心团队负责：标准文稿来自可运行代码，核心代码对齐标准对象。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63040"/>
            <a:ext cx="571500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O2 · 数据引擎外溢为6G数据能力组件 · 加权4.55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断言：若不做，数据引擎易固化在运维单场景，6G竞标中「数据与智能层」将缺少可复用底座。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场景：①网络域AI/Agent可信数据底座；②SMO/Non-RT统一目录与契约；③NDT/故障/节能闭环供数。先服务主航道，再对外可售。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技术：LLM辅助语义层（规范/MIB/YANG→约束抽取→图谱）；五类产品（移动性/故障/节能/QoE/模型特征）；目录/血缘/订阅/策略封装为MCP/OpenAPI工具。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买方任务：无线跨O1/E2对齐与质量信封；OSS故障/节能/投诉复用；核网/NEF/API上游可信供给。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最小交付：语义Registry+五类模板；四类工具接口；两种异构后端、两条产品线可移植验证。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9F9A"/>
                </a:solidFill>
                <a:latin typeface="Microsoft YaHei"/>
                <a:eastAsian typeface="Microsoft YaHei"/>
              </a:rPr>
              <a:t>准入：至少两条产品线指定Owner并提供真实数据与消费者。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退出：9个月仍不能跨第二场景复用，或每次接入仍需项目级定制→降级为OSS内部能力。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指标：取数周期、重复采集下降、复用率、映射准确率、契约覆盖、血缘回放、进入主航道版本清单。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532120" cy="46634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O3 · ZSM029 + SA2/SA5 标准双入口 · 加权4.30</a:t>
            </a:r>
          </a:p>
          <a:p>
            <a:pPr algn="l">
              <a:spcAft>
                <a:spcPts val="50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断言：错过Rel-20/21收敛窗口，后续只能适配他人接口；做对了，O2/O1/O7组件可直接获得标准对齐规格。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场景：ZSM029已采纳、规范早期起草；SA2 KI#21与SA5 DMFW仍Draft。价值是用参考实现影响互操作语义，而非预设最终文本。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技术：ZSM029贡献DMA参考实现（注册/发现/编排）；SA2/SA5主攻编织接口双栈、语义本体映射、秒级近实时时效与QoD属性；不纠缠独立数据面网元是否必选。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0A2744"/>
                </a:solidFill>
                <a:latin typeface="Microsoft YaHei"/>
                <a:eastAsian typeface="Microsoft YaHei"/>
              </a:rPr>
              <a:t>提案包：语义/QoD信息模型；DMA服务与生命周期；DCP类总线/DCCF-NWDAF类增强双栈映射。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联合机制：每项提案绑定「运营商痛点+可运行参考实现+两家异构后端/域验证」；优先与共同支持组织及国内运营商联合。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F9F9A"/>
                </a:solidFill>
                <a:latin typeface="Microsoft YaHei"/>
                <a:eastAsian typeface="Microsoft YaHei"/>
              </a:rPr>
              <a:t>准入：产品Owner承诺实现提案对象。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8A4C"/>
                </a:solidFill>
                <a:latin typeface="Microsoft YaHei"/>
                <a:eastAsian typeface="Microsoft YaHei"/>
              </a:rPr>
              <a:t>退出：连续两个会议周期无法获得运营商联署或工作组讨论→收缩议题，不继续铺开术语。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KPI：有效提案、联合署名、进入基线文本、互操作测试项；不以篇数代替条款采纳和产品落地。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06 机会选择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06  MAIN · O1 / O7 / O8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并行验证：近源差异、动作证据与主权强制（共用O2内核）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三者分别验证「分布式近源执行」「高风险动作证据」「跨路径主权强制」，不另造目录与策略体系。中兴最优解：数据引擎外溢+标准卡位+RAN近源QoD+动作/主权双证据。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463040"/>
            <a:ext cx="379476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O1 · 4.05 · 中期押注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RAN近源流式元数据与子Fabric PoC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不做亚毫秒控制替换，做站点侧轻量标注+秒级流上QoD/标签+异步回传证据。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边界：一种高频遥测+一种消费者；不进&lt;10ms同步；不建中心化原始湖；不承诺联邦查询替代本地状态。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验收：标注时延与CPU/内存；字节减量、新鲜度、断链可用、版本回退；QoD对模型准确率/闭环误动作改善。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准入：无线线提供真实链路、资源预算和消费者。退出：收益不覆盖站点开销或必须侵入快环→停止产品化。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F9F9A"/>
                </a:solidFill>
                <a:latin typeface="Microsoft YaHei"/>
                <a:eastAsian typeface="Microsoft YaHei"/>
              </a:rPr>
              <a:t>护城河：电信对象上下文+站点运行触点+可量化QoD。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59" y="1463040"/>
            <a:ext cx="379476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O7 · 4.10 · 并行主攻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NDT+Agent高风险动作证据闸门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将孪生、Fault Agent/Co-Sight与动作接口连成「建议—仿真—灰度—执行—回滚—学习」强制链。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买方买的是降低错误变更、缩短审批、可证明回滚，不是「一个孪生」。先Non-RT/OAM与低风险动作。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最小产品：数据/模型/策略/动作快照；保真度/同步滞后/场景覆盖门槛；身份委托、风险预算、灰度与熔断。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准入：有可回放历史和明确损失函数。退出：误差长期不可标定或收益不超人工基线→保留分析辅助。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F9F9A"/>
                </a:solidFill>
                <a:latin typeface="Microsoft YaHei"/>
                <a:eastAsian typeface="Microsoft YaHei"/>
              </a:rPr>
              <a:t>指标：预测误差、同步滞后、越权拦截、审批周期、灰度失败率、回滚成功、证据完整率。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463040"/>
            <a:ext cx="3794760" cy="4663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O8 · 3.45 · 必备底座</a:t>
            </a:r>
          </a:p>
          <a:p>
            <a:pPr algn="l">
              <a:spcAft>
                <a:spcPts val="4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跨路径数据主权与策略即代码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用途/同意/驻留/保留/删除从目录标签变成运行时策略，贯穿查询、API、导出、特征/向量与训练。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是O2/O6/Open Gateway准入条件，不单独包装「合规大平台」。模型只辅助解释，规则须可测试、可审批、可回滚。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最小产品：策略DSL；查询/API/导出/训练四类执行点适配器；决策、执行结果与例外审批证据。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FF8A4C"/>
                </a:solidFill>
                <a:latin typeface="Microsoft YaHei"/>
                <a:eastAsian typeface="Microsoft YaHei"/>
              </a:rPr>
              <a:t>准入：一类高敏数据+至少两条不同消费路径。退出：无法脱离项目定制或开销超预算→收缩为管理域参考架构。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0F9F9A"/>
                </a:solidFill>
                <a:latin typeface="Microsoft YaHei"/>
                <a:eastAsian typeface="Microsoft YaHei"/>
              </a:rPr>
              <a:t>指标：跨路径一致率、拒绝/越权覆盖、删除传播时长、驻留违规、例外闭环、策略执行P99。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06 机会选择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06  SUPPORTING &amp; DEPENDENCY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配合项有触发条件；资源不是八支平行队伍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依赖顺序：O2共用内核→O3放大并约束O2→O1/O7/O8分别提供近源、动作与主权证据→O6验证客户是否为结果付费；O4/O5只能消费前述成果，不能反向拉出两套新平台。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200400"/>
                <a:gridCol w="2651760"/>
                <a:gridCol w="2468880"/>
                <a:gridCol w="2286000"/>
              </a:tblGrid>
              <a:tr h="52578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机会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当前动作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升级触发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保持/降级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禁止项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O6试点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围绕故障/节能/QoE/API选一明确业务问题；先定基线、对照与收益归属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业务Owner、多厂商数据、结果计量、联合标准/案例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只有「建平台」预算则退回O2内部自用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不得以单供应商演示替代跨厂商适配与ROI审计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O4承载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定义数据产品时效/可靠/主权属性到承载策略的最小语义，不自建承载编排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承载线有接口Owner，且O1/O6需端到端保证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标准未收敛或不愿为差异SLA付费→仅保留草案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不得让管理层成快环在线单点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O5终端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跟踪ISAC/AI终端/隐私计算；复用C1/C2契约，不开发独立平台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明确终端数据产品、端侧预算、隐私责任、可付费客户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仅有数据量故事则保持观察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不得默认采集原始感知/个人数据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65760" y="3703320"/>
            <a:ext cx="3703320" cy="2377440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  <a:eastAsian typeface="Microsoft YaHei"/>
              </a:rPr>
              <a:t>共享核心 55–65%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CAE85E"/>
                </a:solidFill>
                <a:latin typeface="Microsoft YaHei"/>
                <a:eastAsian typeface="Microsoft YaHei"/>
              </a:rPr>
              <a:t>O2 + O3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DCE7F2"/>
                </a:solidFill>
                <a:latin typeface="Microsoft YaHei"/>
                <a:eastAsian typeface="Microsoft YaHei"/>
              </a:rPr>
              <a:t>语义、QoD、契约、工具接口与标准参考实现同一团队；标准↔代码互相喂养。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3703320"/>
            <a:ext cx="3703320" cy="237744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差异验证 25–35%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9F9A"/>
                </a:solidFill>
                <a:latin typeface="Microsoft YaHei"/>
                <a:eastAsian typeface="Microsoft YaHei"/>
              </a:rPr>
              <a:t>O1 + O7 + O8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分别验证近源、动作证据与主权强制；共用O2语义/契约，不另造目录体系。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3703320"/>
            <a:ext cx="3657600" cy="237744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71F3D"/>
                </a:solidFill>
                <a:latin typeface="Microsoft YaHei"/>
                <a:eastAsian typeface="Microsoft YaHei"/>
              </a:rPr>
              <a:t>客户与期权 10–15%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FF8A4C"/>
                </a:solidFill>
                <a:latin typeface="Microsoft YaHei"/>
                <a:eastAsian typeface="Microsoft YaHei"/>
              </a:rPr>
              <a:t>O6 + O4 + O5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5A738A"/>
                </a:solidFill>
                <a:latin typeface="Microsoft YaHei"/>
                <a:eastAsian typeface="Microsoft YaHei"/>
              </a:rPr>
              <a:t>O6商业证伪；O4/O5仅接口与观察。明确不选：通用企业Fabric、独立数据面胜负手、ZB全量湖、无边界Agent改网。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06 机会选择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07  STRATEGY 1–11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具体策略：先卡位叙事与标准，再加深原型，后铺开近源与试点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策略总断言：先把数据引擎做成主航道共用的「可信供数控制面」——用标准写下语义与接口，用近源守住RAN QoD，用动作证据与主权策略约束自治和跨组织流通；其余一律后置。【D】条线可推，【R】需公司决策。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07899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822960"/>
                <a:gridCol w="5120640"/>
                <a:gridCol w="3383280"/>
                <a:gridCol w="1051560"/>
              </a:tblGrid>
              <a:tr h="39624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#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具体策略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不做的风险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备注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形成「数据引擎→6G数据能力组件」对内白皮书，对齐R/T/友商/主攻位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引擎停在故障单点，竞标缺横向叙事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P0·90天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ZSM029参考实现；SA2/SA5提交语义映射、双栈、时效与QoD（≥2篇有效输入）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接口术语被友商单极定义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P0·Rel窗口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3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以Fault Agent KG为种子建语义抽取与五类高复用产品（Owner/SLO/QoD/血缘）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只有平台能力、无可运营产品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P0/P1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目录/血缘/订阅/策略封装为MCP/OpenAPI；IPOE；Reasoner/Actor分离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Agent只能聊天取数，难进生产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5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【D+R】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站点/边缘轻量代理：流内标注、质量信封、本地缓存、异步证据；不进&lt;10ms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丢失相对云不可替代战场，缺QoD实证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P1·12–18月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6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【R】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设立「6G数据能力」虚拟团队，统一对象/QoD/北向，禁各线重复造目录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横向碎片化，客户看到多套平台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组织前提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7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孪生接入变更/Agent强制路径：快照、版本、滞后、误差、灰度、回滚成放行条件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孪生停在可视化，难支撑有界自治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P1/P2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8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【R】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联合运营商显式数据产品试点+独立ROI；承载映射与行业API写入6G路标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国内首发与路标位次被占；Gateway有入口无供给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9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【D+R】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自研语义/QoD/近源/证据；合作湖仓Catalog模型隐私计算；采购连接器扫描可观察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要么重复造通用底座，要么交出电信控制点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立项前门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10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【R】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对O1/O2/O7/O8建G0–G4；每季按复用/价值/标准/开销/证据调资源，允许停止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PoC长期化、资源平均分配、标准产品脱节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组合治理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11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【D+R】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用途/同意/驻留/保留/删除策略DSL与跨查询/API/导出/向量/训练执行点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治理停在目录标签；进入缓存/向量/模型后无法持续约束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P1·R6/O8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07 策略建议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07  BUILD / RHYTHM / 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把钱花在不可替代处；每一步都能加码、转向或停止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自研电信语义、QoD、近源运行时和动作证据；合作湖仓/Catalog/模型/隐私计算；采购通用扫描、连接器与可观察工具。全部策略遵循「需求驱动+证据分层+时间盒」。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4320" y="1417320"/>
          <a:ext cx="116128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188720"/>
                <a:gridCol w="3931920"/>
                <a:gridCol w="4389120"/>
              </a:tblGrid>
              <a:tr h="261257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能力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选择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原因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架构要求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电信对象语义与QoD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Build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网元/配置/测量/动作上下文是设备商核心知识资产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版本化语义包；跨厂商映射可插拔；质量信封可测试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近源Data Agent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Build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需站点/边缘资源、升级、断链和时标工程能力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轻量、沙箱、可远程回退；不成快环单点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数据产品/主权/动作证据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Build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决定复用、责任、持续用途控制与有界自治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开放schema/API；跨路径执行；证据可导出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湖仓/Catalog/流批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Partner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产业成熟、客户存量多，自研缺规模优势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开放表格式、多云多后端；核心元数据不被绑死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261257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连接器/扫描/可观察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Buy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差异低且维护面广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统一插件SDK；替换成本可量化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大模型/Agent/隐私计算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Partner+选建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演进快；中兴掌握电信约束、评测与运行证据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多模型可替换；身份/策略/审计不随模型绑定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20040" y="342900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0–3月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看齐与卡位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叙事；冻结O2/O3；ZSM029与首批文稿；五类产品Owner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342900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3–9月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原型与证据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语义/供数MVP；非故障闭环扩展；QoD与主权DSL v0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42900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9–18月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近源与试点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RAN PoC；1个运营商显式试点；证据与策略进基线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3429000"/>
            <a:ext cx="2788920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0F9F9A"/>
                </a:solidFill>
                <a:latin typeface="Microsoft YaHei"/>
                <a:eastAsian typeface="Microsoft YaHei"/>
              </a:rPr>
              <a:t>18–36月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071F3D"/>
                </a:solidFill>
                <a:latin typeface="Microsoft YaHei"/>
                <a:eastAsian typeface="Microsoft YaHei"/>
              </a:rPr>
              <a:t>产品化收敛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随Rel-21沉淀进主航道；API只映射已产品化能力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" y="4754880"/>
            <a:ext cx="2240280" cy="12801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G0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资产核验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五清单；无真实资产不进G1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51760" y="4754880"/>
            <a:ext cx="2240280" cy="12801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G1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双场景原型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两类场景两种后端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83479" y="4754880"/>
            <a:ext cx="2240280" cy="12801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G2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工程基线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性能/权限/证据/回退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4754880"/>
            <a:ext cx="2240280" cy="12801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G3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客户验证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Owner+对照；可归因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46919" y="4754880"/>
            <a:ext cx="2240280" cy="1280160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100"/>
              </a:spcAft>
            </a:pPr>
            <a:r>
              <a:rPr sz="1200" b="1">
                <a:solidFill>
                  <a:srgbClr val="FF8A4C"/>
                </a:solidFill>
                <a:latin typeface="Microsoft YaHei"/>
                <a:eastAsian typeface="Microsoft YaHei"/>
              </a:rPr>
              <a:t>G4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产品/标准收敛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两主航道+互操作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07 策略建议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07  METRICS &amp; RISK LEDGER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统一度量四账合一；用前置信号而不是事后解释管理风险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若12个月内仍无法形成至少两类可复用数据产品与一篇有效标准输入，应复盘主攻是否过于分散。公开试点指标须可被第三方理解；标准成功≠产品成功；产品演示≠跨厂商互操作。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28600" y="1417320"/>
          <a:ext cx="1170432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743200"/>
                <a:gridCol w="2651760"/>
                <a:gridCol w="2651760"/>
                <a:gridCol w="2560320"/>
              </a:tblGrid>
              <a:tr h="33147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维度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北极星问题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领先指标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结果指标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红线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复用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能力是否从项目代码变成公共组件？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已签契约产品、接入产品线、异构后端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复用率、交付周期、重复采集下降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第二场景仍重写&gt;50%核心逻辑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QoD/语义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数据是否真的更可用、更可解释？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对象覆盖、质量规则、配置上下文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映射准确率、漂移/误动作、契约违规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只统计记录数或单一完整性分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运行工程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分布式能力是否通信级可运行？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P99、资源、断链/升级/回退演练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SLO达标、跨域字节下降、事故恢复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成为快环同步单点或无法回退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可信自治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Agent/NDT能否安全扩大权限？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身份/策略/证据覆盖、仿真误差、灰度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越权拦截、误动作、回滚、接管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生产动作无Owner/作用域/租约/证据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主权用途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限制是否贯穿所有消费路径？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策略覆盖路径、拒绝测试、删除演练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跨路径一致率、删除时长、违规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只在目录挂标签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客户价值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是否为结果而非平台名买单？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业务Owner、对照、活跃消费者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MTTR/能耗/QoE/API收入、单位成本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只有参观/奖项，无持续使用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标准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席位是否转化为产品可用规则？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联署、讨论采纳、参考实现与测试项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进入基线文本、互操作、版本需求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只追文稿数量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7432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平台化过度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无新增消费者→冻结通用功能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产品线碎片化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绕过公共schema→架构否决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标准—产品脱节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无实现→停扩写并绑定Owner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近源开销过大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超预算→减代理或终止O1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Agent越权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证据不全→退回建议模式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主权策略失效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跨路径不一致→停新路径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424160" y="4251960"/>
            <a:ext cx="1627632" cy="1828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071F3D"/>
                </a:solidFill>
                <a:latin typeface="Microsoft YaHei"/>
                <a:eastAsian typeface="Microsoft YaHei"/>
              </a:rPr>
              <a:t>ROI无法归因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无基线→不进试点/不对外宣称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07 策略建议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08  ACTION PROGRAMS AP0–AP10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关键AP：按共同控制点组织，而非按部门各自立项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每个AP必须同时具备业务/产品Owner、技术Owner、标准接口（如适用）、可运行交付物、量化验收和停止条件。没有真实消费者、没有基线、没有退出门的任务，不进入清单。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82880" y="1371600"/>
          <a:ext cx="1156716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286000"/>
                <a:gridCol w="1554480"/>
                <a:gridCol w="3017520"/>
                <a:gridCol w="3200400"/>
                <a:gridCol w="822960"/>
              </a:tblGrid>
              <a:tr h="400050"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AP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内容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牵头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关键交付物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验收/决策门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优先级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存量资产与重复建设盘点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组合负责人/战略架构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代码/接口/数据/标准/客户五清单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关键资产有Owner；形成BPB决策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可信供数控制面章程与参考架构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数据与智能产品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C1–C4边界、对象模型、开放边界、版本与商业包装假设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两主航道签字；明确不做通用湖仓；进G1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ZSM029+SA2/SA5联合标准包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标准部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DMA参考实现；语义/QoD/时效/双栈提案；互操作测试草案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≥1运营商联署、≥2有效输入、≥1进工作文本；产品同步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AP3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电信语义包与QoD质量信封v1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数据引擎研发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核心对象ID/关系/版本；采样时空配置误差代表性规则；评测集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跨无线+OSS/核网；准确率/覆盖/漂移达门槛；可回退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AP4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五类数据产品与Agent供数工具集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数据与智能产品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Owner/SLO/QoD/用途/血缘/成本模板；四类MCP/OpenAPI工具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两类产品两类消费者两后端；第二场景重写&lt;50%；进G2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AP5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Agent身份、策略与证据运行时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自智/Co-Sight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身份、委托、作用域、租约、工具白名单、证据schema、接管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高风险100%过策略；越权可拦截；无证据默认拒绝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P0/P1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AP6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NDT高风险动作证据闸门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数字孪生/自智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快照、保真度、滞后、误差、覆盖、灰度、熔断、回滚链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一高风险场景历史回放+影子运行；超差退回建议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AP7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RAN近源Data Agent时间盒PoC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无线研究院/平台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流内标注、QoD、过滤/特征、本地缓存、断链、异步证据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资源/P99达标；字节下降；QoD有可归因改善，否则停止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AP8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运营商灯塔场景与独立ROI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战略客户/产品经营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明确业务问题、对照基线、多厂商数据、成本收益模型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连续活跃；结果可审计；转版本/合同；无Owner不启动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AP9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主航道产品化与跨厂商互操作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产品组合管理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版本清单、兼容矩阵、开放SDK、互操作报告、商业模型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进≥两条产品线；两异构后端；一第三方Agent；达G4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P1/P2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AP10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跨路径数据主权与策略即代码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数据治理/安全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用途/同意/驻留/保留/删除DSL；四路径执行点；例外与证据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高敏数据跨≥两路径一致；删除传播与拒绝测试通过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P1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08 关键AP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08  90 DAYS · GOVERNANCE · D1–D6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前90天六个输出、组合治理与公司层待裁决问题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AP总断言：先用90天完成「一个Owner、两类数据产品、一套标准—代码映射、两个带退出门的PoC」；随后只对跨场景可复用、客户价值可归因、风险证据完整的能力加码。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1732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输出1 唯一组合Owner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Sponsor+组合负责人+C1–C4技术Owner；消除「大家参与、无人负责」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41732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输出2 资产事实底稿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逐项核验AIR Net/引擎/Co-Sight/NDT/NEF/无线边缘可复用代码、接口、许可证与部署证据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41732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0" y="141732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输出3 两类种子数据产品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从故障/节能/移动性/QoE/模型特征中选两类；必须有Owner、消费者、基线与退出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41732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5760" y="246888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输出4 标准—代码映射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ZSM029/SA2/SA5每个主张对应代码模块、信息对象、接口和测试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6888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206240" y="246888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输出5 PoC资源与红线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冻结O1/O7/O8资源预算、运行边界、指标与停止扳机，先有退出门再投入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246888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468880"/>
            <a:ext cx="370332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输出6 首个客户问题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锁定愿提供多厂商数据与业务基线的运营商问题；没有真实问题则先内部验证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2468880"/>
            <a:ext cx="50800" cy="96012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5760" y="365760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D1  数据引擎是OSS内部能力还是公司级横向组件？→建议后者，以两产品线复用为条件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65760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D2  谁拥有电信语义与QoD最终定义权？→跨线架构Owner；产品线仅域扩展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43484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D3  标准投入是否绑定参考实现与客户联署？→绑定；无代码与运营商问题不进P0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443484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D4  Agent自动动作允许到哪一级？→低风险有界执行；高风险仿真/灰度/回滚/接管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521208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D5  如何与云/数据平台分工？→掌握语义QoD近源证据；湖仓Catalog模型开放合作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5212080"/>
            <a:ext cx="5715000" cy="713232"/>
          </a:xfrm>
          <a:prstGeom prst="roundRect">
            <a:avLst>
              <a:gd name="adj" fmla="val 10000"/>
            </a:avLst>
          </a:prstGeom>
          <a:solidFill>
            <a:srgbClr val="E8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0A2744"/>
                </a:solidFill>
                <a:latin typeface="Microsoft YaHei"/>
                <a:eastAsian typeface="Microsoft YaHei"/>
              </a:rPr>
              <a:t>D6  谁对跨路径数据主权执行负责？→治理与安全共有规则；引擎统一执行框架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35040"/>
            <a:ext cx="114300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5A738A"/>
                </a:solidFill>
                <a:latin typeface="Microsoft YaHei"/>
                <a:eastAsian typeface="Microsoft YaHei"/>
              </a:rPr>
              <a:t>治理层：Sponsor季度裁决 → 组合月度复用与风险 → 架构双周对象/QoD/策略 → 交付两周迭代 → 价值层冻结基线与对外披露边界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08 关键AP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0F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1143000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0F9F9A"/>
                </a:solidFill>
                <a:latin typeface="Microsoft YaHei"/>
                <a:eastAsian typeface="Microsoft YaHei"/>
              </a:rPr>
              <a:t>08  DO / DON'T / VERIFY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"/>
            <a:ext cx="114300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071F3D"/>
                </a:solidFill>
                <a:latin typeface="Microsoft YaHei"/>
                <a:eastAsian typeface="Microsoft YaHei"/>
              </a:rPr>
              <a:t>行动摘要与边界：把逻辑收束为可执行纪律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713232"/>
            <a:ext cx="11430000" cy="621792"/>
          </a:xfrm>
          <a:prstGeom prst="roundRect">
            <a:avLst>
              <a:gd name="adj" fmla="val 10000"/>
            </a:avLst>
          </a:prstGeom>
          <a:solidFill>
            <a:srgbClr val="07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09728"/>
          <a:lstStyle/>
          <a:p>
            <a:pPr algn="l">
              <a:spcAft>
                <a:spcPts val="100"/>
              </a:spcAft>
            </a:pPr>
            <a:r>
              <a:rPr sz="800" b="1">
                <a:solidFill>
                  <a:srgbClr val="CAE85E"/>
                </a:solidFill>
                <a:latin typeface="Microsoft YaHei"/>
                <a:eastAsian typeface="Microsoft YaHei"/>
              </a:rPr>
              <a:t>本页论点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icrosoft YaHei"/>
                <a:eastAsian typeface="Microsoft YaHei"/>
              </a:rPr>
              <a:t>产业断言：6G Data Fabric不会以「大一统平台」胜出，而以「统一控制语义+分布式执行+场景化数据产品+有界智能」进入网络。中兴用控制点与证据竞争，而不是用平台名竞争。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417320"/>
          <a:ext cx="115214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840480"/>
                <a:gridCol w="3749039"/>
              </a:tblGrid>
              <a:tr h="49377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不做什么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stAsian typeface="Microsoft YaHei"/>
                        </a:rPr>
                        <a:t>遗留 / 待验证</a:t>
                      </a:r>
                    </a:p>
                  </a:txBody>
                  <a:tcPr anchor="ctr">
                    <a:solidFill>
                      <a:srgbClr val="071F3D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把AIR Net升级为C1–C4共用控制能力；用两类数据产品验证复用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不另建覆盖所有湖仓/目录/模型/协议的大平台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内部资产范围、代码权属、跨产品线Owner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用ZSM029+SA2/SA5建立语义、QoD、接口与测试话语权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不押注独立数据面名称；不以提案数量代替采纳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Rel-20/21最终能力包与运营商联署意愿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以O1/O7/O8验证近源差异、可信自治与主权强制，设明确停止线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Fabric不进快环同步单点；Agent无证据不改网；治理不停在目录标签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站点开销、QoD真实增益、NDT误差门槛、跨路径策略一致率</a:t>
                      </a:r>
                    </a:p>
                  </a:txBody>
                  <a:tcPr anchor="t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以O6验证客户是否为场景结果付费，使用独立ROI口径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不因客户提出「平台」就先做重资产集成项目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0A2744"/>
                          </a:solidFill>
                          <a:latin typeface="Microsoft YaHei"/>
                          <a:eastAsian typeface="Microsoft YaHei"/>
                        </a:rPr>
                        <a:t>首个灯塔场景、持续使用、试点转版本/合同</a:t>
                      </a:r>
                    </a:p>
                  </a:txBody>
                  <a:tcPr anchor="t">
                    <a:solidFill>
                      <a:srgbClr val="F0F5F8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65760" y="4114800"/>
            <a:ext cx="11430000" cy="1965960"/>
          </a:xfrm>
          <a:prstGeom prst="roundRect">
            <a:avLst>
              <a:gd name="adj" fmla="val 10000"/>
            </a:avLst>
          </a:prstGeom>
          <a:solidFill>
            <a:srgbClr val="FFF0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8A4C"/>
                </a:solidFill>
                <a:latin typeface="Microsoft YaHei"/>
                <a:eastAsian typeface="Microsoft YaHei"/>
              </a:rPr>
              <a:t>最终边界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0A2744"/>
                </a:solidFill>
                <a:latin typeface="Microsoft YaHei"/>
                <a:eastAsian typeface="Microsoft YaHei"/>
              </a:rPr>
              <a:t>本胶片基于截至2026年8月的标准进度、公开产品与研究主张推演，不等于3GPP已采纳方案，也不构成中兴正式技术路线或市场承诺。</a:t>
            </a:r>
          </a:p>
          <a:p>
            <a:pPr algn="l">
              <a:spcAft>
                <a:spcPts val="400"/>
              </a:spcAft>
            </a:pPr>
            <a:r>
              <a:rPr sz="1100" b="1">
                <a:solidFill>
                  <a:srgbClr val="071F3D"/>
                </a:solidFill>
                <a:latin typeface="Microsoft YaHei"/>
                <a:eastAsian typeface="Microsoft YaHei"/>
              </a:rPr>
              <a:t>真正的趋势验证点：Rel-21规范文本 · 跨厂商互操作 · 现网闭环收益 · 可持续商业收入。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A738A"/>
                </a:solidFill>
                <a:latin typeface="Microsoft YaHei"/>
                <a:eastAsian typeface="Microsoft YaHei"/>
              </a:rPr>
              <a:t>完整论证、引用与图表见：reports/6g-data-fabric-industry-trends-first-four-sections.html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0F9F9A"/>
                </a:solidFill>
                <a:latin typeface="Microsoft YaHei"/>
                <a:eastAsian typeface="Microsoft YaHei"/>
              </a:rPr>
              <a:t>再生本胶片：python3 reports/scripts/build_strategy_pptx.py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6537960"/>
            <a:ext cx="11430000" cy="12700"/>
          </a:xfrm>
          <a:prstGeom prst="rect">
            <a:avLst/>
          </a:prstGeom>
          <a:solidFill>
            <a:srgbClr val="DCE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583680"/>
            <a:ext cx="877824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738A"/>
                </a:solidFill>
                <a:latin typeface="Microsoft YaHei"/>
                <a:eastAsian typeface="Microsoft YaHei"/>
              </a:rPr>
              <a:t>6G 数据架构 × 数据编织 · 完整论证版 · 结语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0" y="6583680"/>
            <a:ext cx="2468880" cy="228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300"/>
              </a:spcAft>
            </a:pPr>
            <a:r>
              <a:rPr sz="800" b="1">
                <a:solidFill>
                  <a:srgbClr val="071F3D"/>
                </a:solidFill>
                <a:latin typeface="Microsoft YaHei"/>
                <a:eastAsian typeface="Microsoft YaHei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