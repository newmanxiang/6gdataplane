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WenQuanYi Micro Hei"/>
                <a:ea typeface="WenQuanYi Micro Hei"/>
              </a:rPr>
              <a:t>6G 数据架构 × 数据编织  ·  行业深度洞察胶片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WenQuanYi Micro Hei"/>
                <a:ea typeface="WenQuanYi Micro Hei"/>
              </a:rPr>
              <a:t>从机制事实到价值链趋势：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WenQuanYi Micro Hei"/>
                <a:ea typeface="WenQuanYi Micro Hei"/>
              </a:rPr>
              <a:t>2.3 / 3 / 4 章金字塔推演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D5DEE5"/>
                </a:solidFill>
                <a:latin typeface="WenQuanYi Micro Hei"/>
                <a:ea typeface="WenQuanYi Micro Hei"/>
              </a:rPr>
              <a:t>本册不把 Data Fabric 写成既定终点。2.3 先用五类可证伪判断核对公开机制；第3章只从四条约束推出可验证趋势；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D5DEE5"/>
                </a:solidFill>
                <a:latin typeface="WenQuanYi Micro Hei"/>
                <a:ea typeface="WenQuanYi Micro Hei"/>
              </a:rPr>
              <a:t>第4章把趋势压回 3 年可验证事实与 5 年控制点，不再另造预测清单。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D5DEE5"/>
                </a:solidFill>
                <a:latin typeface="WenQuanYi Micro Hei"/>
                <a:ea typeface="WenQuanYi Micro Hei"/>
              </a:rPr>
              <a:t>评委不另做口头交接：每页先给论点，再给证据、边界和停止线。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3566160" cy="1417320"/>
          </a:xfrm>
          <a:prstGeom prst="roundRect">
            <a:avLst/>
          </a:prstGeom>
          <a:solidFill>
            <a:srgbClr val="122B4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68172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WenQuanYi Micro Hei"/>
                <a:ea typeface="WenQuanYi Micro Hei"/>
              </a:rPr>
              <a:t>2.3  事实底座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01091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  <a:ea typeface="WenQuanYi Micro Hei"/>
              </a:rPr>
              <a:t>七个子节各一页：规则、标准、横向比较、三家架构竞情、相邻竞合。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3566160" cy="1417320"/>
          </a:xfrm>
          <a:prstGeom prst="roundRect">
            <a:avLst/>
          </a:prstGeom>
          <a:solidFill>
            <a:srgbClr val="122B4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68172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WenQuanYi Micro Hei"/>
                <a:ea typeface="WenQuanYi Micro Hei"/>
              </a:rPr>
              <a:t>第3章  价值链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501091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  <a:ea typeface="WenQuanYi Micro Hei"/>
              </a:rPr>
              <a:t>先给整体推理，再按状态可知→数据适用→行动可信→价值可结算编排。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4572000"/>
            <a:ext cx="3566160" cy="1417320"/>
          </a:xfrm>
          <a:prstGeom prst="roundRect">
            <a:avLst/>
          </a:prstGeom>
          <a:solidFill>
            <a:srgbClr val="122B4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1" y="468172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WenQuanYi Micro Hei"/>
                <a:ea typeface="WenQuanYi Micro Hei"/>
              </a:rPr>
              <a:t>第4章  时间窗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1" y="501091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  <a:ea typeface="WenQuanYi Micro Hei"/>
              </a:rPr>
              <a:t>一页收束：3年看透不变量，5年看清控制点。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9AB0C0"/>
                </a:solidFill>
                <a:latin typeface="WenQuanYi Micro Hei"/>
                <a:ea typeface="WenQuanYi Micro Hei"/>
              </a:rPr>
              <a:t>依据报告正文 · 金字塔结构：先结论，后机制，再边界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本册结构  ·  先读这一页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金字塔阅读顺序：事实底座支撑价值链，价值链支撑时间窗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先核对公开机制，再推出可验证趋势，最后只投射时间窗。厂商案例是外部校验，不是趋势来源。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25880"/>
            <a:ext cx="11475720" cy="105156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</a:rPr>
              <a:t>第4章  时间窗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28216"/>
            <a:ext cx="1110996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  <a:ea typeface="WenQuanYi Micro Hei"/>
              </a:rPr>
              <a:t>只投射第3章 T1–T8。3年看透不变量能否被合同、接口和证据固定；5年看清谁拥有语义/QoD、近源运行时、动作证据和跨网结算控制点。不再另造趋势。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0515600" cy="141732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</a:rPr>
              <a:t>第3章  价值链推演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1693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  <a:ea typeface="WenQuanYi Micro Hei"/>
              </a:rPr>
              <a:t>不可变事实 → 矛盾 → 必须补齐的能力 → 可验证趋势。四条约束对应四个关口：物理分布→状态可知（T2/T3）；语义依赖→数据适用（T1/T6）；动作外部性→行动可信（T4/T5）；交易协同→价值可结算（T7）。T8 横切全部关口。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4069080"/>
            <a:ext cx="9509760" cy="22402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41605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</a:rPr>
              <a:t>2.3  机制事实底座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4471416"/>
            <a:ext cx="9144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  <a:ea typeface="WenQuanYi Micro Hei"/>
              </a:rPr>
              <a:t>零假设：SA2/SA5/O-RAN 与网络原生功能可能已足够。五类判断：网络原生解决 / 机制重合 / 需要补充 / Data Fabric 不适用 / 公开证据不足。2.3.1 定规则，2.3.2 定标准交界面，2.3.3 横向比较机制而非排名，2.3.4–2.3.6 把架构图放进三家竞情，2.3.7 划相邻竞合边界。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本册结构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2.3.1  分析规则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先看架构原本解决什么，再用 2.2 提问，只给五类可证伪判断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2.3 不预设 6G 必须采用独立 Data Fabric。未描述的机制记为未知，不是缺失；名称相似不等于能力已实现。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98448"/>
            <a:ext cx="37033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64008" cy="2331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353312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本节目的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609344"/>
            <a:ext cx="3483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2.2 已建立能力框架。2.3 只回答：公开架构、标准和产品实际提供了哪些机制，这些机制覆盖、部分覆盖还是替代了哪些能力。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厂商叙述只作外部校验，不把其路线图写成行业必然。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1298448"/>
            <a:ext cx="37033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1298448"/>
            <a:ext cx="64008" cy="2331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1353312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零假设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1609344"/>
            <a:ext cx="3483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SA2、SA5、O-RAN 与网络原生功能可能已经足够。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外部编织层不得进入毫秒级快环同步依赖。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只有当公开机制无法覆盖那些能力时，才判断“需要补充”。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298448"/>
            <a:ext cx="379476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298448"/>
            <a:ext cx="64008" cy="2331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5" y="135331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禁止写法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5" y="1609344"/>
            <a:ext cx="357530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不把 Mesh / Fabric / Data Plane 名称直接写成 2.2 能力已落地。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不把研究架构写成商用能力。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不把单域案例外推成统一跨域编织。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7307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五类判断：每条后文结论必须落入其中一类，并可被后续公开材料证伪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4041648"/>
            <a:ext cx="22402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4041648"/>
            <a:ext cx="2240280" cy="91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42062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网络原生解决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736592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现有网元、接口或管理功能已覆盖该能力，不必再引入外部编织层。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9191" y="4041648"/>
            <a:ext cx="22402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79191" y="4041648"/>
            <a:ext cx="2240280" cy="91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1" y="42062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机制重合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1" y="4736592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公开架构已提供同类机制，但范围、接口或证据链仍不完整。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0912" y="4041648"/>
            <a:ext cx="22402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10912" y="4041648"/>
            <a:ext cx="2240280" cy="91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42062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需要补充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4736592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能力缺口已被公开材料承认，或现有机制明确无法覆盖。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42631" y="4041648"/>
            <a:ext cx="22402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2631" y="4041648"/>
            <a:ext cx="224028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4071" y="42062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Data Fabric 不适用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1" y="4736592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该问题应由网络原生、标准接口或业务系统承担，不应交给编织层。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74352" y="4041648"/>
            <a:ext cx="22402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74352" y="4041648"/>
            <a:ext cx="2240280" cy="91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65792" y="42062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公开证据不足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4736592"/>
            <a:ext cx="2057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材料未描述该机制。记为未知，不得写成缺失或落后。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2.3.1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2.3.2  标准与接口落位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标准分别解决局部问题，没有共同命名为 Data Fabric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待验证的是共同外部行为，不是再加统一名称。更有把握冻结角色、稳定标识、最小元数据、交付外部行为，并与 QoD/授权/证据挂钩。Kafka、湖仓、完整 KG、独立 Fabric 或专用 Data Plane 都仍是未收敛实现选择。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261872"/>
          <a:ext cx="1147572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154680"/>
                <a:gridCol w="3154680"/>
                <a:gridCol w="3017520"/>
              </a:tblGrid>
              <a:tr h="316121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标准域 / 状态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实际定义或研究对象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与2.2能力的关系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不能据此推出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316121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ITU-R IMT-2030  Recommendation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六类场景、总体能力与2030目标；不定义网元、协议或数据生命周期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形成AI原生、通感、孪生和泛在智能的数据需求来源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不能推出QoD、Catalog、血缘或“6G Data Fabric”接口已成为IMT要求  [S1]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316121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3GPP RAN  6G Study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无线测量、RRC/MAC/PDCP/RRM、MDT；亚毫秒快环至秒级报告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网络原生定义小区、波束、UE、频段、测量与配置等权威事实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不能推出RAN还应承担跨域目录、企业湖仓或统一产品运营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16121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SA2 KI#21  Rel-20 Draft TR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6GC系统级发现、注册、采集、处理、存储与暴露，及UE/RAN/OAM/AF关系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可能原生覆盖角色、发现、交付控制、最小元数据和授权挂钩点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TR 23.801-01尚未冻结独立数据面、必选NF或具体实现拓扑  [S5]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316121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SA5 TS积木 + DMFW Draft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PM/CM/FM/Trace、MDA、AI/ML、NDT管理及管理侧数据框架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原生提供管理对象、分析、模型/孪生生命周期、同步与部分质量语义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管理能力≠毫秒数据总线、NDT保真度或动作安全已被证明  [S6][S26][S29]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16121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O-RAN 开放接口 / ZSM 029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O1/O2/A1/E2/R1；ZSM研究数据注册/发现、资产、认证、采集与编排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按时标开放数据、策略、模型和动作；ZSM与目录/资产机制明显重合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五类接口不是统一语义/QoD/血缘总线；工作项≠最终规范或独立Fabric  [S7][S43]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31612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TMF / GSMA / CAMARA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自治运营、服务包装、开发者消费、用量、认证与结算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覆盖数据/能力产品的外部行为和商业运营接口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不能推出内部采集、QoD生成或无线动作路径已经统一  [S15][S16]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7472" y="3547872"/>
          <a:ext cx="1147572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063240"/>
                <a:gridCol w="2971800"/>
                <a:gridCol w="3108960"/>
              </a:tblGrid>
              <a:tr h="28651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交界面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现有分工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可观察问题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可能解法（不预设实现）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28651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SA2系统数据 ↔ SA5管理数据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SA2研究系统级发现/交付；SA5管PM/CM/FM/Trace、MDA与NDT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同一OAM数据可能重复注册，使用不同质量或授权表达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共享稳定ID、最小元数据和质量语义；可由标准功能、适配层或外部目录实现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28651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RAN/O-RAN ↔ Core数据框架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E2/O1提供无线与管理事实；SA2候选路径负责系统交付和暴露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低时延直达与治理可见性冲突，跨接口对象难关联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事件时间、配置版本、关联ID和异步证据回流；快环继续使用本地确定性状态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O1/O2/A1/E2/R1之间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接口对象、Schema、作用域和时标不同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同一小区、策略和模型在不同接口难以追踪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版本化映射、权威源和血缘引用；不要求一个接口或平台替代全部接口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28651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AI/ML/NDT ↔ 动作放行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SA5管理生命周期，O-RAN或厂商控制器执行动作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“可管理”容易被误读为“可证明安全”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输入快照、模型/策略/动作版本、同步误差、灰度和回滚证据挂钩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内部能力 ↔ CAMARA/Operate API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内部网络能力经标准API向开发者暴露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API一致不代表语义、QoD、责任、用途和计量一致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内部契约到外部SLA的映射、跨网一致性测试和清结算字段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47472" y="5340096"/>
            <a:ext cx="3703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5340096"/>
            <a:ext cx="64008" cy="10515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539496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形态A · 增强既有功能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5650992"/>
            <a:ext cx="3483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DCCF/ADRF/NWDAF/MDA扩展。若既有SBI与管理服务能满足发现、交付和生命周期，网络原生增强可能比新增平台成本更低。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5340096"/>
            <a:ext cx="3703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87952" y="5340096"/>
            <a:ext cx="64008" cy="10515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539496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形态B · 新功能/新平面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5650992"/>
            <a:ext cx="3483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若隔离、吞吐、Fan-out或近源处理无法满足，可引入专用控制/处理/存储/分发；代价是会话、安全、移动性、容灾与状态一致性。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5340096"/>
            <a:ext cx="37033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5340096"/>
            <a:ext cx="64008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5394960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形态C · 混合能力包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5650992"/>
            <a:ext cx="3483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能力标准化、拓扑可组合。事件/流/文件/模型可选不同后端。当前更有把握：先冻结外部行为与测试，而不是名称。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2.3.3  三家机制横向比较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按问题比机制，不是按谁更接近 Data Fabric 排名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三家是不同起点：Ericsson 联邦+产品组合，Huawei 网络原生拓扑，Nokia 数据管理与自治软件商品化。登记对象不同，不能按功能表做 Fabric 成熟度排名。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261872"/>
          <a:ext cx="114757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468880"/>
                <a:gridCol w="2423160"/>
                <a:gridCol w="2423160"/>
                <a:gridCol w="2468880"/>
              </a:tblGrid>
              <a:tr h="63354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6G数据面问题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Ericsson公开机制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Huawei公开机制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Nokia公开机制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客观判断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63354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发现与全局视图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2021 GDC；2026参考架构提出统一目录体验与联邦数据岛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DO维护DA能力注册并按服务目标构造数据拓扑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Data Suite提供Catalog、多厂商适配和3GPP/TMF语义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登记对象不同：数据资产、执行能力与产品目录不能直接等同；均需验证跨域稳定ID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63354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摄取、近源处理与分发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EDCA/DRG/DDC、Mediation、DataOps及智能数据移动；Figure 18仍保留EDCA/DRG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DA/DPF/DSF近源算子，DCP以Pub/Sub支持多消费者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域湖仓保留自治，Common Fabric/Lakehouse联邦访问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这些首先属于数据平面或集成运行时；有无Data Fabric不决定吞吐、时延和容灾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语义、QoD与血缘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2026参考架构描述质量、血缘、语义模型与知识图谱；统一产品部署证据不足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研究输入含Data QoS，AUTINOps有语义底座；DO/DA/DCP统一血缘未公开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Data Suite显式提供质量/validity、血缘、语义和产品能力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机制重合程度不同；参考架构、标准输入和已发布产品必须分档，不能按功能表排名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63354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策略与动作证据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EIAP/rApps、NWDAF及AI agent架构消费数据并执行受限功能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AUTINOps、NDT sandbox与AgenticCore分别位于管理、研究和Core愿景层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AN Fabric Sense–Think–Act经AN Apps调用域控制器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它们是数据消费者与动作系统，不等于数据管理层；共享快照和回滚证据仍需单证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数据产品与外部运营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2026参考架构提出数据产品/Marketplace；CCES/Aduna覆盖能力渠道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Open Gateway覆盖能力API；内部跨域数据产品契约公开较少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Data Suite、Fabric Experience、Monetization与Marketplace形成产品叙事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数据产品、网络能力API和渠道聚合是三个层次；收入证据不能反推内部统一Fabric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63355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6G演进接口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Common data plane与model orchestrator属于6G愿景，与2026参考架构无公开产品继承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DO/DA/DCP是候选网络原生架构并有DCP原型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Holistic data framework与现有Data Suite/AN Fabric做能力映射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三条路线可能互补、替代或按时标共存；目前没有规范性结论支持单一路线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7472" y="5760720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比较结论：Ericsson更强调分散产品与数据岛的联邦，Huawei更强调网络原生拓扑和近源执行，Nokia更强调数据管理与自治软件的产品化。这是架构起点和机制选择，不是“谁更接近Data Fabric”的排名。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后三页把各自官方架构图放进竞情：先看图里实际有哪些对象，再判断机制重合、网络原生替代、必要补充或证据空白。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2.3.4  Ericsson 竞情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三条线必须分开：架构继承、产品演进、未来架构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2026 Figure 18 仍保留 EDCA/DRG；官方产品血缘是 Mediation→Telco DataOps，不是 EDCA→DataOps；AI-ready 是 North Star，不是已交付统一 SKU。“no data copy”应读成减少不必要复制，而非绝对不移动数据。</a:t>
            </a:r>
          </a:p>
        </p:txBody>
      </p:sp>
      <p:pic>
        <p:nvPicPr>
          <p:cNvPr id="6" name="Picture 5" descr="ericsson-ai-ready-data-managemen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5577840" cy="17190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472" y="1261872"/>
            <a:ext cx="5577840" cy="1719072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99923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图4a  Ericsson 2026 AI-ready North Star（白皮书p.16）：源/摄取/精炼治理/消费支撑 + 目录/质量/血缘/产品/KG</a:t>
            </a:r>
          </a:p>
        </p:txBody>
      </p:sp>
      <p:pic>
        <p:nvPicPr>
          <p:cNvPr id="9" name="Picture 8" descr="ericsson-data-ingestion-architecture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218688"/>
            <a:ext cx="5577840" cy="14447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7472" y="3218688"/>
            <a:ext cx="5577840" cy="1444752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68172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图4b  Figure 18 摄取架构：EDCA、DRG仍在；客户侧DMF + Ericsson侧EFDL/Data Fabric 构成新联邦边界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261872"/>
            <a:ext cx="5760720" cy="10789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2472" y="1261872"/>
            <a:ext cx="64008" cy="10789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316736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架构继承线  ·  2021 A → 2026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572768"/>
            <a:ext cx="554126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2021 EDCA/DRG/DDC/GDC 解决“采集一次、跨域中继、联邦发现”。2026 Figure 18仍保留EDCA/DRG，并扩展DMF、EFDL、EFDL Data Fabric。DDC/GDC名称消失，公开材料未说明被替代或退役，只能判断功能被重新组织。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395728"/>
            <a:ext cx="5760720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62472" y="2395728"/>
            <a:ext cx="64008" cy="10241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2450592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产品演进线  ·  Mediation → Telco DataOps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706624"/>
            <a:ext cx="55412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2025 solution brief给出的官方血缘是Mediation→Telco DataOps，增加管道、管理、治理和应用加速。EIAP（Swisscom合同）、NWDAF、CCES/Aduna分别有锚点，但不能画成同一版本链或统一元数据控制面。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3474720"/>
            <a:ext cx="57607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474720"/>
            <a:ext cx="64008" cy="1188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3529584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未来架构线  ·  North Star ≠ 6G愿景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3785616"/>
            <a:ext cx="5541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2026-01 AI-ready把范围扩到语义/KG、质量、血缘、数据产品和Agent消费，是future-state参考架构。6G common data plane + model orchestrator更靠近网络数据采集、传输、潜在存储、治理与模型放置。二者有机制交集，无公开产品继承。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47472" y="4773168"/>
          <a:ext cx="11475719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977639"/>
                <a:gridCol w="3657600"/>
              </a:tblGrid>
              <a:tr h="813816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已证明 / 架构事实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尚未证明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反证门 / 引用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813816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摄取加工、EIAP、NWDAF、API渠道分别有产品或部署锚点。Figure 18延续EDCA/DRG；North Star另行加入语义、治理、产品和Agent支撑。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参考架构已成为统一SKU；DataOps/EIAP/NWDAF共享同一跨域语义、QoD和证据链；第三方Agent、异构湖仓和跨网API在相同契约下可双向迁移。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若统一平台在多厂商网络以更低TCO替代这些组件，联邦组合的经济优势会下降。S9/S10/S11/S18/S21/S30/S35/S36/S57/S58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2.3.4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2.3.5  Huawei 竞情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DO / DA / DCP 首先是 6G 数据面问题，不是 Data Fabric 宣言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DO/DA/DCP 把多源—多处理—多消费者建模为网络内可编排拓扑，可作部分通用集成的网络原生替代；但仍是研究架构。必须同时保留“网络原生吸收”和“外部元数据补充”两种解释。</a:t>
            </a:r>
          </a:p>
        </p:txBody>
      </p:sp>
      <p:pic>
        <p:nvPicPr>
          <p:cNvPr id="6" name="Picture 5" descr="huawei-6g-data-plane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5440680" cy="24871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472" y="1261872"/>
            <a:ext cx="5440680" cy="2487168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3767328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图5  Huawei 2024 6G Data Plane：DO编排拓扑，DA/DPF近源处理，DCP/Data Spine以Pub/Sub解耦。研究架构，不是3GPP既定方案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312" y="1261872"/>
            <a:ext cx="589788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5312" y="1261872"/>
            <a:ext cx="64008" cy="12070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316736"/>
            <a:ext cx="5678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先按原始设计读控制流 / 数据流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616" y="1572768"/>
            <a:ext cx="567842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控制流：服务请求向DO声明采集/过滤/聚合/转换/分析目标；DO查询DA能力注册，分解操作链，选择UE/基站/边缘/Core上的DA/DPF/DSF，再下发拓扑、访问、隐私和资源策略。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数据流：源DA发布topic，DCP按订阅或带内拓扑异步分发；上游模型输出可继续作为下游输入。这首先是6G数据面问题，不是Data Fabric问题。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5312" y="2523744"/>
            <a:ext cx="5897880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25312" y="2523744"/>
            <a:ext cx="64008" cy="122529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578608"/>
            <a:ext cx="5678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两种解释并行  ·  不把“补成Fabric”当唯一终点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834640"/>
            <a:ext cx="56784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原生解释：DO能力注册可吸收部分目录/工作流；DA/DPF保持近源执行；DCP针对Fan-out和低时延优化。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补充解释：跨域资产语义、Owner、产品契约、持久化历史仍可能由外部控制层或湖仓承担。结果A入标 / B厂商实现 / C分层混合都可能；停止线是增强SBA/UP已够用则不新增平面。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47472" y="3858768"/>
          <a:ext cx="11475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063240"/>
                <a:gridCol w="3108960"/>
                <a:gridCol w="2971800"/>
              </a:tblGrid>
              <a:tr h="50292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组件 / 证据层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原生职责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与Fabric参照系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证据边界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DO  研究原型P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DA能力注册、目标分解、操作DAG、选点并下发拓扑/策略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发现/策略/编排与部分Fabric机制重合；登记对象主要是执行能力，≠通用资产Catalog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与SA2/SA5/管理职责边界、DO容灾和多厂商控制仍未冻结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 / DPF / DSF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近源采集、过滤、缓存、推理；DPF承载算子，DSF承载持久存储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网络原生近源运行时；Fabric不应替代其毫秒执行和断链状态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资源预算、升级回退、可信执行、移动性和多厂商可移植性未证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DCP 约2ms；10 broker/128KB约2394.6MB/s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消息代理、队列和Pub/Sub；Stateful查表，Stateless把拓扑编码进包头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可能替代通用MQ的部分交付功能；不负责证明语义、血缘或数据产品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对照开启持久化而DCP移除，不公平；缺跨站容灾、租户、移动性和长期稳定性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AUTINOps 管理域C2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DTN、语义底座和Agent执行Non-RT跨域运维闭环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管理域消费者/动作系统，可提供部分语义和证据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部署案例不含DO/DA/DCP级网络数据面，不是DCP商用证明  [S12][S37][S38]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2.3.5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2.3.6  Nokia 竞情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Data Suite 与 L4/L5 机制重合最显式；AN Fabric 是智能消费层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两套“Fabric”不是同一层。公开案例分别证明域级AI、处理规模或单项产品，不能合并外推为一个统一实例已跨RAN/Core/传输和多厂商生产部署。</a:t>
            </a:r>
          </a:p>
        </p:txBody>
      </p:sp>
      <p:pic>
        <p:nvPicPr>
          <p:cNvPr id="6" name="Picture 5" descr="nokia-autonomous-network-fa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5440680" cy="2331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472" y="1261872"/>
            <a:ext cx="5440680" cy="2331720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3611880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图6  Nokia 2025 AN Fabric：Sense–Think–Act智能循环经AN Apps调用域控制器，再向Monetization/Marketplace暴露。智能消费层，不是数据管理Fabric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25312" y="1261872"/>
            <a:ext cx="58978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5312" y="1261872"/>
            <a:ext cx="64008" cy="2331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316736"/>
            <a:ext cx="5678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先区分数据管理、智能消费与网络执行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616" y="1572768"/>
            <a:ext cx="5678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数据流：各域本地采集形成domain lakehouse；common fabric/lakehouse经适配与联邦向Data Suite供给产品，再进入AN Fabric的Sense层。数据默认留域，公共层不要求物理集中。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控制流：Sense统一观察和chain-of-custody，Think用telco-trained模型/KG/Glass-Box，Act经域AN Apps调用现有OSS/RIC/SON。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Data Suite与L4/L5机制重合最显式；AN Fabric是智能消费层。2024蓝图承认CSP真实分布式部署仍有限。公共层—Data Suite—AN Fabric是否共享同一元数据/策略/版本，公开材料尚不足以回答。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47472" y="3730752"/>
          <a:ext cx="1147572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246120"/>
                <a:gridCol w="3154680"/>
                <a:gridCol w="3108960"/>
              </a:tblGrid>
              <a:tr h="33832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案例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公开规模/结果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能够证明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不能证明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33832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KDDI AVA PDDR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覆盖20万4G/5G RAN，AI检测silent cell并联动恢复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RAN域异常检测和闭环恢复可在商用网运行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AN Fabric/Data Suite跨RAN/Core/传输统一部署或多厂商中立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33832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stc Cognitive SON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高流量期&gt;1万自动动作；负载小区利用率约+30%、用户吞吐约+10%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域级RAN自治优化与自动动作产生可量化结果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这些动作由统一跨域Fabric驱动，或Core/传输共享同一产品契约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Indosat / 匿名Tier-1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节能扩至多区域Nokia RAN；25万小区、27万报告/秒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域应用可SaaS化；Data Suite具备大规模摄取和产品化潜力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未具名、无独立审计，不能外推广泛跨域商用或真正多厂商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47472" y="5157216"/>
            <a:ext cx="27889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5157216"/>
            <a:ext cx="64008" cy="1234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5212080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同一控制体系？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5468112"/>
            <a:ext cx="2569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Data Suite/AN Fabric/AN Apps分层清晰，但AVA/MantaRay/节能等SKU可能只在品牌层组合。验证门：统一版本、对象模型和跨产品复用。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5157216"/>
            <a:ext cx="27889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3552" y="5157216"/>
            <a:ext cx="64008" cy="1234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5212080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真正多厂商？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5468112"/>
            <a:ext cx="2569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3GPP/TMF语义和多厂商适配进入产品说明；Nokia Schema/规则仍可能软锁定。验证门：第三方后端/Agent、公开契约和双向迁移。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5157216"/>
            <a:ext cx="27889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5157216"/>
            <a:ext cx="64008" cy="1234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5212080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贯通动作？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5468112"/>
            <a:ext cx="2569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Sense–Think–Act连接分析与应用，但高风险动作仍依赖域控制器。验证门：输入快照、动作证据、灰度和第三方执行器。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25712" y="5157216"/>
            <a:ext cx="27889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25712" y="5157216"/>
            <a:ext cx="64008" cy="12344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5212080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可替换后端？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5468112"/>
            <a:ext cx="2569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本地/GCP/混合提高选择空间，也可能带来云和元数据双重锁定。验证门：核心元数据可导出、多云TCO、主权部署和故障迁移。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2.3.6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2.3.7  相邻竞合者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云、湖仓、聚合商可提供部分机制，但不能承接 RAN 快环与网元动作权限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云和湖仓可以提供模型与数据运行时，设备商更接近网络语义、近源执行和动作权限，聚合商掌握开发者入口与结算。价值在于三层能否通过开放Schema、可导出证据、可替换后端和SLA解耦，而不是其中任何一层必须成为统一平台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298448"/>
          <a:ext cx="11475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331720"/>
                <a:gridCol w="2148840"/>
                <a:gridCol w="2331720"/>
                <a:gridCol w="2514600"/>
              </a:tblGrid>
              <a:tr h="72009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玩家层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可提供的机制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相对设备商优势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不应承担的网络职责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客观竞合关系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72009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Microsoft / AWS / Google  云与Agent运行时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IaaS、湖仓计算、模型训练/推理、Agent工具和多云运维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算力弹性、模型生态、工程工具及企业数据入口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不应进入RAN快环，或越过3GPP/O-RAN权限直接控制网元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可作为数据/模型后端，也可能提供外部Fabric控制能力；取决于主权、成本和开放接口。Google Telecom Data Fabric仍为Private Preview  [S25]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72009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Databricks / Snowflake  湖仓/Catalog/MLOps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开放表格式、流批、Catalog、共享、特征/MLOps与跨企业协作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通用数据工程成熟、客户存量大、后端规模效应强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不应定义无线对象、Near-RT资源预算和网络动作安全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适合作为可替换后端；设备商无需重复建设全栈湖仓，但需保留电信语义、QoD和策略接口的控制或可移植性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Aduna / CPaaS / Marketplace  API分发与计量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跨运营商目录、认证、开发者触达、用量、计费和收入分成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覆盖聚合与渠道网络效应，可把单网API变成规模产品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不应反向定义内部数据采集、QoD生成和动作执行实现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验证外部需求与结算，不证明内部Fabric；可倒逼上游形成稳定语义、SLA和责任映射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7472" y="4297680"/>
            <a:ext cx="562356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4297680"/>
            <a:ext cx="64008" cy="2057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4352544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竞合边界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4608576"/>
            <a:ext cx="54041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谁能把网络对象变成可运营产品，谁就与湖仓/渠道形成重叠。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谁若把快环状态同步交给远端平台，谁就越过停止线。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相邻竞合的关键不是“谁更像Fabric”，而是责任切分是否被合同和接口写清。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Data Fabric视角的检查项：开放Schema、可导出证据、可替换后端、SLA解耦。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4297680"/>
            <a:ext cx="571500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4297680"/>
            <a:ext cx="64008" cy="20574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4352544"/>
            <a:ext cx="5495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对后文趋势的硬约束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4608576"/>
            <a:ext cx="54955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T2/T3必须坚持全局控制、近源执行；快环不得外包给云目录。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T4/T5的动作权限不能交给聚合商或行业平台。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T7的结算可以发生在渠道和行业平台，但L1生产责任仍在网络侧。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T8应冻结外部行为与测试，而不是把某一云SKU写成标准网元。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2.3.7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2.4  行业小结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共同问题已经明确，Data Fabric 只是可能解法之一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三家是不同起点，不是成熟度序列。目前没有端到端胜者；能被证明的是局部机制，不是统一编织已经成立。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80160"/>
            <a:ext cx="370332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80160"/>
            <a:ext cx="64008" cy="126187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335024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共同问题已经出现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591056"/>
            <a:ext cx="348386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异构发现、近源处理、跨时标交付、语义/QoD、动作证据和外部运营均有真实需求，区别在实现责任与时标，不在名称。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1280160"/>
            <a:ext cx="370332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1280160"/>
            <a:ext cx="64008" cy="12618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1335024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标准没有预设平台形态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1591056"/>
            <a:ext cx="348386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SA2/SA5仍在Rel-20研究；增强既有功能、新NF和混合能力包都可能。独立Fabric或专用Data Plane均非既定结论。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280160"/>
            <a:ext cx="370332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2" y="1280160"/>
            <a:ext cx="64008" cy="126187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335024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三家是不同起点，不是成熟度序列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591056"/>
            <a:ext cx="348386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Ericsson强调联邦与产品组合，Huawei强调网络原生拓扑，Nokia强调数据管理和自治软件商品化；三者可替代也可互补。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633472"/>
            <a:ext cx="370332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2633472"/>
            <a:ext cx="64008" cy="12618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688336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证据必须按层拆开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2944368"/>
            <a:ext cx="348386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摄取、湖仓、流平台和域应用已有商用；统一语义、跨产品契约和高风险动作证据不能由单点案例外推。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2633472"/>
            <a:ext cx="370332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7952" y="2633472"/>
            <a:ext cx="64008" cy="126187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2688336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Data Fabric有明确适用边界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2944368"/>
            <a:ext cx="348386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它适合跨域发现、治理和产品供给；近源毫秒执行、移动性和无线控制仍应由网络原生机制承担。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2633472"/>
            <a:ext cx="3703320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2" y="2633472"/>
            <a:ext cx="64008" cy="126187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688336"/>
            <a:ext cx="3483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尚无端到端胜者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944368"/>
            <a:ext cx="348386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没有中立证据证明任何一家已在多运营商、多厂商环境同时实现公共语义、通信QoD、开放后端和可信动作闭环。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4023360"/>
            <a:ext cx="114757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" y="4023360"/>
            <a:ext cx="64008" cy="2331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4078224"/>
            <a:ext cx="11256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转入第3章的接力规则  ·  最稳健断言：Data Fabric是有价值的观察语言，不是6G数据面的预设答案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4334256"/>
            <a:ext cx="112562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2.3只提供事实约束，不提供趋势清单。第3章不得把“厂商正在做X”改写成“行业必然出现X”。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推导顺序只能是：不可变事实 → 若不解决会产生的矛盾 → 必须补齐的能力 → 可验证趋势。标准与厂商仅作外部校验。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若某趋势只能靠某家路线图成立，则该趋势降级为观察项，不得进入第4章时间窗。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应让网络原生方案、外部编织方案和分时标混合方案，在同一组时延、可靠性、语义、QoD、证据、开放性与TCO指标下竞争。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2.4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第3章  整体推理逻辑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四条约束打开四个关口；趋势按价值链排列，而不是按口号排列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先让状态可知，再让数据适用，再让行动可信，最后让价值可结算。T8 横切全部关口，不单列第五条主线。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280160"/>
          <a:ext cx="114757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383280"/>
                <a:gridCol w="1920240"/>
                <a:gridCol w="3154680"/>
              </a:tblGrid>
              <a:tr h="42976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不可变约束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若不解决的矛盾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因此必须补齐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必要关口 / 趋势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42976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物理分布：RAN/Core/Edge/ISAC持续产生高频数据；全量集中受带宽、时延、能耗、隐私和断链约束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中心既看不到及时变化，又承受不可接受的搬运成本；本地执行与全局治理相互脱节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在源附近处理，同时把结构、配置、质量、权限和血缘变化同步为可理解状态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状态可知  ·  T2 变化事件  ·  T3 全局控制/近源执行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2976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语义依赖：无线数据含义依赖对象、时空、配置、采样和测量误差；能访问≠适合当前任务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模型和消费者只能重复解释、清洗与对齐；字段完整仍可能产生错误比较、训练偏差和闭环误判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把数据封装为带消费者、Owner、契约和生命周期的产品，并以面向用途的QoD证明适用边界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数据适用  ·  T1 可运营产品  ·  T6 QoD质量信封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动作外部性：AI/Agent输出会改变真实网络状态；局部错误可影响相邻域、业务SLA和其他闭环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数据错误会直接升级为动作风险；仅有模型置信度无法回答谁授权、为何放行、失败如何接管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建立供数—决策—执行—回证责任链，并用NDT反事实预演、策略、灰度和回滚约束高风险动作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行动可信  ·  T4 Agent协同闭环  ·  T5 NDT动作关口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29768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交易协同：行业应用需要跨运营商覆盖、一致行为、用途约束、责任界定、计量与清结算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API数量增加但体验不一致、无人持续付费；内部成本、外部SLA、责任与收入无法闭环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先形成内部可信产品，再经标准服务、跨网分发和行业结果逐层传递价值并完成结算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价值可结算  ·  T7 四层商业链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7472" y="35661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价值链阅读顺序  ·  后一关口以前一关口成立为前提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3886200"/>
            <a:ext cx="27889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4005072"/>
            <a:ext cx="292608" cy="2926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050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B1F3A"/>
                </a:solidFill>
                <a:latin typeface="WenQuanYi Micro Hei"/>
                <a:ea typeface="WenQuanYi Micro Hei"/>
              </a:rPr>
              <a:t>状态可知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3708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先知道对象在哪、如何变化、谁能就近执行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44952" y="4434840"/>
            <a:ext cx="256032" cy="164592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73552" y="3886200"/>
            <a:ext cx="27889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83280" y="4005072"/>
            <a:ext cx="292608" cy="2926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02336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0050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B1F3A"/>
                </a:solidFill>
                <a:latin typeface="WenQuanYi Micro Hei"/>
                <a:ea typeface="WenQuanYi Micro Hei"/>
              </a:rPr>
              <a:t>数据适用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43708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再知道它能被谁、以何种质量、用于何种任务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71032" y="4434840"/>
            <a:ext cx="256032" cy="164592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3886200"/>
            <a:ext cx="27889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4005072"/>
            <a:ext cx="292608" cy="2926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02336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050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B1F3A"/>
                </a:solidFill>
                <a:latin typeface="WenQuanYi Micro Hei"/>
                <a:ea typeface="WenQuanYi Micro Hei"/>
              </a:rPr>
              <a:t>行动可信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3708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然后才允许决策改网，并留下反证与回证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97112" y="4434840"/>
            <a:ext cx="256032" cy="164592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25712" y="3886200"/>
            <a:ext cx="27889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0" y="4005072"/>
            <a:ext cx="292608" cy="29260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02336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0050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B1F3A"/>
                </a:solidFill>
                <a:latin typeface="WenQuanYi Micro Hei"/>
                <a:ea typeface="WenQuanYi Micro Hei"/>
              </a:rPr>
              <a:t>价值可结算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43708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最后才把内部可信生产接出标准服务与行业结果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5440680"/>
            <a:ext cx="11475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递进纪律：状态可知≠数据适用；数据适用≠动作安全；行动可信≠有人付费。T8横切：判断重点是能力、信息模型和接口能否互操作，而非产品名称。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2C3E50"/>
                </a:solidFill>
                <a:latin typeface="WenQuanYi Micro Hei"/>
                <a:ea typeface="WenQuanYi Micro Hei"/>
              </a:rPr>
              <a:t>因果阅读：T2/T3 → T1/T6 → T4/T5 → T7。没有前一层，后一层不能靠产品命名越级成立。厂商只作外部校验，不替代第一性原理。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第3章推理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价值链 1  ·  状态可知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T2 元数据事件化  +  T3 全局控制、近源执行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重点是变更，不是全量搬家。完整机制=基线快照+变化事件+周期对账。快环不得依赖远端目录；全局控制语义/产品/策略，近源执行时限、减量、自治和断链生存。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80160"/>
            <a:ext cx="57150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80160"/>
            <a:ext cx="64008" cy="32461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335024"/>
            <a:ext cx="5495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T2  元数据从静态目录升级为变化事件  ·  高确定性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591056"/>
            <a:ext cx="549554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推导：静态目录只描述扫描时刻；配置/拓扑/权限/质量持续变化。模型和Agent直接消费后，过期Schema不再只是报表错误，而可能转化为错误动作。消费者要的是“发生了什么、影响谁”，不是再次读取全量目录。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机制：把Schema、对象关系、拓扑、配置、质量、权限、血缘、成本及模型关联的变化，表示为带事件时间、版本、来源、作用域和Correlation ID的可订阅事件。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6G范围：小区、波束、频段、UE群、会话、云资源及其映射；高风险变化阻断/审批，低风险自动测试。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边界：不是把所有业务数据改成事件，也不是让中央事件总线进入快环同步路径。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领先信号：Schema/配置/QoD/权限变更自动生成影响清单并触发CI或策略检查。反证：目录仍靠人工扫描，事故早于目录发现变化。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80160"/>
            <a:ext cx="56235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80160"/>
            <a:ext cx="64008" cy="3246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335024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T3  部署收敛为全局控制、近源执行  ·  高确定性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591056"/>
            <a:ext cx="54041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推导：高频无线与感知数据全量远传受带宽、时延、能耗与隐私约束；快环/MEC/专网/NTN必须在中心断连时继续工作；跨域训练和用途治理又要求语义与策略全局一致。稳定解是控制与执行分层。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全局：对象/语义、QoD模板、产品定义、策略、模型和版本发布。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本地：过滤、聚合、特征、缓存、预编译策略、受限推理与动作。回流：异步上传摘要、执行证据、漂移与冲突，支持版本回退。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领先信号：近源算子与全局目录/策略解耦，断链期间按已批准版本运行。反证：所有查询/审批必须经过中心，或各域完全无法共享语义和策略。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外部校验：Ericsson动态放置、Nokia域自治加公共Fabric、Huawei近源算子共同指向两级控制；趋同的是部署约束，不是统一产品或网元。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7472" y="4617720"/>
          <a:ext cx="11475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2880360"/>
                <a:gridCol w="3108960"/>
              </a:tblGrid>
              <a:tr h="86868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关口检验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验证指标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若不成立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2.3外部校验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状态可知是T1/T6的前提：后续产品化才有稳定对象可引用，QoD才有来源和时效。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T2：变更发现P95、影响覆盖、误报/漏报、对账差异、失效传播时长。T3：P99、跨域字节减量、断链可用、策略同步、版本回退。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T1/T6只能做出静态目录，T4的动作会打到过期对象上。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三家都有摄取/近源叙述；跨域事件对账和统一控制均未证明。OpenLineage证明事件可工程化，电信关键是网络对象/配置/QoD作用域  [S27]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T2 / T3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价值链 2  ·  数据适用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T1 可运营数据产品  +  T6 面向特定用途的 QoD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价值单位从「表、Topic、接口和PB」转为「持续满足明确消费者与任务的数据供给」。QoD是面向特定用途的适用性质量信封，不是覆盖所有数据的总分，也不是已冻结的统一3GPP指标。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80160"/>
            <a:ext cx="57150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80160"/>
            <a:ext cx="64008" cy="32461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335024"/>
            <a:ext cx="5495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T1  网络数据封装为可运营产品  ·  高确定性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591056"/>
            <a:ext cx="549554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最小完备集：明确消费者与任务、稳定标识和版本、Owner、Schema/语义、QoD、SLO、用途/权限、血缘、成本/计量、保留期及退出。只有目录条目、接口包装或Marketplace页面，仍不是数据产品。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推导：源×消费者增加会使点对点集成爆炸；可复用供给必须出现稳定契约。无线含义依赖小区/频段/波束/配置/采样窗口，产品必须携带上下文和质量边界。没有Owner就无法形成服务承诺。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落地：优先在移动性、节能、故障、QoE和模型特征形成少量高复用产品；默认交付事件、聚合指标、特征或分析服务，而非全量原始流。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领先信号：产品契约进入版本基线，生产者和消费者共同签署SLO/QoD。反证：每个场景仍重新采集清洗，产品长期无人消费，Owner与退出机制缺失。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80160"/>
            <a:ext cx="56235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80160"/>
            <a:ext cx="64008" cy="3246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335024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T6  QoD成为模型与闭环的准入标准  ·  中高确定性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591056"/>
            <a:ext cx="54041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定义：用一组可测试的质量信封说明，数据在何种对象、时空、配置与采样条件下，可以被哪个模型或闭环安全使用。同一KPI在不同小区/频段/波束/配置/采样窗口下不可直接比较。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信封至少包含——通用：准确、完整、一致、新鲜、唯一、可追溯。电信：采样代表性、时空覆盖、同步误差、配置一致、测量置信、suspect/incomplete。AI：标签来源、训练—服务偏差、特征漂移、适用对象与禁用边界。契约：按用途设阈值与降级，而非简单合格/不合格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领先信号：QoD进入数据契约、模型卡、跨域接口和动作放行条件。反证：仍只统计记录量、接口成功率、完整性，或用一个总分掩盖差异。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外部校验：Huawei Data QoS输入、Nokia数据有效性、Ericsson质量/生命周期主张说明竞争正在上移；短期更可能先形成「数据族×场景」契约。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7472" y="4617720"/>
          <a:ext cx="11475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2880360"/>
                <a:gridCol w="3108960"/>
              </a:tblGrid>
              <a:tr h="86868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关口检验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验证指标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若不成立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2.3外部校验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数据适用是T4/T5的前提：高风险动作才有资格引用该产品；跨域复用不会silent错用。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T1：交付周期、复用消费者、契约违规、重复采集下降、单位任务成本。T6：覆盖/代表性、同步误差、配置一致、漂移、误动作、降级触发。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T4/T5会把不合格数据送进闭环，T7的外部服务会卖出不可负责的结果。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Nokia Data Suite、Ericsson AI-ready和Open Gateway说明产品化已进入供需两侧；跨产品共享与用途重评均未证明  [S10][S24]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T1 / T6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价值链 3  ·  行动可信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T4 供数—决策—执行—回证  +  T5 NDT 作为动作前反事实验证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不是含糊的“耦合或融合”：融合的是接口与证据图，分离的是治理责任。NDT是动作前反事实验证的证据来源，不是绝对安全证明；Fabric供快照，NDT产证据。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80160"/>
            <a:ext cx="57150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80160"/>
            <a:ext cx="64008" cy="32461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335024"/>
            <a:ext cx="5495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T4  供数—决策—执行—回证  ·  中高确定性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591056"/>
            <a:ext cx="549554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四段：Fabric提供版本化产品、上下文、QoD与策略 → 模型/Agent依据意图选择数据、工具和候选动作 → 执行面按身份、作用域、租约和风险预算动作 → 动作、结果、回滚与漂移写回共同证据图。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推导：Agent必须持续获得当前对象、配置、质量与权限，而非一次性把文档放进向量库。一旦能调用工具，数据错误就会转化为动作风险。责任不能合并：数据管用途/保留，模型管性能/漂移，Agent管身份/权限/动作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落地顺序：接口融合（目录检索、订阅、血缘、策略校验以受控工具供Agent调用）→ 证据融合 → 治理分离（IPOE；Reasoner与Actor分离）。先做检索、调查、工单编排和建议，再扩大到白名单低风险动作；快环保留确定性执行。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领先信号：工具调用携带身份、产品/模型版本和策略决策。反证：只有聊天或RAG，无法说明用了哪份数据、谁授权、执行了什么。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80160"/>
            <a:ext cx="56235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80160"/>
            <a:ext cx="64008" cy="3246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335024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T5  高风险动作以NDT预演为放行关口  ·  中高确定性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591056"/>
            <a:ext cx="54041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关系：Data Fabric向NDT提供带时间、配置、QoD与血缘的版本化状态快照；NDT对候选动作做反事实预演并输出收益、冲突和副作用；策略引擎据此放行、灰度或拒绝；生产结果再回流校准。NDT是证据链中的消费者和生产者，不是Fabric同义词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路径：可信快照 → 孪生预演 → 策略闸门（误差门槛·风险预算·审批·灰度）→ 生产反馈（执行·熔断·回滚·回放·校准）。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成为关口的必要条件：按动作类别定义保真度、最大同步滞后、场景覆盖和可接受预测误差；保存输入快照、孪生/模型版本、候选动作、预演结果、放行理由和生产结果；误差超门槛自动退回建议模式。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领先信号：NDT进入变更审批和Agent动作强制路径。反证：只有拓扑可视化，没有误差门槛、生产反馈或超限退回。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7472" y="4617720"/>
          <a:ext cx="11475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2880360"/>
                <a:gridCol w="3108960"/>
              </a:tblGrid>
              <a:tr h="86868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关口检验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验证指标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若不成立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2.3外部校验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行动可信是T7的前提：才有资格把闭环结果卖给外部；标准才有动作证据可测。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T4：证据完整、越权拦截、错误上下文阻断、人工接管、回滚成功。T5：同步滞后、预测误差、覆盖、回放一致、灰度失败、回滚成功。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外部API与行业结算会放大不可追溯动作，形成责任真空。全面无人治理与跨域自由行动仍不可信。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3GPP和厂商分别推进数据框架、AI生命周期、Agent工具链和自治平台；公开证据不足以支持一个统一Agent Fabric接管全网。SA5已有NDT管理积木≠已能证明任意动作安全  [S4][S23][S29]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T4 / T5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价值链 4  ·  价值可结算  ·  T8 横切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T7 四层商业链成立的前提，是前三关口已经可验证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之所以称为商业链，不是因为多了API，而是每层都有不同生产者、购买者、成本、责任与结算对象。T8：T1–T7的需求会留下，承载它们的拓扑、组件边界和名称未必统一。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80160"/>
            <a:ext cx="278892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80160"/>
            <a:ext cx="64008" cy="157276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33502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① 内部可信生产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591056"/>
            <a:ext cx="25694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供给：带语义、QoD、用途和成本的数据/分析产品。买方：网络产品线、运维、AI和API团队。价值：复用、降本、缩短交付。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280160"/>
            <a:ext cx="278892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1280160"/>
            <a:ext cx="64008" cy="157276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33502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② 标准服务包装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591056"/>
            <a:ext cx="25694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供给：QoD、位置、身份、状态或分析服务。买方：行业平台、应用与CPaaS。价值：SLA、调用/会话收费。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280160"/>
            <a:ext cx="278892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280160"/>
            <a:ext cx="64008" cy="15727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33502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③ 跨运营商分发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91056"/>
            <a:ext cx="25694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供给：一致目录、认证、覆盖、用量和清结算。买方：需要全国/多国覆盖的开发者。价值：渠道佣金、收入分成。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5712" y="1280160"/>
            <a:ext cx="278892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5712" y="1280160"/>
            <a:ext cx="64008" cy="15727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33502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④ 行业结果结算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1591056"/>
            <a:ext cx="25694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供给：交易成功、体验改善、风控或运营结果。买方：金融、车联、工业、媒体。价值：按结果或业务量定价。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2944368"/>
            <a:ext cx="57150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2944368"/>
            <a:ext cx="64008" cy="19659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2999232"/>
            <a:ext cx="5495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T7成立条件  ·  中等确定性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3255264"/>
            <a:ext cx="54955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外部服务的一致性上限由内部数据产品稳定性决定；单运营商覆盖通常不足以支持规模行业应用；标准API会降低接口稀缺性，价值上移到交易/会话/结果。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先产品化内部能力，再映射CAMARA或行业API；不能用API数量倒推内部成熟度。原始感知数据出售不是默认模式。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领先信号：内部产品契约与外部SLA可追溯，Operate API、聚合渠道与用量结算联通。反证：API数量增长但无跨网一致、持续消费者、责任边界和收入。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944368"/>
            <a:ext cx="56235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2944368"/>
            <a:ext cx="64008" cy="1965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999232"/>
            <a:ext cx="5404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T8横切  ·  低—中确定性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255264"/>
            <a:ext cx="540410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发现、采集、处理、存储、暴露和治理横跨不同域与时标，不同用例不可能共享完全相同的在线流程。标准应优先冻结跨厂商必须一致的外部行为。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最稳定的标准对象是能力语义、信息模型、生命周期、接口行为与一致性测试，而非厂商品牌式拓扑。既可增强DCCF/ADRF/NWDAF/MDA，也可部署SMO服务、边缘Agent或新NF。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领先信号：Rel-21收敛功能、信息模型与接口，同时允许多种部署拓扑。反证：3GPP明确冻结独立统一数据平面及必选NF和流程。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5010912"/>
            <a:ext cx="114757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产业断言：6G Data Fabric不会以一个“大一统平台”胜出，而会沿「状态可知 → 数据适用 → 行动可信 → 价值可结算」进入网络。架构上表现为统一控制语义与分布式执行，标准上优先收敛可互操作的能力、信息模型、接口和证据。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趋势边界：事件化≠全量流事件化；产品化≠上架目录；协同闭环≠Agent接管快环；NDT≠安全证明；QoD≠单一总分；商业链≠API数量；能力集合≠标准已放弃新NF。越过这些边界，趋势判断就会退化为营销术语。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2C3E50"/>
                </a:solidFill>
                <a:latin typeface="WenQuanYi Micro Hei"/>
                <a:ea typeface="WenQuanYi Micro Hei"/>
              </a:rPr>
              <a:t>第4章不再新增趋势，只问：这些关口在3年内能否变成可验证事实，在5年内控制点落在谁手里。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T7 / T8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2801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第4章  3年看透 / 5年看清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9260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只投射 T1–T8：3年固定不变量，5年看清控制点，不猜网元名称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640080"/>
            <a:ext cx="11475720" cy="530352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论点  「看透」是把趋势变成可验证、可证伪、可停止的工程命题；「看清」是观察谁掌握语义/QoD、近源运行时、Agent/NDT证据、跨网结算和互操作规则。不猜网元名称，不再另造趋势。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243584"/>
          <a:ext cx="1147572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337560"/>
                <a:gridCol w="3246120"/>
                <a:gridCol w="3200400"/>
              </a:tblGrid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趋势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1–3年必须出现的可验证事实（约2026–2028）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3–5年可能看清的结构性结果（约2029–2031+）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停止线 / 仍需保留的不确定性</a:t>
                      </a:r>
                    </a:p>
                  </a:txBody>
                  <a:tcPr anchor="t">
                    <a:solidFill>
                      <a:srgbClr val="0B1F3A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T1 数据产品  高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故障/节能/移动性/QoE或模型特征中，至少少量产品具有消费者、Owner、Schema、QoD、SLO、用途与退出；同一产品跨第二场景/后端复用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跨域供给从项目接口转为版本化产品组合；高价值产品进入主航道版本和运营体系，部分按任务或结果计量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若仍按项目重复取数清洗，“产品化”只是目录改名；原始数据出售也未必成为主模式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T2 元数据事件  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Schema、配置、拓扑、QoD、权限和血缘变化能触发影响分析、契约测试、缓存/模型失效或审批；同时保留基线快照和周期对账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元数据事件成为质量治理、模型重验和策略执行的共同状态输入；跨域对象ID、事件模型、血缘与影响图形成控制点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若事故仍早于目录发现变化，控制面仍是被动盘点；事件不应成为快环在线依赖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T3 两级部署  高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出现“SMO/Non-RT全局定义 + RAN/边缘本地处理”的时间盒PoC；证明断链运行、异步回证、版本同步与回退，不进入&lt;10ms同步路径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全局控制与分布执行成为默认形态；近源运行时、策略/模型分发、断链与回退构成设备商和云平台的分工边界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若收益覆盖不了站点开销或必须依赖中心，应停止近源子Fabric产品化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T4 Agent协同  中高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目录/血缘/订阅/策略成为受控工具；Agent调用带身份、作用域、租约、数据/模型版本和结果证据。只读调查与建议规模化，低风险动作小范围白名单化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低风险调查、编排和白名单动作常态化；数据/模型/工具/动作共享证据图，但治理责任继续分离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若只有聊天或RAG而没有工具责任链，就不能称为可操作协同；全面无人治理仍不可信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T5 NDT关口  中高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至少一个高风险变更完成历史回放与影子运行；为保真度、同步滞后、误差和覆盖设门槛，超限自动退回建议/人工模式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高风险动作形成“可信快照—孪生预演—策略—灰度—回滚—生产校准”强制路径；场景库、误差门槛和放行规则成为控制点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若孪生仍只有可视化，就不能承担放行证据；NDT始终是证据源之一，不是绝对安全证明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T6 QoD准入  中高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按数据族形成质量信封并进入数据契约、模型卡或接口；至少覆盖采样代表性、时空覆盖、同步/配置一致、测量置信及训练—服务偏差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不同数据族的质量信封收敛公共属性并进入互操作测试；QoD成为模型、闭环和跨域产品的共同验收语言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若仍只报完整性和接口成功率，适用性尚未被管理；短期难出现覆盖所有数据和任务的统一总分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T7 商业链  中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内部产品契约能映射到至少一个标准服务；跨网行为、用量和责任可计量；出现持续付费消费者或明确业务Owner，而非一次性展示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内部生产、标准服务、跨网聚合和行业结果之间分工清晰；部分场景从调用定价走向会话、交易或结果定价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若API增长而无消费者、收入和责任边界，商业链尚未成立；ISAC/数据空间付费规模仍取决于需求、隐私和制度</a:t>
                      </a:r>
                    </a:p>
                  </a:txBody>
                  <a:tcPr anchor="t">
                    <a:solidFill>
                      <a:srgbClr val="F4F7F8"/>
                    </a:solidFill>
                  </a:tcPr>
                </a:tc>
              </a:tr>
              <a:tr h="449072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T8 能力集合  低—中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Rel-21讨论开始收敛发现、处理、存储、暴露、QoD和生命周期等能力及接口；产品原型证明可插拔后端与多种部署映射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标准优先冻结能力语义、信息模型、接口行为和一致性测试；增强既有功能、边缘Agent、SMO服务或新NF可按部署组合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70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若3GPP明确冻结独立统一数据平面及必选NF，则需调整；在此之前不押注名称，也不预设标准一定拒绝新功能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7472" y="5358384"/>
            <a:ext cx="11475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>
                <a:solidFill>
                  <a:srgbClr val="0B1F3A"/>
                </a:solidFill>
                <a:latin typeface="WenQuanYi Micro Hei"/>
                <a:ea typeface="WenQuanYi Micro Hei"/>
              </a:rPr>
              <a:t>1–3年决策：先做可证伪底座。优先建立T2/T3事件和两级运行，再用T1/T6证明可复用、可验收；T4/T5从只读、建议、影子运行开始；T7只认真实付费、跨网一致和履约成本；T8以进入工作文本、参考实现和互操作测试为标准验证。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>
                <a:solidFill>
                  <a:srgbClr val="0B1F3A"/>
                </a:solidFill>
                <a:latin typeface="WenQuanYi Micro Hei"/>
                <a:ea typeface="WenQuanYi Micro Hei"/>
              </a:rPr>
              <a:t>3–5年决策：看谁拥有控制点。设备商的稳定优势在网络语义、QoD和近源执行；云/数据平台在模型、Catalog与开发工具；聚合商在分发与结算。运营商将要求对象、策略、证据可导出，运行时和后端可替换。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>
                <a:solidFill>
                  <a:srgbClr val="0B1F3A"/>
                </a:solidFill>
                <a:latin typeface="WenQuanYi Micro Hei"/>
                <a:ea typeface="WenQuanYi Micro Hei"/>
              </a:rPr>
              <a:t>收束：3年让每条趋势都有可验证、可停止的证据；5年看清谁拥有语义/QoD、近源运行、动作证据、标准接口与跨网结算。投射基于截至2026-08的公开材料，不等于3GPP已采纳，也不构成厂商产品承诺。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20256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行业深度洞察 · 第4章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5A6A7A"/>
                </a:solidFill>
                <a:latin typeface="WenQuanYi Micro Hei"/>
                <a:ea typeface="WenQuanYi Micro He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