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109728"/>
            <a:ext cx="1147572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0E7C7B"/>
                </a:solidFill>
                <a:latin typeface="WenQuanYi Micro Hei"/>
                <a:ea typeface="WenQuanYi Micro Hei"/>
              </a:rPr>
              <a:t>3.1  ·  T1–T8 产业趋势总览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" y="274320"/>
            <a:ext cx="11475720" cy="31089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700" b="1">
                <a:solidFill>
                  <a:srgbClr val="0B1F3A"/>
                </a:solidFill>
                <a:latin typeface="WenQuanYi Micro Hei"/>
                <a:ea typeface="WenQuanYi Micro Hei"/>
              </a:rPr>
              <a:t>从R1–R8到T1–T8：形成“可信底座、动作准入、双路径价值、标准横切”的产业结构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585216"/>
            <a:ext cx="11475720" cy="384048"/>
          </a:xfrm>
          <a:prstGeom prst="roundRect">
            <a:avLst/>
          </a:prstGeom>
          <a:solidFill>
            <a:srgbClr val="E8F0F2"/>
          </a:solidFill>
          <a:ln w="952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03000"/>
              </a:lnSpc>
              <a:spcBef>
                <a:spcPts val="200"/>
              </a:spcBef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四项筛选只决定哪些能力进入T1–T8；趋势之间的关系来自最小前置条件、独立价值和横切范围。可信供给同时支撑能力服务与自动化，但T4/T5只约束承担动作责任的T7-B；因此不是八条平行口号，也不是四级严格串行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" y="1060704"/>
            <a:ext cx="3401568" cy="453542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115568"/>
            <a:ext cx="3145536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趋势筛选方法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1353312"/>
            <a:ext cx="3145536" cy="950976"/>
          </a:xfrm>
          <a:prstGeom prst="roundRect">
            <a:avLst/>
          </a:prstGeom>
          <a:solidFill>
            <a:srgbClr val="D7ECEA"/>
          </a:solidFill>
          <a:ln w="952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" y="1399032"/>
            <a:ext cx="292608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0B1F3A"/>
                </a:solidFill>
                <a:latin typeface="WenQuanYi Micro Hei"/>
                <a:ea typeface="WenQuanYi Micro Hei"/>
              </a:rPr>
              <a:t>入选门槛 · 需求刚性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591056"/>
            <a:ext cx="292608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50" b="0">
                <a:solidFill>
                  <a:srgbClr val="2C3E50"/>
                </a:solidFill>
                <a:latin typeface="WenQuanYi Micro Hei"/>
                <a:ea typeface="WenQuanYi Micro Hei"/>
              </a:rPr>
              <a:t>问题须由6G物理分布、AI原生、跨域自治和生态开放产生；不解决会持续限制数据使用、动作安全或商业规模。只提升功能便利性、没有结构性约束的议题不进入趋势清单。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5488" y="2377440"/>
            <a:ext cx="3145536" cy="950976"/>
          </a:xfrm>
          <a:prstGeom prst="roundRect">
            <a:avLst/>
          </a:prstGeom>
          <a:solidFill>
            <a:srgbClr val="D7ECEA"/>
          </a:solidFill>
          <a:ln w="952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16" y="2423160"/>
            <a:ext cx="292608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0B1F3A"/>
                </a:solidFill>
                <a:latin typeface="WenQuanYi Micro Hei"/>
                <a:ea typeface="WenQuanYi Micro Hei"/>
              </a:rPr>
              <a:t>入选门槛 · 可证伪性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" y="2615184"/>
            <a:ext cx="292608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50" b="0">
                <a:solidFill>
                  <a:srgbClr val="2C3E50"/>
                </a:solidFill>
                <a:latin typeface="WenQuanYi Micro Hei"/>
                <a:ea typeface="WenQuanYi Micro Hei"/>
              </a:rPr>
              <a:t>必须能设置领先信号、可测试指标、时间窗和反证条件；否则只是愿景，不能作为趋势判断。每条趋势都要说明何时降级、停止或回到既有机制。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5488" y="3401568"/>
            <a:ext cx="3145536" cy="950976"/>
          </a:xfrm>
          <a:prstGeom prst="roundRect">
            <a:avLst/>
          </a:prstGeom>
          <a:solidFill>
            <a:srgbClr val="F6EDD0"/>
          </a:solidFill>
          <a:ln w="9525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5216" y="3447288"/>
            <a:ext cx="292608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0B1F3A"/>
                </a:solidFill>
                <a:latin typeface="WenQuanYi Micro Hei"/>
                <a:ea typeface="WenQuanYi Micro Hei"/>
              </a:rPr>
              <a:t>确定性 · 工程成熟度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" y="3639312"/>
            <a:ext cx="292608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50" b="0">
                <a:solidFill>
                  <a:srgbClr val="2C3E50"/>
                </a:solidFill>
                <a:latin typeface="WenQuanYi Micro Hei"/>
                <a:ea typeface="WenQuanYi Micro Hei"/>
              </a:rPr>
              <a:t>检查是否已有组件、原型、参考架构或部署基础，以及接口、运行时、治理和运维机制是否可实施。单点功能存在不等于跨域体系成熟。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5488" y="4425696"/>
            <a:ext cx="3145536" cy="950976"/>
          </a:xfrm>
          <a:prstGeom prst="roundRect">
            <a:avLst/>
          </a:prstGeom>
          <a:solidFill>
            <a:srgbClr val="F6EDD0"/>
          </a:solidFill>
          <a:ln w="9525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4471416"/>
            <a:ext cx="292608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0B1F3A"/>
                </a:solidFill>
                <a:latin typeface="WenQuanYi Micro Hei"/>
                <a:ea typeface="WenQuanYi Micro Hei"/>
              </a:rPr>
              <a:t>确定性 · 产业牵引力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4663440"/>
            <a:ext cx="292608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50" b="0">
                <a:solidFill>
                  <a:srgbClr val="2C3E50"/>
                </a:solidFill>
                <a:latin typeface="WenQuanYi Micro Hei"/>
                <a:ea typeface="WenQuanYi Micro Hei"/>
              </a:rPr>
              <a:t>标准讨论、厂商投入、客户需求和商业信号是否同向；证据按规范、产品、具名部署、研究和愿景分档，避免把路线图或品牌组合当成已证事实。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913632" y="1060704"/>
            <a:ext cx="3822191" cy="14447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913632" y="1060704"/>
            <a:ext cx="73152" cy="1444752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78224" y="1115568"/>
            <a:ext cx="3566159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可信数据供给底座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78224" y="1353312"/>
            <a:ext cx="3566159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T2 元数据事件化  ·  T3 全局控制/近源执行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T1 可运营数据产品  ·  T6 任务适用性准入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78224" y="2048256"/>
            <a:ext cx="3566159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50" b="0">
                <a:solidFill>
                  <a:srgbClr val="5A6A7A"/>
                </a:solidFill>
                <a:latin typeface="WenQuanYi Micro Hei"/>
                <a:ea typeface="WenQuanYi Micro Hei"/>
              </a:rPr>
              <a:t>及时可达 × 正确使用；共同提供稳定对象、版本、用途和适用性证明，工程上互为条件、并行建设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00416" y="1060704"/>
            <a:ext cx="3922776" cy="14447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900416" y="1060704"/>
            <a:ext cx="73152" cy="1444752"/>
          </a:xfrm>
          <a:prstGeom prst="rect">
            <a:avLst/>
          </a:prstGeom>
          <a:solidFill>
            <a:srgbClr val="1F7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65008" y="1115568"/>
            <a:ext cx="3666744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T7 能力型服务路径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65008" y="1353312"/>
            <a:ext cx="3666744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数据/API、位置、身份、分析、网络能力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买方保留决策权与动作权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65008" y="2048256"/>
            <a:ext cx="3666744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50" b="0">
                <a:solidFill>
                  <a:srgbClr val="5A6A7A"/>
                </a:solidFill>
                <a:latin typeface="WenQuanYi Micro Hei"/>
                <a:ea typeface="WenQuanYi Micro Hei"/>
              </a:rPr>
              <a:t>不必等待高风险自治成熟，可经聚合层跨网复制，按调用、会话、覆盖、用量或订阅先行收费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913632" y="2651760"/>
            <a:ext cx="3822191" cy="14447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913632" y="2651760"/>
            <a:ext cx="73152" cy="144475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078224" y="2706624"/>
            <a:ext cx="3566159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自动化动作可信准入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78224" y="2944368"/>
            <a:ext cx="3566159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T4 供数—决策—执行—回证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T5 NDT预演成为放行证据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78224" y="3639312"/>
            <a:ext cx="3566159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50" b="0">
                <a:solidFill>
                  <a:srgbClr val="5A6A7A"/>
                </a:solidFill>
                <a:latin typeface="WenQuanYi Micro Hei"/>
                <a:ea typeface="WenQuanYi Micro Hei"/>
              </a:rPr>
              <a:t>只约束高风险、跨域自治扩权；要求身份、策略、动作证据、风险预算与回滚，不否定只读分析和建议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900416" y="2651760"/>
            <a:ext cx="3922776" cy="14447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900416" y="2651760"/>
            <a:ext cx="73152" cy="1444752"/>
          </a:xfrm>
          <a:prstGeom prst="rect">
            <a:avLst/>
          </a:prstGeom>
          <a:solidFill>
            <a:srgbClr val="145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65008" y="2706624"/>
            <a:ext cx="3666744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T7 结果型服务路径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65008" y="2944368"/>
            <a:ext cx="3666744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体验、交易、风控、运营结果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供应方承担部分效果责任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65008" y="3639312"/>
            <a:ext cx="3666744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50" b="0">
                <a:solidFill>
                  <a:srgbClr val="5A6A7A"/>
                </a:solidFill>
                <a:latin typeface="WenQuanYi Micro Hei"/>
                <a:ea typeface="WenQuanYi Micro Hei"/>
              </a:rPr>
              <a:t>额外依赖T4/T5、结果基线、因果归因、动作授权和回滚；按托管费、效果增益或结果分成</a:t>
            </a:r>
          </a:p>
        </p:txBody>
      </p:sp>
      <p:sp>
        <p:nvSpPr>
          <p:cNvPr id="41" name="Right Arrow 40"/>
          <p:cNvSpPr/>
          <p:nvPr/>
        </p:nvSpPr>
        <p:spPr>
          <a:xfrm>
            <a:off x="7735824" y="1627632"/>
            <a:ext cx="164592" cy="164592"/>
          </a:xfrm>
          <a:prstGeom prst="rightArrow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Down Arrow 41"/>
          <p:cNvSpPr/>
          <p:nvPr/>
        </p:nvSpPr>
        <p:spPr>
          <a:xfrm>
            <a:off x="5687568" y="2505456"/>
            <a:ext cx="164592" cy="146304"/>
          </a:xfrm>
          <a:prstGeom prst="downArrow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ight Arrow 42"/>
          <p:cNvSpPr/>
          <p:nvPr/>
        </p:nvSpPr>
        <p:spPr>
          <a:xfrm>
            <a:off x="7735824" y="3218688"/>
            <a:ext cx="164592" cy="164592"/>
          </a:xfrm>
          <a:prstGeom prst="rightArrow">
            <a:avLst/>
          </a:prstGeom>
          <a:solidFill>
            <a:srgbClr val="145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3913632" y="4206240"/>
            <a:ext cx="7909560" cy="621792"/>
          </a:xfrm>
          <a:prstGeom prst="roundRect">
            <a:avLst/>
          </a:prstGeom>
          <a:solidFill>
            <a:srgbClr val="E6ECF2"/>
          </a:solidFill>
          <a:ln w="9525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059936" y="4261104"/>
            <a:ext cx="7616952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T8 横切全部趋势：标准更可能冻结能力语义、信息模型、接口行为和一致性测试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59936" y="4480560"/>
            <a:ext cx="7616952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不构成第五个阶段；增强既有NF、SMO服务、边缘Agent或新功能均可承载同一外部行为。验证重点是互操作、替换成本和额外状态。</a:t>
            </a:r>
          </a:p>
        </p:txBody>
      </p:sp>
      <p:graphicFrame>
        <p:nvGraphicFramePr>
          <p:cNvPr id="47" name="Table 46"/>
          <p:cNvGraphicFramePr>
            <a:graphicFrameLocks noGrp="1"/>
          </p:cNvGraphicFramePr>
          <p:nvPr/>
        </p:nvGraphicFramePr>
        <p:xfrm>
          <a:off x="3913632" y="4919472"/>
          <a:ext cx="7909560" cy="15910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051560"/>
                <a:gridCol w="5303520"/>
              </a:tblGrid>
              <a:tr h="318211"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趋势</a:t>
                      </a: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确定性</a:t>
                      </a: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主要依据</a:t>
                      </a: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</a:tr>
              <a:tr h="318211"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1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T1 / T2 / T3</a:t>
                      </a:r>
                    </a:p>
                  </a:txBody>
                  <a:tcPr anchor="ctr">
                    <a:solidFill>
                      <a:srgbClr val="F4F7F8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高</a:t>
                      </a:r>
                    </a:p>
                  </a:txBody>
                  <a:tcPr anchor="ctr">
                    <a:solidFill>
                      <a:srgbClr val="F4F7F8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需求刚性强；目录、事件、近源处理和产品化已有工程基础，主要缺跨产品复用与多厂商对账</a:t>
                      </a:r>
                    </a:p>
                  </a:txBody>
                  <a:tcPr anchor="ctr">
                    <a:solidFill>
                      <a:srgbClr val="F4F7F8"/>
                    </a:solidFill>
                  </a:tcPr>
                </a:tc>
              </a:tr>
              <a:tr h="318211"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1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T4 / T5 / T6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中高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机制明确；通信级闭环、动作证据、适用性信封与强制准入仍需具名部署验证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18211"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1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T7</a:t>
                      </a:r>
                    </a:p>
                  </a:txBody>
                  <a:tcPr anchor="ctr">
                    <a:solidFill>
                      <a:srgbClr val="F4F7F8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A中高 / B低—中</a:t>
                      </a:r>
                    </a:p>
                  </a:txBody>
                  <a:tcPr anchor="ctr">
                    <a:solidFill>
                      <a:srgbClr val="F4F7F8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A已有CAMARA/Open Gateway付费信号；B的结果基线、归因、责任转移和规模分成尚不成熟</a:t>
                      </a:r>
                    </a:p>
                  </a:txBody>
                  <a:tcPr anchor="ctr">
                    <a:solidFill>
                      <a:srgbClr val="F4F7F8"/>
                    </a:solidFill>
                  </a:tcPr>
                </a:tc>
              </a:tr>
              <a:tr h="318212"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1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T8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低—中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能力与接口收敛方向明确；最终网元、职责边界、部署拓扑和互操作规则尚未冻结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8" name="Rectangle 47"/>
          <p:cNvSpPr/>
          <p:nvPr/>
        </p:nvSpPr>
        <p:spPr>
          <a:xfrm>
            <a:off x="347472" y="6601968"/>
            <a:ext cx="11475720" cy="9144"/>
          </a:xfrm>
          <a:prstGeom prst="rect">
            <a:avLst/>
          </a:prstGeom>
          <a:solidFill>
            <a:srgbClr val="C5D0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47472" y="6638544"/>
            <a:ext cx="950976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0">
                <a:solidFill>
                  <a:srgbClr val="5A6A7A"/>
                </a:solidFill>
                <a:latin typeface="WenQuanYi Micro Hei"/>
                <a:ea typeface="WenQuanYi Micro Hei"/>
              </a:rPr>
              <a:t>6G 数据架构 × 数据编织 · 第三章产业趋势 · 3.1    筛选口径：需求刚性 · 可证伪性 · 工程成熟 · 产业牵引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378440" y="6638544"/>
            <a:ext cx="1444752" cy="18288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05000"/>
              </a:lnSpc>
              <a:spcAft>
                <a:spcPts val="100"/>
              </a:spcAft>
            </a:pPr>
            <a:r>
              <a:rPr sz="800" b="0">
                <a:solidFill>
                  <a:srgbClr val="5A6A7A"/>
                </a:solidFill>
                <a:latin typeface="WenQuanYi Micro Hei"/>
                <a:ea typeface="WenQuanYi Micro Hei"/>
              </a:rPr>
              <a:t>1 /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109728"/>
            <a:ext cx="1147572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0E7C7B"/>
                </a:solidFill>
                <a:latin typeface="WenQuanYi Micro Hei"/>
                <a:ea typeface="WenQuanYi Micro Hei"/>
              </a:rPr>
              <a:t>T2 / T3  ·  分布式供给基础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" y="274320"/>
            <a:ext cx="11475720" cy="31089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700" b="1">
                <a:solidFill>
                  <a:srgbClr val="0B1F3A"/>
                </a:solidFill>
                <a:latin typeface="WenQuanYi Micro Hei"/>
                <a:ea typeface="WenQuanYi Micro Hei"/>
              </a:rPr>
              <a:t>元数据事件化与近源执行共同解决“变化可见、数据按时可达”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585216"/>
            <a:ext cx="11475720" cy="384048"/>
          </a:xfrm>
          <a:prstGeom prst="roundRect">
            <a:avLst/>
          </a:prstGeom>
          <a:solidFill>
            <a:srgbClr val="E8F0F2"/>
          </a:solidFill>
          <a:ln w="952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03000"/>
              </a:lnSpc>
              <a:spcBef>
                <a:spcPts val="200"/>
              </a:spcBef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静态目录必然落后于生产状态；高频无线与感知数据又不能默认全量集中。因此必须同时具备“快照—变化事件—对账”的状态机制，以及“全局定义—近源执行—异步回证”的部署机制；两者共同回答数据是否及时、可定位、可回退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" y="1060704"/>
            <a:ext cx="5669280" cy="4572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1152144"/>
            <a:ext cx="640080" cy="201168"/>
          </a:xfrm>
          <a:prstGeom prst="round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1170432"/>
            <a:ext cx="640080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FFFFFF"/>
                </a:solidFill>
                <a:latin typeface="WenQuanYi Micro Hei"/>
                <a:ea typeface="WenQuanYi Micro Hei"/>
              </a:rPr>
              <a:t>T2  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133856"/>
            <a:ext cx="466344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300" b="1">
                <a:solidFill>
                  <a:srgbClr val="0B1F3A"/>
                </a:solidFill>
                <a:latin typeface="WenQuanYi Micro Hei"/>
                <a:ea typeface="WenQuanYi Micro Hei"/>
              </a:rPr>
              <a:t>元数据将从静态目录升级为“变化事件”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408176"/>
            <a:ext cx="5394960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3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完整机制：基线快照 + 变化事件 + 周期对账。事件携带事件时间、版本、来源、作用域、Correlation ID、变更前后值，以及受影响的产品、模型、缓存、策略和消费者；无法仅靠事件恢复全量状态。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1883664"/>
            <a:ext cx="5394960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0E7C7B"/>
                </a:solidFill>
                <a:latin typeface="WenQuanYi Micro Hei"/>
                <a:ea typeface="WenQuanYi Micro Hei"/>
              </a:rPr>
              <a:t>事件范围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" y="2048256"/>
            <a:ext cx="5394960" cy="6766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Schema/对象关系、拓扑与配置、任务适用性与权限、血缘与成本、数据—模型—动作关联。对象覆盖小区、波束、频段、UE群、会话、切片、云资源及跨域映射；每类对象需定义Owner与版本源。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" y="2779776"/>
            <a:ext cx="5394960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0E7C7B"/>
                </a:solidFill>
                <a:latin typeface="WenQuanYi Micro Hei"/>
                <a:ea typeface="WenQuanYi Micro Hei"/>
              </a:rPr>
              <a:t>主要作用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" y="2944368"/>
            <a:ext cx="5394960" cy="6766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自动生成影响清单；触发契约测试、缓存/特征/模型失效、策略复核和重新审批；支持跨域变更回放、延迟传播监测与责任追踪。消费者只订阅与自身作用域相关的变化。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" y="3675887"/>
            <a:ext cx="5394960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0E7C7B"/>
                </a:solidFill>
                <a:latin typeface="WenQuanYi Micro Hei"/>
                <a:ea typeface="WenQuanYi Micro Hei"/>
              </a:rPr>
              <a:t>成立逻辑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" y="3840479"/>
            <a:ext cx="5394960" cy="6766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目录只描述扫描时刻；配置、拓扑、权限和质量持续变化。模型和Agent使用过期信息会把报表错误升级为错误动作；跨接口对象若无统一事件时间与版本，也无法判断先后和影响范围。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" y="4572000"/>
            <a:ext cx="5394960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0E7C7B"/>
                </a:solidFill>
                <a:latin typeface="WenQuanYi Micro Hei"/>
                <a:ea typeface="WenQuanYi Micro Hei"/>
              </a:rPr>
              <a:t>适用边界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" y="4736592"/>
            <a:ext cx="5394960" cy="6766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不把全部业务数据改成事件；中央事件总线不进入毫秒快环；事件不能替代本地状态，必须保留快照和周期对账。若事件丢失、乱序或延迟超限，消费者应退回基线或停止自动动作。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63056" y="1060704"/>
            <a:ext cx="5660136" cy="4572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91072" y="1152144"/>
            <a:ext cx="640080" cy="201168"/>
          </a:xfrm>
          <a:prstGeom prst="round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91072" y="1170432"/>
            <a:ext cx="640080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FFFFFF"/>
                </a:solidFill>
                <a:latin typeface="WenQuanYi Micro Hei"/>
                <a:ea typeface="WenQuanYi Micro Hei"/>
              </a:rPr>
              <a:t>T3  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04304" y="1133856"/>
            <a:ext cx="466344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300" b="1">
                <a:solidFill>
                  <a:srgbClr val="0B1F3A"/>
                </a:solidFill>
                <a:latin typeface="WenQuanYi Micro Hei"/>
                <a:ea typeface="WenQuanYi Micro Hei"/>
              </a:rPr>
              <a:t>部署形态将收敛为“全局控制、近源执行”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91072" y="1408176"/>
            <a:ext cx="5385816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3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高频数据全量远传受带宽、时延、能耗、隐私和断链约束。快环、MEC、专网与NTN必须本地运行；完全分散又会造成语义、版本、策略和责任漂移，因此需要逻辑统一而非物理集中。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91072" y="1901952"/>
            <a:ext cx="5385816" cy="786384"/>
          </a:xfrm>
          <a:prstGeom prst="roundRect">
            <a:avLst/>
          </a:prstGeom>
          <a:solidFill>
            <a:srgbClr val="D7ECEA"/>
          </a:solidFill>
          <a:ln w="952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19088" y="1956816"/>
            <a:ext cx="512978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全局层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19088" y="2157984"/>
            <a:ext cx="5129784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定义对象/语义、任务适用性模板、产品、策略、模型、权限和版本基线，发布兼容关系与回退规则。统一的是规则、责任和验收口径，不是全部存储与处理位置。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91072" y="2743200"/>
            <a:ext cx="5385816" cy="786384"/>
          </a:xfrm>
          <a:prstGeom prst="roundRect">
            <a:avLst/>
          </a:prstGeom>
          <a:solidFill>
            <a:srgbClr val="E6ECF2"/>
          </a:solidFill>
          <a:ln w="9525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19088" y="2798064"/>
            <a:ext cx="512978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本地层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19088" y="2999232"/>
            <a:ext cx="5129784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按资源预算执行过滤、聚合、特征、缓存、预编译策略、受限推理与白名单动作；维护实时状态。断链期间只运行已批准版本，超时或冲突则降级。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91072" y="3584448"/>
            <a:ext cx="5385816" cy="786384"/>
          </a:xfrm>
          <a:prstGeom prst="roundRect">
            <a:avLst/>
          </a:prstGeom>
          <a:solidFill>
            <a:srgbClr val="F6EDD0"/>
          </a:solidFill>
          <a:ln w="9525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19088" y="3639312"/>
            <a:ext cx="512978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异步回流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19088" y="3840480"/>
            <a:ext cx="5129784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上传摘要、任务适用性、执行证据、漂移、冲突和资源消耗；支持对账、模型重验与版本回退。远端目录、审批或云模型不得成为快环同步依赖。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91072" y="4480560"/>
            <a:ext cx="5385816" cy="102412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900" b="0">
                <a:solidFill>
                  <a:srgbClr val="5A6A7A"/>
                </a:solidFill>
                <a:latin typeface="WenQuanYi Micro Hei"/>
                <a:ea typeface="WenQuanYi Micro Hei"/>
              </a:rPr>
              <a:t>边界：不同网络仍可采用不同层级和拓扑。Ericsson强调动态放置，Nokia保留域自治，Huawei提出近源算子；它们共同指向逻辑全局控制与本地确定性执行。</a:t>
            </a:r>
          </a:p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900" b="0">
                <a:solidFill>
                  <a:srgbClr val="5A6A7A"/>
                </a:solidFill>
                <a:latin typeface="WenQuanYi Micro Hei"/>
                <a:ea typeface="WenQuanYi Micro Hei"/>
              </a:rPr>
              <a:t>趋同的是时标、故障域、版本和责任约束，不是统一产品或网元名称。若中心不可达导致本地停摆，或本地长期不回证，两级架构均不成立。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7472" y="5724144"/>
            <a:ext cx="11475720" cy="804672"/>
          </a:xfrm>
          <a:prstGeom prst="roundRect">
            <a:avLst/>
          </a:prstGeom>
          <a:solidFill>
            <a:srgbClr val="F4F7F8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5760720"/>
            <a:ext cx="3691128" cy="14630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0E7C7B"/>
                </a:solidFill>
                <a:latin typeface="WenQuanYi Micro Hei"/>
                <a:ea typeface="WenQuanYi Micro Hei"/>
              </a:rPr>
              <a:t>领先信号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5907024"/>
            <a:ext cx="3691128" cy="56692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T2：Schema/配置/任务适用性/权限变更自动生成影响清单并触发CI、缓存/模型失效或策略检查。T3：近源算子与全局目录/策略解耦，断链按批准版本运行并异步回证。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39768" y="5760720"/>
            <a:ext cx="3691128" cy="14630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0B1F3A"/>
                </a:solidFill>
                <a:latin typeface="WenQuanYi Micro Hei"/>
                <a:ea typeface="WenQuanYi Micro Hei"/>
              </a:rPr>
              <a:t>验证指标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39768" y="5907024"/>
            <a:ext cx="3691128" cy="56692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T2：发现P95、事件丢失/乱序、影响覆盖、误报漏报、对账差异、失效传播。T3：P99、跨域字节减量、断链时长、资源预算、策略同步、证据完整和回退成功。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22336" y="5760720"/>
            <a:ext cx="3691128" cy="14630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C0392B"/>
                </a:solidFill>
                <a:latin typeface="WenQuanYi Micro Hei"/>
                <a:ea typeface="WenQuanYi Micro Hei"/>
              </a:rPr>
              <a:t>反证条件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22336" y="5907024"/>
            <a:ext cx="3691128" cy="56692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T2：目录仍靠人工扫描，事故早于变化发现，事件无法关联对象、版本和消费者。T3：所有查询/审批必须经过中心，本地无降级能力，或长期不回证导致全局状态失真。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47472" y="6601968"/>
            <a:ext cx="11475720" cy="9144"/>
          </a:xfrm>
          <a:prstGeom prst="rect">
            <a:avLst/>
          </a:prstGeom>
          <a:solidFill>
            <a:srgbClr val="C5D0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47472" y="6638544"/>
            <a:ext cx="950976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0">
                <a:solidFill>
                  <a:srgbClr val="5A6A7A"/>
                </a:solidFill>
                <a:latin typeface="WenQuanYi Micro Hei"/>
                <a:ea typeface="WenQuanYi Micro Hei"/>
              </a:rPr>
              <a:t>6G 数据架构 × 数据编织 · 第三章产业趋势 · T2 / T3    [S27] OpenLineage  ·  [S9][S12][S20] 两级部署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378440" y="6638544"/>
            <a:ext cx="1444752" cy="18288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05000"/>
              </a:lnSpc>
              <a:spcAft>
                <a:spcPts val="100"/>
              </a:spcAft>
            </a:pPr>
            <a:r>
              <a:rPr sz="800" b="0">
                <a:solidFill>
                  <a:srgbClr val="5A6A7A"/>
                </a:solidFill>
                <a:latin typeface="WenQuanYi Micro Hei"/>
                <a:ea typeface="WenQuanYi Micro Hei"/>
              </a:rPr>
              <a:t>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109728"/>
            <a:ext cx="1147572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0E7C7B"/>
                </a:solidFill>
                <a:latin typeface="WenQuanYi Micro Hei"/>
                <a:ea typeface="WenQuanYi Micro Hei"/>
              </a:rPr>
              <a:t>T1 / T6  ·  数据运营基础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" y="274320"/>
            <a:ext cx="11475720" cy="31089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700" b="1">
                <a:solidFill>
                  <a:srgbClr val="0B1F3A"/>
                </a:solidFill>
                <a:latin typeface="WenQuanYi Micro Hei"/>
                <a:ea typeface="WenQuanYi Micro Hei"/>
              </a:rPr>
              <a:t>网络数据将由接口资源升级为带契约和适用性证明的运营产品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585216"/>
            <a:ext cx="11475720" cy="384048"/>
          </a:xfrm>
          <a:prstGeom prst="roundRect">
            <a:avLst/>
          </a:prstGeom>
          <a:solidFill>
            <a:srgbClr val="E8F0F2"/>
          </a:solidFill>
          <a:ln w="952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03000"/>
              </a:lnSpc>
              <a:spcBef>
                <a:spcPts val="200"/>
              </a:spcBef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数据可访问不等于可复用，更不等于可进入模型或闭环。持续供给需要Owner、契约、版本、成本和退出机制；机器消费还必须证明数据对当前对象、时空、配置和任务适用，并在条件变化时重新验收。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" y="1060704"/>
            <a:ext cx="5669280" cy="4572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1152144"/>
            <a:ext cx="640080" cy="201168"/>
          </a:xfrm>
          <a:prstGeom prst="round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1170432"/>
            <a:ext cx="640080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FFFFFF"/>
                </a:solidFill>
                <a:latin typeface="WenQuanYi Micro Hei"/>
                <a:ea typeface="WenQuanYi Micro Hei"/>
              </a:rPr>
              <a:t>T1  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133856"/>
            <a:ext cx="466344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300" b="1">
                <a:solidFill>
                  <a:srgbClr val="0B1F3A"/>
                </a:solidFill>
                <a:latin typeface="WenQuanYi Micro Hei"/>
                <a:ea typeface="WenQuanYi Micro Hei"/>
              </a:rPr>
              <a:t>网络数据将被封装为可运营的数据产品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408176"/>
            <a:ext cx="539496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3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最低定义：明确消费者与任务、稳定标识和版本、Owner、Schema/语义、任务适用性、SLO、用途/权限、血缘、成本/计量、保留期、降级与退出机制；同时给出变更通知和兼容策略。只有目录条目、接口包装或Marketplace页面，仍不是数据产品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1956816"/>
            <a:ext cx="5394960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0E7C7B"/>
                </a:solidFill>
                <a:latin typeface="WenQuanYi Micro Hei"/>
                <a:ea typeface="WenQuanYi Micro Hei"/>
              </a:rPr>
              <a:t>成立逻辑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" y="2121408"/>
            <a:ext cx="539496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源和消费者同时增加，点对点集成按“源×消费者”增长；同一数据若被重复采集、清洗和解释，边际成本不会下降。稳定契约是跨场景复用前提；无Owner就无法管理变更、SLO、成本、争议和退出。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" y="2834640"/>
            <a:ext cx="5394960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0E7C7B"/>
                </a:solidFill>
                <a:latin typeface="WenQuanYi Micro Hei"/>
                <a:ea typeface="WenQuanYi Micro Hei"/>
              </a:rPr>
              <a:t>落地重点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" y="2999232"/>
            <a:ext cx="539496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优先产品化故障、节能、移动性、QoE和模型特征等高复用数据族。默认交付事件、聚合指标、特征或分析服务，而非全量原始流；每项产品绑定权威源、用途、消费者和责任人。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" y="3712464"/>
            <a:ext cx="5394960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0E7C7B"/>
                </a:solidFill>
                <a:latin typeface="WenQuanYi Micro Hei"/>
                <a:ea typeface="WenQuanYi Micro Hei"/>
              </a:rPr>
              <a:t>验收口径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" y="3877056"/>
            <a:ext cx="539496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以持续消费者、第二场景/后端复用、交付周期、契约违规、重复采集下降和单位有效任务成本验收；同时核算生产、存储、跨域传输和退出成本，不以目录、接口或PB数量验收。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" y="4590288"/>
            <a:ext cx="5394960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0E7C7B"/>
                </a:solidFill>
                <a:latin typeface="WenQuanYi Micro Hei"/>
                <a:ea typeface="WenQuanYi Micro Hei"/>
              </a:rPr>
              <a:t>适用边界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" y="4754879"/>
            <a:ext cx="539496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产品化不等于上架目录。无线数据必须携带小区、频段、波束、配置、采样窗口和测量条件，不能只交付字段；长期无人消费、无版本承诺或无法退出的条目应下架。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63056" y="1060704"/>
            <a:ext cx="5660136" cy="4572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91072" y="1152144"/>
            <a:ext cx="960120" cy="201168"/>
          </a:xfrm>
          <a:prstGeom prst="round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91072" y="1170432"/>
            <a:ext cx="960120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FFFFFF"/>
                </a:solidFill>
                <a:latin typeface="WenQuanYi Micro Hei"/>
                <a:ea typeface="WenQuanYi Micro Hei"/>
              </a:rPr>
              <a:t>T6  中高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33488" y="1133856"/>
            <a:ext cx="434340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300" b="1">
                <a:solidFill>
                  <a:srgbClr val="0B1F3A"/>
                </a:solidFill>
                <a:latin typeface="WenQuanYi Micro Hei"/>
                <a:ea typeface="WenQuanYi Micro Hei"/>
              </a:rPr>
              <a:t>任务适用性将成为数据进入模型与闭环的准入标准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91072" y="1408176"/>
            <a:ext cx="5385816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3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任务适用性（Data Fitness for Use）不是数据的统一总分或既定3GPP指标，而是可测试的“适用性信封”：说明数据在何种对象、时空、配置、采样和误差条件下，可被哪个模型、Agent或闭环安全使用；条件变化后必须重新验证。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91072" y="1956816"/>
            <a:ext cx="5385816" cy="60350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19088" y="1993392"/>
            <a:ext cx="5129784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0B1F3A"/>
                </a:solidFill>
                <a:latin typeface="WenQuanYi Micro Hei"/>
                <a:ea typeface="WenQuanYi Micro Hei"/>
              </a:rPr>
              <a:t>通用质量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19088" y="2176272"/>
            <a:ext cx="5129784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准确、完整、一致、新鲜、唯一、可追溯；明确缺失、重复、异常值和来源可信度。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91072" y="2615184"/>
            <a:ext cx="5385816" cy="60350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19088" y="2651760"/>
            <a:ext cx="5129784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0B1F3A"/>
                </a:solidFill>
                <a:latin typeface="WenQuanYi Micro Hei"/>
                <a:ea typeface="WenQuanYi Micro Hei"/>
              </a:rPr>
              <a:t>通信质量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19088" y="2834640"/>
            <a:ext cx="5129784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采样代表性、时空覆盖、同步误差、配置一致、测量置信、suspect/incomplete；区分网络状态与采集链路误差。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91072" y="3273552"/>
            <a:ext cx="5385816" cy="60350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19088" y="3310128"/>
            <a:ext cx="5129784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0B1F3A"/>
                </a:solidFill>
                <a:latin typeface="WenQuanYi Micro Hei"/>
                <a:ea typeface="WenQuanYi Micro Hei"/>
              </a:rPr>
              <a:t>AI质量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19088" y="3493008"/>
            <a:ext cx="5129784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标签来源、训练—服务分布偏差、特征漂移、适用对象、模型版本和禁用边界；避免历史高质量掩盖当前失配。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91072" y="3931920"/>
            <a:ext cx="5385816" cy="60350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19088" y="3968496"/>
            <a:ext cx="5129784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0B1F3A"/>
                </a:solidFill>
                <a:latin typeface="WenQuanYi Micro Hei"/>
                <a:ea typeface="WenQuanYi Micro Hei"/>
              </a:rPr>
              <a:t>准入方式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19088" y="4151376"/>
            <a:ext cx="5129784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按用途和动作风险设阈值；未达则降级、补采、阻断或重验，并与模型卡、产品契约、策略审批和动作放行挂钩。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91072" y="4626864"/>
            <a:ext cx="5385816" cy="87782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3000"/>
              </a:lnSpc>
              <a:spcAft>
                <a:spcPts val="100"/>
              </a:spcAft>
            </a:pPr>
            <a:r>
              <a:rPr sz="850" b="0">
                <a:solidFill>
                  <a:srgbClr val="5A6A7A"/>
                </a:solidFill>
                <a:latin typeface="WenQuanYi Micro Hei"/>
                <a:ea typeface="WenQuanYi Micro Hei"/>
              </a:rPr>
              <a:t>边界：字段完整不等于语义可比；样本量大不等于具有代表性；离线合格不等于当前网络状态可用。不能用一个总分评价测量、告警、位置、感知和训练特征。术语上不以QoD指代数据质量；QoD仅指CAMARA Quality on Demand API。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47472" y="5724144"/>
            <a:ext cx="11475720" cy="804672"/>
          </a:xfrm>
          <a:prstGeom prst="roundRect">
            <a:avLst/>
          </a:prstGeom>
          <a:solidFill>
            <a:srgbClr val="F4F7F8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5760720"/>
            <a:ext cx="3691128" cy="14630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0E7C7B"/>
                </a:solidFill>
                <a:latin typeface="WenQuanYi Micro Hei"/>
                <a:ea typeface="WenQuanYi Micro Hei"/>
              </a:rPr>
              <a:t>领先信号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5907024"/>
            <a:ext cx="3691128" cy="56692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T1：契约进入版本基线，生产者与消费者共同签署SLO/适用性并管理退出。T6：适用性进入契约、模型卡、接口、重验触发器和动作放行条件。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39768" y="5760720"/>
            <a:ext cx="3691128" cy="14630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0B1F3A"/>
                </a:solidFill>
                <a:latin typeface="WenQuanYi Micro Hei"/>
                <a:ea typeface="WenQuanYi Micro Hei"/>
              </a:rPr>
              <a:t>验证指标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39768" y="5907024"/>
            <a:ext cx="3691128" cy="56692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T1：交付周期、复用消费者、第二场景、违规、重复采集下降、单位任务成本。T6：覆盖/代表性、同步误差、配置一致、漂移、误动作、降级与重验触发。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22336" y="5760720"/>
            <a:ext cx="3691128" cy="14630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C0392B"/>
                </a:solidFill>
                <a:latin typeface="WenQuanYi Micro Hei"/>
                <a:ea typeface="WenQuanYi Micro Hei"/>
              </a:rPr>
              <a:t>反证 / 证据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22336" y="5907024"/>
            <a:ext cx="3691128" cy="56692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反证：每场景重复取数清洗、产品长期无人消费，或只报完整性/接口成功率。证据：Nokia Data Suite、Ericsson Data Mesh、Huawei Data QoS仅支持机制方向，非统一标准。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47472" y="6601968"/>
            <a:ext cx="11475720" cy="9144"/>
          </a:xfrm>
          <a:prstGeom prst="rect">
            <a:avLst/>
          </a:prstGeom>
          <a:solidFill>
            <a:srgbClr val="C5D0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47472" y="6638544"/>
            <a:ext cx="950976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0">
                <a:solidFill>
                  <a:srgbClr val="5A6A7A"/>
                </a:solidFill>
                <a:latin typeface="WenQuanYi Micro Hei"/>
                <a:ea typeface="WenQuanYi Micro Hei"/>
              </a:rPr>
              <a:t>6G 数据架构 × 数据编织 · 第三章产业趋势 · T1 / T6    [S10][S14][S24]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78440" y="6638544"/>
            <a:ext cx="1444752" cy="18288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05000"/>
              </a:lnSpc>
              <a:spcAft>
                <a:spcPts val="100"/>
              </a:spcAft>
            </a:pPr>
            <a:r>
              <a:rPr sz="800" b="0">
                <a:solidFill>
                  <a:srgbClr val="5A6A7A"/>
                </a:solidFill>
                <a:latin typeface="WenQuanYi Micro Hei"/>
                <a:ea typeface="WenQuanYi Micro Hei"/>
              </a:rPr>
              <a:t>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109728"/>
            <a:ext cx="1147572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0E7C7B"/>
                </a:solidFill>
                <a:latin typeface="WenQuanYi Micro Hei"/>
                <a:ea typeface="WenQuanYi Micro Hei"/>
              </a:rPr>
              <a:t>T4 / T5  ·  可信自动化趋势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" y="274320"/>
            <a:ext cx="11475720" cy="31089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700" b="1">
                <a:solidFill>
                  <a:srgbClr val="0B1F3A"/>
                </a:solidFill>
                <a:latin typeface="WenQuanYi Micro Hei"/>
                <a:ea typeface="WenQuanYi Micro Hei"/>
              </a:rPr>
              <a:t>Agent协同与NDT动作验证共同构成高风险自动化的可信准入机制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585216"/>
            <a:ext cx="11475720" cy="384048"/>
          </a:xfrm>
          <a:prstGeom prst="roundRect">
            <a:avLst/>
          </a:prstGeom>
          <a:solidFill>
            <a:srgbClr val="E8F0F2"/>
          </a:solidFill>
          <a:ln w="952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03000"/>
              </a:lnSpc>
              <a:spcBef>
                <a:spcPts val="200"/>
              </a:spcBef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数据进入真实网络控制后，错误会转化为资源、SLA和安全风险。可信自动化必须把供数、决策、验证、执行和结果串成可审计责任链，同时分离数据、模型、Agent和域控制器职责；NDT提供反事实证据，但不能替代授权和责任审批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" y="1060704"/>
            <a:ext cx="2240280" cy="713232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624" y="1097280"/>
            <a:ext cx="2093976" cy="20116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1200" b="1">
                <a:solidFill>
                  <a:srgbClr val="C9A227"/>
                </a:solidFill>
                <a:latin typeface="WenQuanYi Micro Hei"/>
                <a:ea typeface="WenQuanYi Micro Hei"/>
              </a:rPr>
              <a:t>1  供数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" y="1316736"/>
            <a:ext cx="2093976" cy="40233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2000"/>
              </a:lnSpc>
              <a:spcAft>
                <a:spcPts val="100"/>
              </a:spcAft>
            </a:pPr>
            <a:r>
              <a:rPr sz="900" b="0">
                <a:solidFill>
                  <a:srgbClr val="FFFFFF"/>
                </a:solidFill>
                <a:latin typeface="WenQuanYi Micro Hei"/>
                <a:ea typeface="WenQuanYi Micro Hei"/>
              </a:rPr>
              <a:t>版本化产品、上下文、任务适用性、用途与策略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587752" y="1316736"/>
            <a:ext cx="128016" cy="146304"/>
          </a:xfrm>
          <a:prstGeom prst="rightArrow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715768" y="1060704"/>
            <a:ext cx="2240280" cy="713232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1097280"/>
            <a:ext cx="2093976" cy="20116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1200" b="1">
                <a:solidFill>
                  <a:srgbClr val="C9A227"/>
                </a:solidFill>
                <a:latin typeface="WenQuanYi Micro Hei"/>
                <a:ea typeface="WenQuanYi Micro Hei"/>
              </a:rPr>
              <a:t>2  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1316736"/>
            <a:ext cx="2093976" cy="40233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2000"/>
              </a:lnSpc>
              <a:spcAft>
                <a:spcPts val="100"/>
              </a:spcAft>
            </a:pPr>
            <a:r>
              <a:rPr sz="900" b="0">
                <a:solidFill>
                  <a:srgbClr val="FFFFFF"/>
                </a:solidFill>
                <a:latin typeface="WenQuanYi Micro Hei"/>
                <a:ea typeface="WenQuanYi Micro Hei"/>
              </a:rPr>
              <a:t>模型/Agent记录输入、推理、工具和候选动作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956048" y="1316736"/>
            <a:ext cx="128016" cy="146304"/>
          </a:xfrm>
          <a:prstGeom prst="rightArrow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084064" y="1060704"/>
            <a:ext cx="2240280" cy="713232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57216" y="1097280"/>
            <a:ext cx="2093976" cy="20116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1200" b="1">
                <a:solidFill>
                  <a:srgbClr val="C9A227"/>
                </a:solidFill>
                <a:latin typeface="WenQuanYi Micro Hei"/>
                <a:ea typeface="WenQuanYi Micro Hei"/>
              </a:rPr>
              <a:t>3  验证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57216" y="1316736"/>
            <a:ext cx="2093976" cy="40233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2000"/>
              </a:lnSpc>
              <a:spcAft>
                <a:spcPts val="100"/>
              </a:spcAft>
            </a:pPr>
            <a:r>
              <a:rPr sz="900" b="0">
                <a:solidFill>
                  <a:srgbClr val="FFFFFF"/>
                </a:solidFill>
                <a:latin typeface="WenQuanYi Micro Hei"/>
                <a:ea typeface="WenQuanYi Micro Hei"/>
              </a:rPr>
              <a:t>NDT预演、策略冲突、风险预算与审批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324344" y="1316736"/>
            <a:ext cx="128016" cy="146304"/>
          </a:xfrm>
          <a:prstGeom prst="rightArrow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452360" y="1060704"/>
            <a:ext cx="2240280" cy="713232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25512" y="1097280"/>
            <a:ext cx="2093976" cy="20116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1200" b="1">
                <a:solidFill>
                  <a:srgbClr val="C9A227"/>
                </a:solidFill>
                <a:latin typeface="WenQuanYi Micro Hei"/>
                <a:ea typeface="WenQuanYi Micro Hei"/>
              </a:rPr>
              <a:t>4  执行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25512" y="1316736"/>
            <a:ext cx="2093976" cy="40233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2000"/>
              </a:lnSpc>
              <a:spcAft>
                <a:spcPts val="100"/>
              </a:spcAft>
            </a:pPr>
            <a:r>
              <a:rPr sz="900" b="0">
                <a:solidFill>
                  <a:srgbClr val="FFFFFF"/>
                </a:solidFill>
                <a:latin typeface="WenQuanYi Micro Hei"/>
                <a:ea typeface="WenQuanYi Micro Hei"/>
              </a:rPr>
              <a:t>身份、作用域、租约、白名单、灰度与熔断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692640" y="1316736"/>
            <a:ext cx="128016" cy="146304"/>
          </a:xfrm>
          <a:prstGeom prst="rightArrow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20656" y="1060704"/>
            <a:ext cx="2240280" cy="713232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93808" y="1097280"/>
            <a:ext cx="2093976" cy="20116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1200" b="1">
                <a:solidFill>
                  <a:srgbClr val="C9A227"/>
                </a:solidFill>
                <a:latin typeface="WenQuanYi Micro Hei"/>
                <a:ea typeface="WenQuanYi Micro Hei"/>
              </a:rPr>
              <a:t>5  回证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93808" y="1316736"/>
            <a:ext cx="2093976" cy="40233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2000"/>
              </a:lnSpc>
              <a:spcAft>
                <a:spcPts val="100"/>
              </a:spcAft>
            </a:pPr>
            <a:r>
              <a:rPr sz="900" b="0">
                <a:solidFill>
                  <a:srgbClr val="FFFFFF"/>
                </a:solidFill>
                <a:latin typeface="WenQuanYi Micro Hei"/>
                <a:ea typeface="WenQuanYi Micro Hei"/>
              </a:rPr>
              <a:t>结果、KPI、副作用、漂移、接管与回滚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47472" y="1883664"/>
            <a:ext cx="5669280" cy="374903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75488" y="1975104"/>
            <a:ext cx="960120" cy="201168"/>
          </a:xfrm>
          <a:prstGeom prst="round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5488" y="1993392"/>
            <a:ext cx="960120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FFFFFF"/>
                </a:solidFill>
                <a:latin typeface="WenQuanYi Micro Hei"/>
                <a:ea typeface="WenQuanYi Micro Hei"/>
              </a:rPr>
              <a:t>T4  中高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17904" y="1956816"/>
            <a:ext cx="43525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300" b="1">
                <a:solidFill>
                  <a:srgbClr val="0B1F3A"/>
                </a:solidFill>
                <a:latin typeface="WenQuanYi Micro Hei"/>
                <a:ea typeface="WenQuanYi Micro Hei"/>
              </a:rPr>
              <a:t>形成“供数—决策—执行—回证”协同闭环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" y="2231136"/>
            <a:ext cx="5394960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3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Agent若处理真实网络任务，必须持续获得当前对象、配置、任务适用性、权限和作用域，而不是一次性把文档放进向量库。一旦能调用工具，数据错误、模型漂移和过期策略都会转化为动作风险。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5488" y="2706624"/>
            <a:ext cx="5394960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C0392B"/>
                </a:solidFill>
                <a:latin typeface="WenQuanYi Micro Hei"/>
                <a:ea typeface="WenQuanYi Micro Hei"/>
              </a:rPr>
              <a:t>融合内容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5488" y="2871216"/>
            <a:ext cx="5394960" cy="6949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目录检索、订阅、血缘、任务适用性和策略成为受控工具；数据、模型、提示、工具、动作和结果共享版本与Correlation ID；审计证据跨工具、域和人工接管过程传播。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5488" y="3621024"/>
            <a:ext cx="5394960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C0392B"/>
                </a:solidFill>
                <a:latin typeface="WenQuanYi Micro Hei"/>
                <a:ea typeface="WenQuanYi Micro Hei"/>
              </a:rPr>
              <a:t>责任分离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5488" y="3785615"/>
            <a:ext cx="5394960" cy="6949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数据Owner管用途、质量、保留和删除；模型Owner管性能、偏差和漂移；Agent管身份、权限和动作；域控制器保留实时状态与执行责任。Reasoner与Actor隔离，无边界“大脑”不可审计。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5488" y="4535424"/>
            <a:ext cx="5394960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C0392B"/>
                </a:solidFill>
                <a:latin typeface="WenQuanYi Micro Hei"/>
                <a:ea typeface="WenQuanYi Micro Hei"/>
              </a:rPr>
              <a:t>落地顺序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5488" y="4700016"/>
            <a:ext cx="5394960" cy="6949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只读检索与调查 → 决策建议与工单编排 → 历史回放/影子运行 → 白名单低风险动作 → 高风险动作受控准入。每级明确证据门槛、超时降级和人工接管；快环保留确定性执行。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163056" y="1883664"/>
            <a:ext cx="5660136" cy="374903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291072" y="1975104"/>
            <a:ext cx="960120" cy="201168"/>
          </a:xfrm>
          <a:prstGeom prst="round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91072" y="1993392"/>
            <a:ext cx="960120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FFFFFF"/>
                </a:solidFill>
                <a:latin typeface="WenQuanYi Micro Hei"/>
                <a:ea typeface="WenQuanYi Micro Hei"/>
              </a:rPr>
              <a:t>T5  中高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33488" y="1956816"/>
            <a:ext cx="434340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300" b="1">
                <a:solidFill>
                  <a:srgbClr val="0B1F3A"/>
                </a:solidFill>
                <a:latin typeface="WenQuanYi Micro Hei"/>
                <a:ea typeface="WenQuanYi Micro Hei"/>
              </a:rPr>
              <a:t>NDT预演成为高风险动作的重要放行证据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91072" y="2231136"/>
            <a:ext cx="5385816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3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Data Fabric向NDT提供带时间、配置、任务适用性、策略和血缘的版本化状态快照；NDT比较执行、不执行及替代动作，输出收益、冲突、副作用和置信边界；策略引擎据此放行、灰度或拒绝，生产结果再回流校准场景与误差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91072" y="2761488"/>
            <a:ext cx="5385816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C0392B"/>
                </a:solidFill>
                <a:latin typeface="WenQuanYi Micro Hei"/>
                <a:ea typeface="WenQuanYi Micro Hei"/>
              </a:rPr>
              <a:t>有效证据条件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91072" y="2926080"/>
            <a:ext cx="5385816" cy="6766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按动作类别定义保真度、最大同步滞后、场景覆盖、可接受误差和未知状态；保存输入快照、拓扑/配置、孪生与模型版本、候选动作、预演结果、放行理由和生产结果。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91072" y="3657600"/>
            <a:ext cx="5385816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C0392B"/>
                </a:solidFill>
                <a:latin typeface="WenQuanYi Micro Hei"/>
                <a:ea typeface="WenQuanYi Micro Hei"/>
              </a:rPr>
              <a:t>超限处理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91072" y="3822191"/>
            <a:ext cx="5385816" cy="6766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误差、滞后或场景覆盖超门槛时，自动缩小作用域、降低风险预算或退回建议/人工模式；不得用“孪生通过”替代责任审批，也不能把离线准确率直接当生产安全。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91072" y="4553712"/>
            <a:ext cx="5385816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C0392B"/>
                </a:solidFill>
                <a:latin typeface="WenQuanYi Micro Hei"/>
                <a:ea typeface="WenQuanYi Micro Hei"/>
              </a:rPr>
              <a:t>适用边界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91072" y="4718304"/>
            <a:ext cx="5385816" cy="6766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NDT是证据链中的消费者和生产者，不是Fabric同义词，也不是绝对安全证明。必须与策略、灰度、熔断、回滚、人工接管和生产校准组合；低风险动作可采用更轻量证据。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47472" y="5724144"/>
            <a:ext cx="11475720" cy="804672"/>
          </a:xfrm>
          <a:prstGeom prst="roundRect">
            <a:avLst/>
          </a:prstGeom>
          <a:solidFill>
            <a:srgbClr val="F4F7F8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5760720"/>
            <a:ext cx="3691128" cy="14630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0E7C7B"/>
                </a:solidFill>
                <a:latin typeface="WenQuanYi Micro Hei"/>
                <a:ea typeface="WenQuanYi Micro Hei"/>
              </a:rPr>
              <a:t>领先信号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0" y="5907024"/>
            <a:ext cx="3691128" cy="56692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Agent工具调用携带身份、作用域、租约、产品/模型/策略版本和Correlation ID；NDT进入变更审批、影子运行和动作验证，而不是独立演示平台。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39768" y="5760720"/>
            <a:ext cx="3691128" cy="14630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0B1F3A"/>
                </a:solidFill>
                <a:latin typeface="WenQuanYi Micro Hei"/>
                <a:ea typeface="WenQuanYi Micro Hei"/>
              </a:rPr>
              <a:t>验证指标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39768" y="5907024"/>
            <a:ext cx="3691128" cy="56692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证据完整、越权拦截、错误上下文阻断、人工接管、回滚成功；同步滞后、预测误差、场景覆盖、回放一致、灰度失败、副作用与校准偏差。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022336" y="5760720"/>
            <a:ext cx="3691128" cy="14630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C0392B"/>
                </a:solidFill>
                <a:latin typeface="WenQuanYi Micro Hei"/>
                <a:ea typeface="WenQuanYi Micro Hei"/>
              </a:rPr>
              <a:t>反证 / 证据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022336" y="5907024"/>
            <a:ext cx="3691128" cy="56692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反证：只有聊天/RAG或工单建议；工具调用无法追责；NDT只有拓扑可视化、无误差门槛和生产反馈。证据：3GPP AI生命周期、SA5 NDT管理及厂商自治平台仅证明积木正在形成。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47472" y="6601968"/>
            <a:ext cx="11475720" cy="9144"/>
          </a:xfrm>
          <a:prstGeom prst="rect">
            <a:avLst/>
          </a:prstGeom>
          <a:solidFill>
            <a:srgbClr val="C5D0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47472" y="6638544"/>
            <a:ext cx="950976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0">
                <a:solidFill>
                  <a:srgbClr val="5A6A7A"/>
                </a:solidFill>
                <a:latin typeface="WenQuanYi Micro Hei"/>
                <a:ea typeface="WenQuanYi Micro Hei"/>
              </a:rPr>
              <a:t>6G 数据架构 × 数据编织 · 第三章产业趋势 · T4 / T5    [S4][S23][S28][S29]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378440" y="6638544"/>
            <a:ext cx="1444752" cy="18288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05000"/>
              </a:lnSpc>
              <a:spcAft>
                <a:spcPts val="100"/>
              </a:spcAft>
            </a:pPr>
            <a:r>
              <a:rPr sz="800" b="0">
                <a:solidFill>
                  <a:srgbClr val="5A6A7A"/>
                </a:solidFill>
                <a:latin typeface="WenQuanYi Micro Hei"/>
                <a:ea typeface="WenQuanYi Micro Hei"/>
              </a:rPr>
              <a:t>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109728"/>
            <a:ext cx="1147572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0E7C7B"/>
                </a:solidFill>
                <a:latin typeface="WenQuanYi Micro Hei"/>
                <a:ea typeface="WenQuanYi Micro Hei"/>
              </a:rPr>
              <a:t>T7  ·  责任边界与商业分化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" y="274320"/>
            <a:ext cx="11475720" cy="31089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700" b="1">
                <a:solidFill>
                  <a:srgbClr val="0B1F3A"/>
                </a:solidFill>
                <a:latin typeface="WenQuanYi Micro Hei"/>
                <a:ea typeface="WenQuanYi Micro Hei"/>
              </a:rPr>
              <a:t>商业化将沿责任边界分化：能力服务出售可组合输入，结果服务承诺可归因输出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585216"/>
            <a:ext cx="11475720" cy="384048"/>
          </a:xfrm>
          <a:prstGeom prst="roundRect">
            <a:avLst/>
          </a:prstGeom>
          <a:solidFill>
            <a:srgbClr val="E8F0F2"/>
          </a:solidFill>
          <a:ln w="952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03000"/>
              </a:lnSpc>
              <a:spcBef>
                <a:spcPts val="200"/>
              </a:spcBef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分叉点不是数据形态，而是买方还是供应方承担决策、动作与结果责任。稳定产品、语义、任务适用性和计量只决定服务能否履约，并不解释为什么分化；客户集成能力、风险偏好和责任转移需求决定交易结构。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" y="1060704"/>
            <a:ext cx="11475720" cy="713232"/>
          </a:xfrm>
          <a:prstGeom prst="roundRect">
            <a:avLst/>
          </a:prstGeom>
          <a:solidFill>
            <a:srgbClr val="D7ECEA"/>
          </a:solidFill>
          <a:ln w="952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097280"/>
            <a:ext cx="11219688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分化机制  ·  决策权 × 动作权 × 结果责任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1298448"/>
            <a:ext cx="11219688" cy="40233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3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有集成能力且保留控制权的买方购买可组合能力，形成A；希望转移持续运营与结果责任的客户购买托管结果，形成B。接口标准化推动A跨网复制，也降低单项能力稀缺性；归因、授权和责任风险限制B规模化，因此两者长期并存而非先后替代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" y="1883664"/>
            <a:ext cx="5669280" cy="374903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75488" y="1975104"/>
            <a:ext cx="1645920" cy="201168"/>
          </a:xfrm>
          <a:prstGeom prst="roundRect">
            <a:avLst/>
          </a:prstGeom>
          <a:solidFill>
            <a:srgbClr val="1F7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1993392"/>
            <a:ext cx="1645920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FFFFFF"/>
                </a:solidFill>
                <a:latin typeface="WenQuanYi Micro Hei"/>
                <a:ea typeface="WenQuanYi Micro Hei"/>
              </a:rPr>
              <a:t>路径A  ·  中高确定性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12848" y="1956816"/>
            <a:ext cx="365760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400" b="1">
                <a:solidFill>
                  <a:srgbClr val="0B1F3A"/>
                </a:solidFill>
                <a:latin typeface="WenQuanYi Micro Hei"/>
                <a:ea typeface="WenQuanYi Micro Hei"/>
              </a:rPr>
              <a:t>数据/API与能力服务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" y="2267712"/>
            <a:ext cx="5394960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1F7A4D"/>
                </a:solidFill>
                <a:latin typeface="WenQuanYi Micro Hei"/>
                <a:ea typeface="WenQuanYi Micro Hei"/>
              </a:rPr>
              <a:t>责任与控制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" y="2432304"/>
            <a:ext cx="5394960" cy="60350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买方保留业务决策、能力组合和网络动作权；供应方只保证接口行为、可用性、SLA、用途与撤销，不承担最终业务结果。故障时按能力SLA赔付，不对下游业务全责。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" y="3072384"/>
            <a:ext cx="5394960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1F7A4D"/>
                </a:solidFill>
                <a:latin typeface="WenQuanYi Micro Hei"/>
                <a:ea typeface="WenQuanYi Micro Hei"/>
              </a:rPr>
              <a:t>交易对象 / 买方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" y="3236976"/>
            <a:ext cx="5394960" cy="60350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Quality on Demand（QoD）、位置、身份、状态、分析或网络能力；面向有集成能力的行业平台、开发者、CPaaS与聚合渠道。原始感知流不是默认商品。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" y="3877056"/>
            <a:ext cx="5394960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1F7A4D"/>
                </a:solidFill>
                <a:latin typeface="WenQuanYi Micro Hei"/>
                <a:ea typeface="WenQuanYi Micro Hei"/>
              </a:rPr>
              <a:t>扩张与计价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" y="4041648"/>
            <a:ext cx="5394960" cy="60350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聚合层解决跨网发现、认证、覆盖、行为一致、用量和清结算；按调用、会话、覆盖、用量或订阅收费。接口越标准，复制越快，但差异化和单价可能下降。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" y="4681728"/>
            <a:ext cx="5394960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1F7A4D"/>
                </a:solidFill>
                <a:latin typeface="WenQuanYi Micro Hei"/>
                <a:ea typeface="WenQuanYi Micro Hei"/>
              </a:rPr>
              <a:t>验证 / 反证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4846320"/>
            <a:ext cx="5394960" cy="60350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验证跨网一致、开发者复用、活跃付费客户、收入、履约成本、失败率和续费。只有API数量、一次性试用或补贴调用而无持续收入即不成立。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6" y="1883664"/>
            <a:ext cx="5660136" cy="374903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91072" y="1975104"/>
            <a:ext cx="1737360" cy="201168"/>
          </a:xfrm>
          <a:prstGeom prst="roundRect">
            <a:avLst/>
          </a:prstGeom>
          <a:solidFill>
            <a:srgbClr val="145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91072" y="1993392"/>
            <a:ext cx="1737360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FFFFFF"/>
                </a:solidFill>
                <a:latin typeface="WenQuanYi Micro Hei"/>
                <a:ea typeface="WenQuanYi Micro Hei"/>
              </a:rPr>
              <a:t>路径B  ·  低—中确定性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01583" y="1956816"/>
            <a:ext cx="357530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400" b="1">
                <a:solidFill>
                  <a:srgbClr val="0B1F3A"/>
                </a:solidFill>
                <a:latin typeface="WenQuanYi Micro Hei"/>
                <a:ea typeface="WenQuanYi Micro Hei"/>
              </a:rPr>
              <a:t>结果型托管/自治服务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91072" y="2267712"/>
            <a:ext cx="5385816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145A3A"/>
                </a:solidFill>
                <a:latin typeface="WenQuanYi Micro Hei"/>
                <a:ea typeface="WenQuanYi Micro Hei"/>
              </a:rPr>
              <a:t>责任与控制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91072" y="2432304"/>
            <a:ext cx="5385816" cy="60350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供应方参与数据选择、策略决策和网络动作，并对约定结果负责；客户购买效果与运营责任转移，而不是单项接口。合同必须限定作用域、可控因素和责任上限。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91072" y="3072384"/>
            <a:ext cx="5385816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145A3A"/>
                </a:solidFill>
                <a:latin typeface="WenQuanYi Micro Hei"/>
                <a:ea typeface="WenQuanYi Micro Hei"/>
              </a:rPr>
              <a:t>交易对象 / 买方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91072" y="3236976"/>
            <a:ext cx="5385816" cy="60350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体验、交易成功率、节能、故障率、运营成本或风险改善；面向缺少持续集成/运营能力、愿意转移部分责任的金融、车联、工业和媒体客户。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91072" y="3877056"/>
            <a:ext cx="5385816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145A3A"/>
                </a:solidFill>
                <a:latin typeface="WenQuanYi Micro Hei"/>
                <a:ea typeface="WenQuanYi Micro Hei"/>
              </a:rPr>
              <a:t>扩张与计价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91072" y="4041648"/>
            <a:ext cx="5385816" cy="60350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需T4/T5、结果基线、对照组/观测窗口、因果归因、动作授权、风险上限和回滚；按托管费、业务量、效果增益、风险降低或结果分成。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91072" y="4681728"/>
            <a:ext cx="5385816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145A3A"/>
                </a:solidFill>
                <a:latin typeface="WenQuanYi Micro Hei"/>
                <a:ea typeface="WenQuanYi Micro Hei"/>
              </a:rPr>
              <a:t>验证 / 反证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91072" y="4846320"/>
            <a:ext cx="5385816" cy="60350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验证归因置信、净效果、误动作、风险暴露、责任争议、人工接管和回滚成本。无法定义基线、排除外因、定责或回退即不能规模化。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47472" y="5724144"/>
            <a:ext cx="11475720" cy="804672"/>
          </a:xfrm>
          <a:prstGeom prst="roundRect">
            <a:avLst/>
          </a:prstGeom>
          <a:solidFill>
            <a:srgbClr val="F4F7F8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5760720"/>
            <a:ext cx="3691128" cy="14630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0E7C7B"/>
                </a:solidFill>
                <a:latin typeface="WenQuanYi Micro Hei"/>
                <a:ea typeface="WenQuanYi Micro Hei"/>
              </a:rPr>
              <a:t>长期共存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5907024"/>
            <a:ext cx="3691128" cy="56692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有集成能力的客户购买能力，希望转移运营责任的客户购买结果；A和B不是成熟度先后。A可成为B的输入，B也可把部分能力重新开放，但收入、责任、风险和成本必须分账。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39768" y="5760720"/>
            <a:ext cx="3691128" cy="14630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0B1F3A"/>
                </a:solidFill>
                <a:latin typeface="WenQuanYi Micro Hei"/>
                <a:ea typeface="WenQuanYi Micro Hei"/>
              </a:rPr>
              <a:t>证据状态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39768" y="5907024"/>
            <a:ext cx="3691128" cy="56692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A：CAMARA/Open Gateway、聚合渠道和中国移动Quality on Demand（QoD）已有具名商业信号。B：stc/KDDI/Indosat证明域级自动化有效，但公开结果定价、责任转移和规模分成合同不足。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22336" y="5760720"/>
            <a:ext cx="3691128" cy="14630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C0392B"/>
                </a:solidFill>
                <a:latin typeface="WenQuanYi Micro Hei"/>
                <a:ea typeface="WenQuanYi Micro Hei"/>
              </a:rPr>
              <a:t>共同前提 / 边界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22336" y="5907024"/>
            <a:ext cx="3691128" cy="56692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内部产品稳定性、语义、适用性、权限和计量只决定能否履约，不是分化原因。原始感知数据出售不是默认模式；域级性能改善不能自动外推结果型合同成立。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47472" y="6601968"/>
            <a:ext cx="11475720" cy="9144"/>
          </a:xfrm>
          <a:prstGeom prst="rect">
            <a:avLst/>
          </a:prstGeom>
          <a:solidFill>
            <a:srgbClr val="C5D0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47472" y="6638544"/>
            <a:ext cx="950976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0">
                <a:solidFill>
                  <a:srgbClr val="5A6A7A"/>
                </a:solidFill>
                <a:latin typeface="WenQuanYi Micro Hei"/>
                <a:ea typeface="WenQuanYi Micro Hei"/>
              </a:rPr>
              <a:t>6G 数据架构 × 数据编织 · 第三章产业趋势 · T7    [S16][S18][S55]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378440" y="6638544"/>
            <a:ext cx="1444752" cy="18288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05000"/>
              </a:lnSpc>
              <a:spcAft>
                <a:spcPts val="100"/>
              </a:spcAft>
            </a:pPr>
            <a:r>
              <a:rPr sz="800" b="0">
                <a:solidFill>
                  <a:srgbClr val="5A6A7A"/>
                </a:solidFill>
                <a:latin typeface="WenQuanYi Micro Hei"/>
                <a:ea typeface="WenQuanYi Micro Hei"/>
              </a:rPr>
              <a:t>5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109728"/>
            <a:ext cx="1147572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0E7C7B"/>
                </a:solidFill>
                <a:latin typeface="WenQuanYi Micro Hei"/>
                <a:ea typeface="WenQuanYi Micro Hei"/>
              </a:rPr>
              <a:t>T8  ·  标准承载趋势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" y="274320"/>
            <a:ext cx="11475720" cy="31089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700" b="1">
                <a:solidFill>
                  <a:srgbClr val="0B1F3A"/>
                </a:solidFill>
                <a:latin typeface="WenQuanYi Micro Hei"/>
                <a:ea typeface="WenQuanYi Micro Hei"/>
              </a:rPr>
              <a:t>标准更可能冻结“能力与接口”，而非唯一专用数据面网元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585216"/>
            <a:ext cx="11475720" cy="384048"/>
          </a:xfrm>
          <a:prstGeom prst="roundRect">
            <a:avLst/>
          </a:prstGeom>
          <a:solidFill>
            <a:srgbClr val="E8F0F2"/>
          </a:solidFill>
          <a:ln w="952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03000"/>
              </a:lnSpc>
              <a:spcBef>
                <a:spcPts val="200"/>
              </a:spcBef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T1–T7的需求会留下，但承载它们的拓扑、组件边界和名称未必统一。标准应先冻结跨厂商必须一致的角色、对象、能力语义、生命周期、接口行为和测试；实现可继续由既有功能增强、管理服务、边缘Agent或新NF组合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" y="1060704"/>
            <a:ext cx="5669280" cy="33101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133856"/>
            <a:ext cx="539496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300" b="1">
                <a:solidFill>
                  <a:srgbClr val="0B1F3A"/>
                </a:solidFill>
                <a:latin typeface="WenQuanYi Micro Hei"/>
                <a:ea typeface="WenQuanYi Micro Hei"/>
              </a:rPr>
              <a:t>标准优先固化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1408176"/>
            <a:ext cx="256032" cy="201168"/>
          </a:xfrm>
          <a:prstGeom prst="round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1426464"/>
            <a:ext cx="256032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FFFFFF"/>
                </a:solidFill>
                <a:latin typeface="WenQuanYi Micro Hei"/>
                <a:ea typeface="WenQuanYi Micro He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408176"/>
            <a:ext cx="5047488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0">
                <a:solidFill>
                  <a:srgbClr val="2C3E50"/>
                </a:solidFill>
                <a:latin typeface="WenQuanYi Micro Hei"/>
                <a:ea typeface="WenQuanYi Micro Hei"/>
              </a:rPr>
              <a:t>生产者、消费者、处理者角色及其责任与错误返回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5488" y="1865376"/>
            <a:ext cx="256032" cy="201168"/>
          </a:xfrm>
          <a:prstGeom prst="round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" y="1883664"/>
            <a:ext cx="256032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FFFFFF"/>
                </a:solidFill>
                <a:latin typeface="WenQuanYi Micro Hei"/>
                <a:ea typeface="WenQuanYi Micro He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1865376"/>
            <a:ext cx="5047488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0">
                <a:solidFill>
                  <a:srgbClr val="2C3E50"/>
                </a:solidFill>
                <a:latin typeface="WenQuanYi Micro Hei"/>
                <a:ea typeface="WenQuanYi Micro Hei"/>
              </a:rPr>
              <a:t>稳定对象标识、权威源、对象关系、版本和信息模型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5488" y="2322576"/>
            <a:ext cx="256032" cy="201168"/>
          </a:xfrm>
          <a:prstGeom prst="round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" y="2340864"/>
            <a:ext cx="256032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FFFFFF"/>
                </a:solidFill>
                <a:latin typeface="WenQuanYi Micro Hei"/>
                <a:ea typeface="WenQuanYi Micro He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2322576"/>
            <a:ext cx="5047488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0">
                <a:solidFill>
                  <a:srgbClr val="2C3E50"/>
                </a:solidFill>
                <a:latin typeface="WenQuanYi Micro Hei"/>
                <a:ea typeface="WenQuanYi Micro Hei"/>
              </a:rPr>
              <a:t>任务适用性公共属性、单位、作用域、置信和表达方式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5488" y="2779776"/>
            <a:ext cx="256032" cy="201168"/>
          </a:xfrm>
          <a:prstGeom prst="round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488" y="2798064"/>
            <a:ext cx="256032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FFFFFF"/>
                </a:solidFill>
                <a:latin typeface="WenQuanYi Micro Hei"/>
                <a:ea typeface="WenQuanYi Micro He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2779776"/>
            <a:ext cx="5047488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0">
                <a:solidFill>
                  <a:srgbClr val="2C3E50"/>
                </a:solidFill>
                <a:latin typeface="WenQuanYi Micro Hei"/>
                <a:ea typeface="WenQuanYi Micro Hei"/>
              </a:rPr>
              <a:t>发现、处理、存储、订阅、交付和暴露的外部行为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5488" y="3236976"/>
            <a:ext cx="256032" cy="201168"/>
          </a:xfrm>
          <a:prstGeom prst="round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" y="3255264"/>
            <a:ext cx="256032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FFFFFF"/>
                </a:solidFill>
                <a:latin typeface="WenQuanYi Micro Hei"/>
                <a:ea typeface="WenQuanYi Micro He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3236976"/>
            <a:ext cx="5047488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0">
                <a:solidFill>
                  <a:srgbClr val="2C3E50"/>
                </a:solidFill>
                <a:latin typeface="WenQuanYi Micro Hei"/>
                <a:ea typeface="WenQuanYi Micro Hei"/>
              </a:rPr>
              <a:t>生命周期、授权、撤销、审计和证据引用关系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3694176"/>
            <a:ext cx="256032" cy="201168"/>
          </a:xfrm>
          <a:prstGeom prst="round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5488" y="3712463"/>
            <a:ext cx="256032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FFFFFF"/>
                </a:solidFill>
                <a:latin typeface="WenQuanYi Micro Hei"/>
                <a:ea typeface="WenQuanYi Micro He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3694176"/>
            <a:ext cx="5047488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0">
                <a:solidFill>
                  <a:srgbClr val="2C3E50"/>
                </a:solidFill>
                <a:latin typeface="WenQuanYi Micro Hei"/>
                <a:ea typeface="WenQuanYi Micro Hei"/>
              </a:rPr>
              <a:t>跨厂商一致性、故障、降级、迁移和替换测试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63056" y="1060704"/>
            <a:ext cx="5660136" cy="33101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91072" y="1133856"/>
            <a:ext cx="5385816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300" b="1">
                <a:solidFill>
                  <a:srgbClr val="0B1F3A"/>
                </a:solidFill>
                <a:latin typeface="WenQuanYi Micro Hei"/>
                <a:ea typeface="WenQuanYi Micro Hei"/>
              </a:rPr>
              <a:t>实现保持开放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91072" y="1426464"/>
            <a:ext cx="5385816" cy="6400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1472184"/>
            <a:ext cx="512978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增强既有功能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19088" y="1682496"/>
            <a:ext cx="5129784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扩展DCCF、ADRF、NWDAF、MDA等SBI与管理服务，复用既有鉴权、容灾和运维体系；适合渐进演进。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91072" y="2121408"/>
            <a:ext cx="5385816" cy="6400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2167128"/>
            <a:ext cx="512978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管理域/边缘承载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19088" y="2377440"/>
            <a:ext cx="5129784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以SMO服务、边缘Agent或近源运行时组合部署；按时标和故障域拆分，不把远端平台放进快环同步路径。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91072" y="2816352"/>
            <a:ext cx="5385816" cy="6400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19088" y="2862072"/>
            <a:ext cx="512978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可插拔多后端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19088" y="3072384"/>
            <a:ext cx="5129784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事件、流、文件、特征、模型和派生数据可选择不同运行时；核心元数据、契约与证据应可导出迁移。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91072" y="3511296"/>
            <a:ext cx="5385816" cy="6400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19088" y="3557016"/>
            <a:ext cx="512978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必要时新增NF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19088" y="3767328"/>
            <a:ext cx="5129784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仅当复用造成隔离、吞吐、移动性、状态或职责不可分时引入专用功能，并证明收益覆盖新增复杂度。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7472" y="4480560"/>
            <a:ext cx="11475720" cy="1152144"/>
          </a:xfrm>
          <a:prstGeom prst="roundRect">
            <a:avLst/>
          </a:prstGeom>
          <a:solidFill>
            <a:srgbClr val="E6ECF2"/>
          </a:solidFill>
          <a:ln w="9525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75488" y="4535424"/>
            <a:ext cx="11219688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成立逻辑与产品策略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5488" y="4736592"/>
            <a:ext cx="11219688" cy="8046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发现、采集、处理、存储、暴露和治理跨越不同域、时标、故障域与主权边界，不同用例不可能共享完全相同的在线流程。标准应优先冻结可观察的外部行为；内部拓扑写得越死，越难适配存量、边缘资源和多厂商演进。</a:t>
            </a:r>
          </a:p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产品跟踪能力、语义、任务适用性、接口和测试，不押注厂商网元名。若独立平面增加时延、状态、容灾和重复治理，应退回能力增强；若复用导致职责、隔离或性能不可分，再考虑新功能并设置退出门。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7472" y="5724144"/>
            <a:ext cx="11475720" cy="804672"/>
          </a:xfrm>
          <a:prstGeom prst="roundRect">
            <a:avLst/>
          </a:prstGeom>
          <a:solidFill>
            <a:srgbClr val="F4F7F8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7200" y="5760720"/>
            <a:ext cx="3691128" cy="14630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0E7C7B"/>
                </a:solidFill>
                <a:latin typeface="WenQuanYi Micro Hei"/>
                <a:ea typeface="WenQuanYi Micro Hei"/>
              </a:rPr>
              <a:t>领先信号 / 指标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5907024"/>
            <a:ext cx="3691128" cy="56692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Rel-21收敛角色、能力、信息模型、接口和一致性测试，同时允许多种部署。指标：跨厂商互操作、复用、故障降级、额外时延/状态、迁移、后端与运行时替换成本。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39768" y="5760720"/>
            <a:ext cx="3691128" cy="14630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C0392B"/>
                </a:solidFill>
                <a:latin typeface="WenQuanYi Micro Hei"/>
                <a:ea typeface="WenQuanYi Micro Hei"/>
              </a:rPr>
              <a:t>反证 / 证据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39768" y="5907024"/>
            <a:ext cx="3691128" cy="56692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反证：3GPP冻结独立统一数据平面及必选NF/流程，或既有功能在相同约束下无法满足。现有SA2 KI#21、SA5 DMFW及Huawei原型只支持能力研究，未证明唯一拓扑。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22336" y="5760720"/>
            <a:ext cx="3691128" cy="14630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0B1F3A"/>
                </a:solidFill>
                <a:latin typeface="WenQuanYi Micro Hei"/>
                <a:ea typeface="WenQuanYi Micro Hei"/>
              </a:rPr>
              <a:t>第三章收束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22336" y="5907024"/>
            <a:ext cx="3691128" cy="56692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长期控制点集中于语义、任务适用性、近源运行、动作证据、责任合同和跨网结算。平台地位取决于外部契约与互操作，而不是单一名称或数据集中规模。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47472" y="6601968"/>
            <a:ext cx="11475720" cy="9144"/>
          </a:xfrm>
          <a:prstGeom prst="rect">
            <a:avLst/>
          </a:prstGeom>
          <a:solidFill>
            <a:srgbClr val="C5D0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47472" y="6638544"/>
            <a:ext cx="950976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0">
                <a:solidFill>
                  <a:srgbClr val="5A6A7A"/>
                </a:solidFill>
                <a:latin typeface="WenQuanYi Micro Hei"/>
                <a:ea typeface="WenQuanYi Micro Hei"/>
              </a:rPr>
              <a:t>6G 数据架构 × 数据编织 · 第三章产业趋势 · T8    [S5][S12][S26]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378440" y="6638544"/>
            <a:ext cx="1444752" cy="18288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05000"/>
              </a:lnSpc>
              <a:spcAft>
                <a:spcPts val="100"/>
              </a:spcAft>
            </a:pPr>
            <a:r>
              <a:rPr sz="800" b="0">
                <a:solidFill>
                  <a:srgbClr val="5A6A7A"/>
                </a:solidFill>
                <a:latin typeface="WenQuanYi Micro Hei"/>
                <a:ea typeface="WenQuanYi Micro Hei"/>
              </a:rPr>
              <a:t>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